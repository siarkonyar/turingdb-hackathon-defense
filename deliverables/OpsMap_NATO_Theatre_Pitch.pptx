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7e35105ba4c2d" /><Relationship Type="http://schemas.openxmlformats.org/officeDocument/2006/relationships/extended-properties" Target="/docProps/app.xml" Id="R75c700d3f93c4456" /><Relationship Type="http://schemas.openxmlformats.org/officeDocument/2006/relationships/officeDocument" Target="/ppt/presentation.xml" Id="R5a0ca1fa1a48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cf8a88ea49410c"/>
  </p:sldMasterIdLst>
  <p:notesMasterIdLst>
    <p:notesMasterId xmlns:r="http://schemas.openxmlformats.org/officeDocument/2006/relationships" r:id="R02d4bdfe99624695"/>
  </p:notesMasterIdLst>
  <p:sldIdLst>
    <p:sldId xmlns:r="http://schemas.openxmlformats.org/officeDocument/2006/relationships" id="256" r:id="R39824529448d471f"/>
    <p:sldId xmlns:r="http://schemas.openxmlformats.org/officeDocument/2006/relationships" id="257" r:id="Rd9a15974c1654758"/>
    <p:sldId xmlns:r="http://schemas.openxmlformats.org/officeDocument/2006/relationships" id="258" r:id="Rc5a573023733405f"/>
    <p:sldId xmlns:r="http://schemas.openxmlformats.org/officeDocument/2006/relationships" id="259" r:id="R23d496215e5d4540"/>
    <p:sldId xmlns:r="http://schemas.openxmlformats.org/officeDocument/2006/relationships" id="260" r:id="R9490eca8fbd54f0d"/>
    <p:sldId xmlns:r="http://schemas.openxmlformats.org/officeDocument/2006/relationships" id="261" r:id="Rbb638fded2234002"/>
    <p:sldId xmlns:r="http://schemas.openxmlformats.org/officeDocument/2006/relationships" id="262" r:id="R8c14be1d27a847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9c99e50e34102" /><Relationship Type="http://schemas.openxmlformats.org/officeDocument/2006/relationships/slideMaster" Target="/ppt/slideMasters/slideMaster1.xml" Id="Rc5cf8a88ea49410c" /><Relationship Type="http://schemas.openxmlformats.org/officeDocument/2006/relationships/notesMaster" Target="/ppt/notesMasters/notesMaster1.xml" Id="R02d4bdfe99624695" /><Relationship Type="http://schemas.openxmlformats.org/officeDocument/2006/relationships/presProps" Target="/ppt/presProps.xml" Id="Rcf1d5a9606ed4771" /><Relationship Type="http://schemas.openxmlformats.org/officeDocument/2006/relationships/tableStyles" Target="/ppt/tableStyles.xml" Id="Ra0c3785b9d434e82" /><Relationship Type="http://schemas.openxmlformats.org/officeDocument/2006/relationships/slide" Target="/ppt/slides/slide1.xml" Id="R39824529448d471f" /><Relationship Type="http://schemas.openxmlformats.org/officeDocument/2006/relationships/slide" Target="/ppt/slides/slide2.xml" Id="Rd9a15974c1654758" /><Relationship Type="http://schemas.openxmlformats.org/officeDocument/2006/relationships/slide" Target="/ppt/slides/slide3.xml" Id="Rc5a573023733405f" /><Relationship Type="http://schemas.openxmlformats.org/officeDocument/2006/relationships/slide" Target="/ppt/slides/slide4.xml" Id="R23d496215e5d4540" /><Relationship Type="http://schemas.openxmlformats.org/officeDocument/2006/relationships/slide" Target="/ppt/slides/slide5.xml" Id="R9490eca8fbd54f0d" /><Relationship Type="http://schemas.openxmlformats.org/officeDocument/2006/relationships/slide" Target="/ppt/slides/slide6.xml" Id="Rbb638fded2234002" /><Relationship Type="http://schemas.openxmlformats.org/officeDocument/2006/relationships/slide" Target="/ppt/slides/slide7.xml" Id="R8c14be1d27a8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13d003ed0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17c53b8d84534" /><Relationship Type="http://schemas.openxmlformats.org/officeDocument/2006/relationships/notesMaster" Target="/ppt/notesMasters/notesMaster1.xml" Id="Rb44a71868e8b4a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a37fcb51f3484d" /><Relationship Type="http://schemas.openxmlformats.org/officeDocument/2006/relationships/notesMaster" Target="/ppt/notesMasters/notesMaster1.xml" Id="R75f41b7c942541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b2443389c64e67" /><Relationship Type="http://schemas.openxmlformats.org/officeDocument/2006/relationships/notesMaster" Target="/ppt/notesMasters/notesMaster1.xml" Id="Rd5c659d31c0748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d8ef13b33435b" /><Relationship Type="http://schemas.openxmlformats.org/officeDocument/2006/relationships/notesMaster" Target="/ppt/notesMasters/notesMaster1.xml" Id="R21c319503633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aa49fcfd964ed3" /><Relationship Type="http://schemas.openxmlformats.org/officeDocument/2006/relationships/notesMaster" Target="/ppt/notesMasters/notesMaster1.xml" Id="R9c963e1e362e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9c034c994d4de3" /><Relationship Type="http://schemas.openxmlformats.org/officeDocument/2006/relationships/notesMaster" Target="/ppt/notesMasters/notesMaster1.xml" Id="R267fd2ef5b8c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8ff82b10a4daf" /><Relationship Type="http://schemas.openxmlformats.org/officeDocument/2006/relationships/notesMaster" Target="/ppt/notesMasters/notesMaster1.xml" Id="R6f3c25aa70fc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theatre-wide question, then state that the London-Paris corridor is the live demo slice. The current dataset is synthetic and regional; the pitch is for a NATO-wide system that can simulate theatre dependencies once validated data is added.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docs/dover.md, datasets/dover/model.py, api/deep_cascade.py, api/deep_cascade_live.py; CV: /Users/siar.konyar/Desktop/zafer_konyar_cv.pdf; website: https://siarkonyar.com.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short. The point is founder credibility for the product: engineering range, shipped products and direct experience with data pipelines and AI tool calling.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/Users/siar.konyar/Desktop/zafer_konyar_cv.pdf and https://siarkonyar.com.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at NATO theatre scale. Dover is a concrete demonstration region, not the boundary of the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about what is working and what is planned. The current Plan A UI shows impact. The recovery agent is the next demo layer and should stay limited to the three prepared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replaces template prompts with actual advantages. Keep claims grounded: graph model and branch testing are product architecture strengths; founder fit comes from the CV; demo reliability comes from limiting the chatbox to three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come from the Dover synthetic dataset and impact-cascade work. Dover closure exposes 778 facilities as exposure through projected dependencies, not a claim that all 778 stop operating. The recovery options are dormant possibilities until the planned agent evaluates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is specific but non-financial: a design partner and anonymised dependency data. Keep the January 2027 date as the 90-day target from 3 October 2026 unless the team wants a different pilot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6994e51a04a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cd99d2ba041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c16eef47b4e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b719e24b54c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7a813c68648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8c9eb0b29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4DF1B1-1314-4939-8B67-3D988D076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EBBD18-1DFD-4E94-83A3-8101700ADD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933B7D-5045-4F9B-A9F2-3A9FADD33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7C83F2-A526-4C2F-8BB6-0D61FCEEA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E786DE-861C-424E-BF05-851C830F89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57FFB8-4775-4190-9EDD-CC83A4570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103603-7913-4864-BFDA-F54D23C798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70E611-1FEC-4558-8FBE-7B49D9EF50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6DEE1-4E99-4773-8A5A-9D3D2D909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7BFB1-4D9C-4E7C-8BC8-C7E941700B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f618f5fcb74f5b" /><Relationship Type="http://schemas.openxmlformats.org/officeDocument/2006/relationships/slideLayout" Target="/ppt/slideLayouts/slideLayout1.xml" Id="R426bad31c9dd4b7c" /><Relationship Type="http://schemas.openxmlformats.org/officeDocument/2006/relationships/slideLayout" Target="/ppt/slideLayouts/slideLayout2.xml" Id="Rd0bea37f7a7545b8" /><Relationship Type="http://schemas.openxmlformats.org/officeDocument/2006/relationships/slideLayout" Target="/ppt/slideLayouts/slideLayout3.xml" Id="R49f04cf631de4da1" /><Relationship Type="http://schemas.openxmlformats.org/officeDocument/2006/relationships/slideLayout" Target="/ppt/slideLayouts/slideLayout4.xml" Id="Rc12c2bbc549e431e" /><Relationship Type="http://schemas.openxmlformats.org/officeDocument/2006/relationships/slideLayout" Target="/ppt/slideLayouts/slideLayout5.xml" Id="R595f8cb5818f42fc" /><Relationship Type="http://schemas.openxmlformats.org/officeDocument/2006/relationships/slideLayout" Target="/ppt/slideLayouts/slideLayout6.xml" Id="R8aec646dc2cb43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bad31c9dd4b7c"/>
    <p:sldLayoutId xmlns:r="http://schemas.openxmlformats.org/officeDocument/2006/relationships" id="2147483650" r:id="Rd0bea37f7a7545b8"/>
    <p:sldLayoutId xmlns:r="http://schemas.openxmlformats.org/officeDocument/2006/relationships" id="2147483651" r:id="R49f04cf631de4da1"/>
    <p:sldLayoutId xmlns:r="http://schemas.openxmlformats.org/officeDocument/2006/relationships" id="2147483652" r:id="Rc12c2bbc549e431e"/>
    <p:sldLayoutId xmlns:r="http://schemas.openxmlformats.org/officeDocument/2006/relationships" id="2147483653" r:id="R595f8cb5818f42fc"/>
    <p:sldLayoutId xmlns:r="http://schemas.openxmlformats.org/officeDocument/2006/relationships" id="2147483654" r:id="R8aec646dc2cb43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9e6057cde472c" /><Relationship Type="http://schemas.openxmlformats.org/officeDocument/2006/relationships/notesSlide" Target="/ppt/notesSlides/notesSlide1.xml" Id="Redee083e12fb40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dc839ecf54e92" /><Relationship Type="http://schemas.openxmlformats.org/officeDocument/2006/relationships/notesSlide" Target="/ppt/notesSlides/notesSlide2.xml" Id="Rdcf101f1e73c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7f21603bf4520" /><Relationship Type="http://schemas.openxmlformats.org/officeDocument/2006/relationships/notesSlide" Target="/ppt/notesSlides/notesSlide3.xml" Id="R1311ff7c490d4e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6683489cd4213" /><Relationship Type="http://schemas.openxmlformats.org/officeDocument/2006/relationships/notesSlide" Target="/ppt/notesSlides/notesSlide4.xml" Id="R53706e9cde3f48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e1c1ae704797" /><Relationship Type="http://schemas.openxmlformats.org/officeDocument/2006/relationships/notesSlide" Target="/ppt/notesSlides/notesSlide5.xml" Id="Re786cb1b0c7744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ceceee55a40e7" /><Relationship Type="http://schemas.openxmlformats.org/officeDocument/2006/relationships/notesSlide" Target="/ppt/notesSlides/notesSlide6.xml" Id="R1428e3fc14ac49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99e44c94040fc" /><Relationship Type="http://schemas.openxmlformats.org/officeDocument/2006/relationships/notesSlide" Target="/ppt/notesSlides/notesSlide7.xml" Id="R9cc309422e4941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D63EA-7B9B-4362-AC1B-1A76F2C9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B9D6D-EDFC-4C0E-840E-98240B2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~15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8FA4F-E523-402F-A361-83435D10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92BDA-FB6A-4224-906C-A8B707BE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62"/>
          </a:bodyPr>
          <a:lstStyle xmlns:a="http://schemas.openxmlformats.org/drawingml/2006/main">
            <a:defPPr algn="l">
              <a:defRPr sz="48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48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48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OpsMap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8B6B2-AAF5-49B0-BBBF-2BAA7A4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AI-assisted recovery planning for NATO theatre logistics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471FC-2BA8-4263-A847-B498AB46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6572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07B1A-3051-4C23-ADB7-9EFB9F57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73"/>
          </a:bodyPr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one crossing closes tonight, which NATO support services fail next?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7A8D1-C2F9-4FD7-8B7E-E5CF67D0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>
            <a:defPPr algn="l">
              <a:defRPr sz="1350" b="0" i="0">
                <a:solidFill>
                  <a:srgbClr val="E5E7E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E5E7E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E5E7EB"/>
                </a:solidFill>
                <a:latin typeface="Calibri"/>
                <a:ea typeface="Calibri"/>
                <a:cs typeface="Calibri"/>
              </a:rPr>
              <a:t>The live demo uses the London-Paris corridor around Dover. The product vision covers every NATO theatre.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E6128-8F5D-49FE-ADD8-DFAC70EF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4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C7D36-14FE-4723-BB93-78468C67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>
            <a:defPPr algn="ctr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NATO theatre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D7CF6-B7AF-4C93-8CCD-78AFB966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676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20"/>
          </a:bodyPr>
          <a:lstStyle xmlns:a="http://schemas.openxmlformats.org/drawingml/2006/main">
            <a:def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ports</a:t>
            </a:r>
          </a:p>
          <a:p xmlns:a="http://schemas.openxmlformats.org/drawingml/2006/main">
            <a: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power</a:t>
            </a:r>
          </a:p>
          <a:p xmlns:a="http://schemas.openxmlformats.org/drawingml/2006/main">
            <a: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rail and road</a:t>
            </a:r>
          </a:p>
          <a:p xmlns:a="http://schemas.openxmlformats.org/drawingml/2006/main">
            <a: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suppliers</a:t>
            </a:r>
          </a:p>
          <a:p xmlns:a="http://schemas.openxmlformats.org/drawingml/2006/main">
            <a: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medical support</a:t>
            </a:r>
          </a:p>
          <a:p xmlns:a="http://schemas.openxmlformats.org/drawingml/2006/main">
            <a:pPr algn="ctr">
              <a:def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units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77FF9-B4D8-4532-AC40-BC2B5E9B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OpsMap  |  NATO theatre resilience simulation  |  London-Paris corridor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583E6-F64F-4487-81FB-8B54E7CC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Zafer Siar Konyar  |  siarkonyar.com</a:t>
            </a:r>
          </a:p>
        </p:txBody>
      </p:sp>
    </p:spTree>
    <p:extLst>
      <p:ext uri="{BB962C8B-B14F-4D97-AF65-F5344CB8AC3E}">
        <p14:creationId xmlns:p14="http://schemas.microsoft.com/office/powerpoint/2010/main" val="337387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E7D53-FC5A-48C4-A372-BDC5A785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F6D93-063E-4ACB-AA3E-F53763EA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~20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A1C5A-A116-421C-9DF7-F3BDCA92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3B64A-4855-4595-8D76-468DD71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The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69BC0-A399-4C05-B4B1-A575B949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Why this team can build the demo and turn it into a defence-resilience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2B8FF-D7B0-421E-8279-273620F5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429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DD6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808AF-04F4-4402-842F-E39F8E11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>
            <a:defPPr algn="l">
              <a:defRPr sz="21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Zafer Siar Konyar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519B4-9E84-482A-BFEC-06991455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59"/>
          </a:bodyPr>
          <a:lstStyle xmlns:a="http://schemas.openxmlformats.org/drawingml/2006/main">
            <a:defPPr algn="l">
              <a:defRPr sz="1350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Computer Science, University of Greenwich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41081-ABCC-4C67-8F0B-667AF7A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97"/>
          </a:bodyPr>
          <a:lstStyle xmlns:a="http://schemas.openxmlformats.org/drawingml/2006/main">
            <a:defPPr algn="l">
              <a:defRPr sz="135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Builds full-stack and AI systems across TypeScript, Python, React Native, Firebase, Postgres and Docker.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87F29-932E-4A3D-95FF-8262BE7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siarkonyar.com  |  github.com/siarkonyar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C0086-D632-4DAB-8A99-DA781AD9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5FD99-8457-45D0-970C-6CF98F8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>
            <a:defPPr algn="l">
              <a:def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AI and data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149F5-BD67-4350-A12D-35E62E4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860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38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Building Python ELT pipelines, Postgres workflows, Streamlit surfaces and CI at Kuro Data 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2B383-3373-4A73-ADB7-0E00E1B4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4B0BC-E2FF-4838-BA08-DF49480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>
            <a:defPPr algn="l">
              <a:def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Mobile and product shipping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51808-FFC0-4926-BFA1-7DA5EEC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38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Built React Native Expo apps, managed shared packages and shipped production mobile builds.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DAA46-335C-40B8-B1EA-B7A64559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19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C5154-82B7-4619-9B97-3E6A850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>
            <a:defPPr algn="l">
              <a:def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Agent and graph 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06AAA-D093-43C7-8320-F170D8B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91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Built Gemini tool-calling features and typed outputs, directly matching the recovery-agent architecture.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388D7-9097-4EF0-97E8-B856982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OpsMap  |  NATO theatre resilience simulation  |  London-Paris corridor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33CA1-A9F1-40AC-AE62-26B32B24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Zafer Siar Konyar  |  siarkonyar.com</a:t>
            </a:r>
          </a:p>
        </p:txBody>
      </p:sp>
    </p:spTree>
    <p:extLst>
      <p:ext uri="{BB962C8B-B14F-4D97-AF65-F5344CB8AC3E}">
        <p14:creationId xmlns:p14="http://schemas.microsoft.com/office/powerpoint/2010/main" val="656750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64860-2AF0-4D69-8144-D4FB9B9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4BB78-9011-4E69-910B-954E8EE6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~30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34761-0ABB-4B24-8C6D-075C7B6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546E-0861-47E9-8FB2-4247F152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7DE2C-039E-4EE2-9FF7-D8BD2B8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32"/>
          </a:bodyPr>
          <a:lstStyle xmlns:a="http://schemas.openxmlformats.org/drawingml/2006/main">
            <a:def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NATO theatre resilience planning breaks when local disruptions cascade through hidden dependencies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7694D-3983-4A6A-A581-741289DF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FC952-7CB7-4EF5-98CB-774D940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87"/>
          </a:solidFill>
          <a:ln xmlns:a="http://schemas.openxmlformats.org/drawingml/2006/main" w="9525">
            <a:solidFill>
              <a:srgbClr val="204A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BC4B4-F476-4348-B997-7765EDD5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860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SITUATION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3A616-5988-4DA5-8F95-B2FAFE8E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27"/>
          </a:bodyPr>
          <a:lstStyle xmlns:a="http://schemas.openxmlformats.org/drawingml/2006/main">
            <a:defPPr algn="l">
              <a:def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NATO logistics depend on ports, power, roads, suppliers, hospitals and local services that span national borders.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6A416-CD1C-4B15-9B1A-CB39A1A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527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D35B4-5FBC-4C0E-B387-70A14EF8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1D"/>
          </a:solidFill>
          <a:ln xmlns:a="http://schemas.openxmlformats.org/drawingml/2006/main" w="9525">
            <a:solidFill>
              <a:srgbClr val="8F1D1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9CE09-49ED-4960-AD77-E66A6E3B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860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F8092-6278-45EF-A440-56D8D444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099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67"/>
          </a:bodyPr>
          <a:lstStyle xmlns:a="http://schemas.openxmlformats.org/drawingml/2006/main">
            <a:defPPr algn="l">
              <a:def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Most planning views treat a disruption as a local incident. They do not show which second- and third-order services become exposed.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29FF6-ABB5-4A38-9AD7-3C2513C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3143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4EDF2-4E82-4800-AA53-4991A2BF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E1540-267E-45E3-A074-50BCC80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860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>
            <a:def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B2F54-10EE-4DB7-B47E-BFC02F43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67"/>
          </a:bodyPr>
          <a:lstStyle xmlns:a="http://schemas.openxmlformats.org/drawingml/2006/main">
            <a:defPPr algn="l">
              <a:def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Teams lose time building manual recovery plans while aircraft, route capacity, crews and stock compete for the same response window.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4F564-9602-4DD5-A96C-9644EFED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448"/>
          </a:bodyPr>
          <a:lstStyle xmlns:a="http://schemas.openxmlformats.org/drawingml/2006/main">
            <a:defPPr algn="ctr">
              <a:defRPr sz="1650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Demo focus: Dover and the London-Paris corridor. Product scope: every NATO theatre with validated dependency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AA410-799F-4382-B434-62046EE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OpsMap  |  NATO theatre resilience simulation  |  London-Paris corridor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E00CB-BFBF-46CB-AD24-A75ECF1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Zafer Siar Konyar  |  siarkonyar.com</a:t>
            </a:r>
          </a:p>
        </p:txBody>
      </p:sp>
    </p:spTree>
    <p:extLst>
      <p:ext uri="{BB962C8B-B14F-4D97-AF65-F5344CB8AC3E}">
        <p14:creationId xmlns:p14="http://schemas.microsoft.com/office/powerpoint/2010/main" val="1676516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85BBD-CF14-4DC4-B7BD-B75571A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5B4B4-43B6-4715-8A45-5B2B251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~30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4318F-D280-46F1-8815-4B15EDB7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FA0D9-DDB5-4400-8A80-7D65F930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3EDAA-05A9-421C-932E-7D5AF4C0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OpsMap turns theatre dependencies into a map of impact and feasible recovery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25B0C-2219-4553-BBD8-2B3D796B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58704-432C-4BFF-A17A-0360665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sentence: choose a scenario, see the cascade, compare recovery plans on the map.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355CF-7B6A-45AE-83F5-C785E650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F2110-86CD-4387-8CB0-4E86EF7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2E2E"/>
          </a:solidFill>
          <a:ln xmlns:a="http://schemas.openxmlformats.org/drawingml/2006/main" w="9525">
            <a:solidFill>
              <a:srgbClr val="CF2E2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A9229-5F68-4FC3-88AB-87B3F221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42781-D2AE-4B87-84C0-B6BB281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57"/>
          </a:bodyPr>
          <a:lstStyle xmlns:a="http://schemas.openxmlformats.org/drawingml/2006/main">
            <a:defPPr algn="l">
              <a:def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Pick a theatre 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3ABD4-57E5-4F74-B107-101486C2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251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41"/>
          </a:bodyPr>
          <a:lstStyle xmlns:a="http://schemas.openxmlformats.org/drawingml/2006/main">
            <a:defPPr algn="l">
              <a:def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The chatbox offers three fixed demo scenarios for Dover closure, Kent blackout and London infrastructure loss.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75CC1-74BA-4E89-A2CF-80E706C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7DF91-7184-476B-896C-234C1466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2E2E"/>
          </a:solidFill>
          <a:ln xmlns:a="http://schemas.openxmlformats.org/drawingml/2006/main" w="9525">
            <a:solidFill>
              <a:srgbClr val="CF2E2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2F820-8695-4B86-B656-38B036BF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81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B583A-C53D-43E6-BF6A-EF382B6A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52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l">
              <a:def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Map the cascade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12C4D-41B7-4DBF-A770-BF737BB5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251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The current UI shows affected places by cascade degree across the London-Paris synthetic graph.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C2D0E-479D-4427-95F8-8C13BADD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31290-3ED1-412F-BFD7-1C6DDCB1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2E2E"/>
          </a:solidFill>
          <a:ln xmlns:a="http://schemas.openxmlformats.org/drawingml/2006/main" w="9525">
            <a:solidFill>
              <a:srgbClr val="CF2E2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8CDBD-205E-4C86-9352-E862CD7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81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1E1AB-0C12-4AD4-8556-72DD16B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>
            <a:defPPr algn="l">
              <a:def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Compare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50613-7E1C-47D8-940B-FC6DC570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51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6"/>
          </a:bodyPr>
          <a:lstStyle xmlns:a="http://schemas.openxmlformats.org/drawingml/2006/main">
            <a:defPPr algn="l">
              <a:def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Planned agent work evaluates airlift, rerouting, stock and staged recovery in isolated graph branches.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A67B6-458C-417E-A6C9-41E1FDFA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ctr">
              <a:defRPr sz="1350" b="1" i="0">
                <a:solidFill>
                  <a:srgbClr val="8F1D1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8F1D1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8F1D1D"/>
                </a:solidFill>
                <a:latin typeface="Calibri"/>
                <a:ea typeface="Calibri"/>
                <a:cs typeface="Calibri"/>
              </a:rPr>
              <a:t>Status: impact mapping works now. Recovery comparison is planned for the three demo scenarios.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4E5E4-85DC-408B-A03F-6E24F00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OpsMap  |  NATO theatre resilience simulation  |  London-Paris corridor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47DB2-273B-4D9B-BD74-2BF5B50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Zafer Siar Konyar  |  siarkonyar.com</a:t>
            </a:r>
          </a:p>
        </p:txBody>
      </p:sp>
    </p:spTree>
    <p:extLst>
      <p:ext uri="{BB962C8B-B14F-4D97-AF65-F5344CB8AC3E}">
        <p14:creationId xmlns:p14="http://schemas.microsoft.com/office/powerpoint/2010/main" val="24577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D33B6-3C36-4BB8-A884-FACECD8F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1C5DE-EB7E-45CB-BB3D-67979DFE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~25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6F33-D886-4659-B99E-9CAC091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17513-AE2B-46D6-A04A-C85F6B8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Why Us  |  Our Advantage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C1888-625C-49E1-BD85-3E6512B8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97"/>
          </a:bodyPr>
          <a:lstStyle xmlns:a="http://schemas.openxmlformats.org/drawingml/2006/main">
            <a:def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The demo already links live map behaviour to graph logic and a founder who can build the full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B701E-F210-4DBE-9556-1729A2E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953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F7B16-BABA-4A5C-AAD2-52E3599D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USP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15C2B-B405-455D-B93F-CE2592D1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33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Theatre graph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29484-8DBE-44AC-ADF8-21DA43D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52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Dependencies are explicit nodes and relationships, so the system can explain why each place becomes exposed.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67C79-75BA-4E6E-A4D9-26704FE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953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3BF7F-7D8D-43F7-990C-DBC04E5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USP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A9924-7E59-45F3-905E-EA7BE80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Branch-based recovery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27397-C946-43A5-B45B-63D714F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Recovery plans can run as isolated graph branches, keeping the baseline untouched while comparing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28498-3472-466E-9234-CE753B7C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953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D3D85-3F81-4947-9303-AE9B206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USP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02D1E-E1B6-4F26-B591-ABF14E4F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14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Founder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43AF9-E663-4FDC-9990-3E419520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339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Zafer combines full-stack product work, mobile shipping, data pipelines and LLM tool-calling experience.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506AF-9C2B-4923-8F18-E8CB35EF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4953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896BF-7BE3-45FC-B99D-19F0CBFA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USP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6C43D-A5C3-4CD4-969B-8EC0A1F1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>
            <a:def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Focused demo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51927-9E92-49CE-BC88-73E28FCF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339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Three prepared scenarios keep the live demo reliable while proving the larger NATO theatre concept.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93216-E062-4C8C-8C8E-F67766CD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OpsMap  |  NATO theatre resilience simulation  |  London-Paris corridor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C7123-2407-47EE-8456-26D0392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Zafer Siar Konyar  |  siarkonyar.com</a:t>
            </a:r>
          </a:p>
        </p:txBody>
      </p:sp>
    </p:spTree>
    <p:extLst>
      <p:ext uri="{BB962C8B-B14F-4D97-AF65-F5344CB8AC3E}">
        <p14:creationId xmlns:p14="http://schemas.microsoft.com/office/powerpoint/2010/main" val="1772909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DE81C-F461-4B57-9A00-F0041FE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8C648-4ABF-4007-8863-216296AD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~20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9B66B-276F-4CC8-86C9-5CE99AD1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F7892-609C-4627-A361-C4D4A0B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Prototype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E44FD-22A9-4702-8E62-C14488E5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What the London-Paris demo already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464E4-F511-4EB2-9019-F5E4AA33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D67"/>
          </a:solidFill>
          <a:ln xmlns:a="http://schemas.openxmlformats.org/drawingml/2006/main" w="9525">
            <a:solidFill>
              <a:srgbClr val="203D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A6E04-2B2F-4766-8400-71CEB898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>
            <a:defPPr algn="ctr">
              <a:def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6,095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00EA4-C80F-4E39-8CD9-49A5F58D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rPr>
              <a:t>synthetic graph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1E7C0-3903-4664-AF7E-01C56A3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479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9525">
            <a:solidFill>
              <a:srgbClr val="2F5D5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15B91-D516-4DB9-9747-9EF56056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>
            <a:defPPr algn="ctr">
              <a:def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1,252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4F7C0-1517-4A9E-ACE8-E36DC2D6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rPr>
              <a:t>facilities in the corridor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01E3E-97DF-441A-842C-06AB902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B3B"/>
          </a:solidFill>
          <a:ln xmlns:a="http://schemas.openxmlformats.org/drawingml/2006/main" w="9525">
            <a:solidFill>
              <a:srgbClr val="7C3B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C6377-5561-4312-8F29-797B8865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>
            <a:defPPr algn="ctr">
              <a:def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C793D-92A0-49CA-B544-A8567626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ctr">
              <a:def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E8EEF6"/>
                </a:solidFill>
                <a:latin typeface="Calibri"/>
                <a:ea typeface="Calibri"/>
                <a:cs typeface="Calibri"/>
              </a:rPr>
              <a:t>displayed cascade degrees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17DF4-5C1C-4173-B4BC-E0757693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EDDD3-65C6-4448-9F1B-F0400A7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23,914 relationships and 4,064 dormant recovery options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79CA0-E685-42A1-AEF2-C2D74EBA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Impact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D638E-D4E1-4566-A777-51452495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Dover closure exposes 778 facilities in the synthetic projection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0A9DE-0603-4E6B-919D-F38918D6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Scenario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FD4FD-D376-409B-B0A6-520E9B6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Three fixed demo prompts for the chatbox and recovery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4D00B-D437-43CB-A7FB-B6042051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04A87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4D3524-1A56-4B4A-A89D-0E8B214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>
            <a:def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Synthetic demo data. Operational accuracy still needs partner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1870A-65C6-4006-8563-4EDB732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OpsMap  |  NATO theatre resilience simulation  |  London-Paris corridor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20233-EBE0-4A1C-AEF8-708157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>
            <a:def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9AA3AD"/>
                </a:solidFill>
                <a:latin typeface="Calibri"/>
                <a:ea typeface="Calibri"/>
                <a:cs typeface="Calibri"/>
              </a:rPr>
              <a:t>Zafer Siar Konyar  |  siarkonyar.com</a:t>
            </a:r>
          </a:p>
        </p:txBody>
      </p:sp>
    </p:spTree>
    <p:extLst>
      <p:ext uri="{BB962C8B-B14F-4D97-AF65-F5344CB8AC3E}">
        <p14:creationId xmlns:p14="http://schemas.microsoft.com/office/powerpoint/2010/main" val="1880105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AD2B2-6C5A-4D35-A583-ECB8591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SLIDE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07DFB-FAFF-4143-97B9-FE46C01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>
            <a:def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~10 sec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CD662-C643-4207-AF55-45978CA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4140A-9294-422E-926C-B4CF114D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3300" b="1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Next Steps  |  What We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9BFF5-4CFF-4FCC-865B-4371036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A design partner can turn the corridor demo into a validated NATO theatre simulator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DDBA2-DA9E-4225-82F1-852EA24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B16B1-451E-40DD-B7EC-060D27B7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94"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ask: one defence-resilience design partner to review assumptions and provide anonymised dependency data for a NATO-scale pilot by January 2027.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A989D-0E56-4F09-8C0E-27E57A1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F0ABB-A8AC-4F7F-9DEB-7FBF2D3D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>
            <a:defPPr algn="ctr">
              <a:def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Next 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E0131-A27D-4354-801E-47B57251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32"/>
          </a:bodyPr>
          <a:lstStyle xmlns:a="http://schemas.openxmlformats.org/drawingml/2006/main">
            <a:defPPr algn="ctr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Finish the three-scenario recovery agent and lock the live demo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B10E0-57F6-4810-904F-D626E9F3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957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70BE4-C633-488E-9E5C-F81C3DC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62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>
            <a:defPPr algn="ctr">
              <a:def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30-60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A7EE5-B9A2-4949-A9A5-BAADEB0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281"/>
          </a:bodyPr>
          <a:lstStyle xmlns:a="http://schemas.openxmlformats.org/drawingml/2006/main">
            <a:defPPr algn="ctr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Validate dependency assumptions with an operator and replace synthetic edges where data exists.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AC632-5163-4F77-B945-3FCD792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957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AB8C2-002D-4FEB-97DB-83654DDC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>
            <a:defPPr algn="ctr">
              <a:def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CF2E2E"/>
                </a:solidFill>
                <a:latin typeface="Calibri"/>
                <a:ea typeface="Calibri"/>
                <a:cs typeface="Calibri"/>
              </a:rPr>
              <a:t>60-90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DA78B-5D92-4F55-9DB1-FFFC3139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281"/>
          </a:bodyPr>
          <a:lstStyle xmlns:a="http://schemas.openxmlformats.org/drawingml/2006/main">
            <a:defPPr algn="ctr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101820"/>
                </a:solidFill>
                <a:latin typeface="Calibri"/>
                <a:ea typeface="Calibri"/>
                <a:cs typeface="Calibri"/>
              </a:rPr>
              <a:t>Run a supervised pilot across one wider NATO theatre and measure recovery-plan usefulness.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2B4DA-8C0C-4510-B51E-7F04DE6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ctr">
              <a:defRPr sz="12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64707D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4707D"/>
                </a:solidFill>
                <a:latin typeface="Calibri"/>
                <a:ea typeface="Calibri"/>
                <a:cs typeface="Calibri"/>
              </a:rPr>
              <a:t>Thank you  |  Zafer Siar Konyar  |  siarkonyar@gmail.com  |  linkedin.com/in/siarkonyar</a:t>
            </a:r>
          </a:p>
        </p:txBody>
      </p:sp>
    </p:spTree>
    <p:extLst>
      <p:ext uri="{BB962C8B-B14F-4D97-AF65-F5344CB8AC3E}">
        <p14:creationId xmlns:p14="http://schemas.microsoft.com/office/powerpoint/2010/main" val="950229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2026-10-03T18:27:19.7330000Z</dcterms:created>
  <dcterms:modified xsi:type="dcterms:W3CDTF">2026-10-03T18:27:19.7330000Z</dcterms:modified>
</coreProperties>
</file>