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71b00b0a1a46a7" /><Relationship Type="http://schemas.openxmlformats.org/officeDocument/2006/relationships/extended-properties" Target="/docProps/app.xml" Id="R131f019fb0fe409e" /><Relationship Type="http://schemas.openxmlformats.org/officeDocument/2006/relationships/officeDocument" Target="/ppt/presentation.xml" Id="Rd8bac9bb122046f1" /></Relationships>
</file>

<file path=ppt/presentation.xml><?xml version="1.0" encoding="utf-8"?>
<p:presentation xmlns:p="http://schemas.openxmlformats.org/presentationml/2006/main">
  <p:sldMasterIdLst>
    <p:sldMasterId xmlns:r="http://schemas.openxmlformats.org/officeDocument/2006/relationships" id="2147483648" r:id="R800855d4557f4bd1"/>
  </p:sldMasterIdLst>
  <p:notesMasterIdLst>
    <p:notesMasterId xmlns:r="http://schemas.openxmlformats.org/officeDocument/2006/relationships" r:id="Rb98b07050be144e1"/>
  </p:notesMasterIdLst>
  <p:sldIdLst>
    <p:sldId xmlns:r="http://schemas.openxmlformats.org/officeDocument/2006/relationships" id="256" r:id="R1cc0fa4381ae4a23"/>
    <p:sldId xmlns:r="http://schemas.openxmlformats.org/officeDocument/2006/relationships" id="257" r:id="R6e69009b1a8a4e42"/>
    <p:sldId xmlns:r="http://schemas.openxmlformats.org/officeDocument/2006/relationships" id="258" r:id="Rb3a091bfaab64e04"/>
    <p:sldId xmlns:r="http://schemas.openxmlformats.org/officeDocument/2006/relationships" id="259" r:id="Rcb96ae5af39c467e"/>
    <p:sldId xmlns:r="http://schemas.openxmlformats.org/officeDocument/2006/relationships" id="260" r:id="Rdc1b997d4c784b7b"/>
    <p:sldId xmlns:r="http://schemas.openxmlformats.org/officeDocument/2006/relationships" id="261" r:id="Rfab00d8ac3464045"/>
    <p:sldId xmlns:r="http://schemas.openxmlformats.org/officeDocument/2006/relationships" id="262" r:id="Re4c5f4f121d148ab"/>
    <p:sldId xmlns:r="http://schemas.openxmlformats.org/officeDocument/2006/relationships" id="263" r:id="R2aedf2fd9d974786"/>
    <p:sldId xmlns:r="http://schemas.openxmlformats.org/officeDocument/2006/relationships" id="264" r:id="R8e5b881263a44644"/>
    <p:sldId xmlns:r="http://schemas.openxmlformats.org/officeDocument/2006/relationships" id="265" r:id="R0e0ab1e745ce4ade"/>
    <p:sldId xmlns:r="http://schemas.openxmlformats.org/officeDocument/2006/relationships" id="266" r:id="Rd4eb24737a134eb7"/>
    <p:sldId xmlns:r="http://schemas.openxmlformats.org/officeDocument/2006/relationships" id="267" r:id="Rf29dd5242289425f"/>
    <p:sldId xmlns:r="http://schemas.openxmlformats.org/officeDocument/2006/relationships" id="268" r:id="Rf2f995a897c04eaa"/>
    <p:sldId xmlns:r="http://schemas.openxmlformats.org/officeDocument/2006/relationships" id="269" r:id="Rdf16f048fc1d4565"/>
    <p:sldId xmlns:r="http://schemas.openxmlformats.org/officeDocument/2006/relationships" id="270" r:id="R166d696b351345a2"/>
  </p:sldIdLst>
  <p:sldSz cx="12192000" cy="6858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f26d376096442d" /><Relationship Type="http://schemas.openxmlformats.org/officeDocument/2006/relationships/slideMaster" Target="/ppt/slideMasters/slideMaster1.xml" Id="R800855d4557f4bd1" /><Relationship Type="http://schemas.openxmlformats.org/officeDocument/2006/relationships/notesMaster" Target="/ppt/notesMasters/notesMaster1.xml" Id="Rb98b07050be144e1" /><Relationship Type="http://schemas.openxmlformats.org/officeDocument/2006/relationships/presProps" Target="/ppt/presProps.xml" Id="R35d0c86cb46040a8" /><Relationship Type="http://schemas.openxmlformats.org/officeDocument/2006/relationships/tableStyles" Target="/ppt/tableStyles.xml" Id="Rd1e11b4fb8af4dce" /><Relationship Type="http://schemas.openxmlformats.org/officeDocument/2006/relationships/slide" Target="/ppt/slides/slide1.xml" Id="R1cc0fa4381ae4a23" /><Relationship Type="http://schemas.openxmlformats.org/officeDocument/2006/relationships/slide" Target="/ppt/slides/slide2.xml" Id="R6e69009b1a8a4e42" /><Relationship Type="http://schemas.openxmlformats.org/officeDocument/2006/relationships/slide" Target="/ppt/slides/slide3.xml" Id="Rb3a091bfaab64e04" /><Relationship Type="http://schemas.openxmlformats.org/officeDocument/2006/relationships/slide" Target="/ppt/slides/slide4.xml" Id="Rcb96ae5af39c467e" /><Relationship Type="http://schemas.openxmlformats.org/officeDocument/2006/relationships/slide" Target="/ppt/slides/slide5.xml" Id="Rdc1b997d4c784b7b" /><Relationship Type="http://schemas.openxmlformats.org/officeDocument/2006/relationships/slide" Target="/ppt/slides/slide6.xml" Id="Rfab00d8ac3464045" /><Relationship Type="http://schemas.openxmlformats.org/officeDocument/2006/relationships/slide" Target="/ppt/slides/slide7.xml" Id="Re4c5f4f121d148ab" /><Relationship Type="http://schemas.openxmlformats.org/officeDocument/2006/relationships/slide" Target="/ppt/slides/slide8.xml" Id="R2aedf2fd9d974786" /><Relationship Type="http://schemas.openxmlformats.org/officeDocument/2006/relationships/slide" Target="/ppt/slides/slide9.xml" Id="R8e5b881263a44644" /><Relationship Type="http://schemas.openxmlformats.org/officeDocument/2006/relationships/slide" Target="/ppt/slides/slide10.xml" Id="R0e0ab1e745ce4ade" /><Relationship Type="http://schemas.openxmlformats.org/officeDocument/2006/relationships/slide" Target="/ppt/slides/slide11.xml" Id="Rd4eb24737a134eb7" /><Relationship Type="http://schemas.openxmlformats.org/officeDocument/2006/relationships/slide" Target="/ppt/slides/slide12.xml" Id="Rf29dd5242289425f" /><Relationship Type="http://schemas.openxmlformats.org/officeDocument/2006/relationships/slide" Target="/ppt/slides/slide13.xml" Id="Rf2f995a897c04eaa" /><Relationship Type="http://schemas.openxmlformats.org/officeDocument/2006/relationships/slide" Target="/ppt/slides/slide14.xml" Id="Rdf16f048fc1d4565" /><Relationship Type="http://schemas.openxmlformats.org/officeDocument/2006/relationships/slide" Target="/ppt/slides/slide15.xml" Id="R166d696b351345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e003fbfe9a44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95c581437f40de" /><Relationship Type="http://schemas.openxmlformats.org/officeDocument/2006/relationships/notesMaster" Target="/ppt/notesMasters/notesMaster1.xml" Id="Rc085ece1ed9946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598c0228ef4920" /><Relationship Type="http://schemas.openxmlformats.org/officeDocument/2006/relationships/notesMaster" Target="/ppt/notesMasters/notesMaster1.xml" Id="R38046446916d48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33fd18784143e1" /><Relationship Type="http://schemas.openxmlformats.org/officeDocument/2006/relationships/notesMaster" Target="/ppt/notesMasters/notesMaster1.xml" Id="R1040e697a91c48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465b7501594296" /><Relationship Type="http://schemas.openxmlformats.org/officeDocument/2006/relationships/notesMaster" Target="/ppt/notesMasters/notesMaster1.xml" Id="Re3d33bf8c06b45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f413cfac8c4d21" /><Relationship Type="http://schemas.openxmlformats.org/officeDocument/2006/relationships/notesMaster" Target="/ppt/notesMasters/notesMaster1.xml" Id="Rab922487f1984a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5e8cab2b954baf" /><Relationship Type="http://schemas.openxmlformats.org/officeDocument/2006/relationships/notesMaster" Target="/ppt/notesMasters/notesMaster1.xml" Id="Rde7b96f0d8c143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7a5ccfa20b4197" /><Relationship Type="http://schemas.openxmlformats.org/officeDocument/2006/relationships/notesMaster" Target="/ppt/notesMasters/notesMaster1.xml" Id="Rf27cc2b5f86c4b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ea0f0010954613" /><Relationship Type="http://schemas.openxmlformats.org/officeDocument/2006/relationships/notesMaster" Target="/ppt/notesMasters/notesMaster1.xml" Id="R3cec4c92feab4a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ba7dea658b74075" /><Relationship Type="http://schemas.openxmlformats.org/officeDocument/2006/relationships/notesMaster" Target="/ppt/notesMasters/notesMaster1.xml" Id="Rb532ef6728f34c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f59cd4cbbd4b3c" /><Relationship Type="http://schemas.openxmlformats.org/officeDocument/2006/relationships/notesMaster" Target="/ppt/notesMasters/notesMaster1.xml" Id="Rd77e5f1e04ae422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8908df9cde4ac3" /><Relationship Type="http://schemas.openxmlformats.org/officeDocument/2006/relationships/notesMaster" Target="/ppt/notesMasters/notesMaster1.xml" Id="R2f71bbd52c694bc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11fecf3cf9d4678" /><Relationship Type="http://schemas.openxmlformats.org/officeDocument/2006/relationships/notesMaster" Target="/ppt/notesMasters/notesMaster1.xml" Id="R0bfbafc2f0464a7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30b846f5504478f" /><Relationship Type="http://schemas.openxmlformats.org/officeDocument/2006/relationships/notesMaster" Target="/ppt/notesMasters/notesMaster1.xml" Id="R9396e1ceb41545d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2b57dd17383464e" /><Relationship Type="http://schemas.openxmlformats.org/officeDocument/2006/relationships/notesMaster" Target="/ppt/notesMasters/notesMaster1.xml" Id="R2cfd79eb3518422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8915b9e2855482a" /><Relationship Type="http://schemas.openxmlformats.org/officeDocument/2006/relationships/notesMaster" Target="/ppt/notesMasters/notesMaster1.xml" Id="Re0dfaa834a424c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If Dover closes tonight, which essential services lose support next? OpsMap already has an isolated synthetic corridor and an impact map. We are developing an AI agent to compare recovery choices in exactly three exercises. The AI-assisted recovery workflow is a development goal, not a validated operational capability.</a:t>
            </a:r>
            <a:endParaRPr sz="1200">
              <a:solidFill>
                <a:schemeClr val="dk1"/>
              </a:solidFill>
              <a:latin typeface="Arial"/>
              <a:ea typeface="Arial"/>
              <a:cs typeface="Arial"/>
            </a:endParaRPr>
          </a:p>
          <a:p xmlns:a="http://schemas.openxmlformats.org/drawingml/2006/main">
            <a:pPr marL="0" marR="0" lvl="0" indent="0" algn="l">
              <a:spcBef>
                <a:spcPts val="0"/>
              </a:spcBef>
              <a:spcAft>
                <a:spcPts val="0"/>
              </a:spcAft>
              <a:buNone/>
            </a:pPr>
            <a:r>
              <a:t/>
            </a:r>
            <a:endParaRPr sz="1200">
              <a:solidFill>
                <a:schemeClr val="dk1"/>
              </a:solidFill>
              <a:latin typeface="Arial"/>
              <a:ea typeface="Arial"/>
              <a:cs typeface="Arial"/>
            </a:endParaRPr>
          </a:p>
          <a:p xmlns:a="http://schemas.openxmlformats.org/drawingml/2006/main">
            <a:pPr marL="0" marR="0" lvl="0" indent="0" algn="l">
              <a:spcBef>
                <a:spcPts val="0"/>
              </a:spcBef>
              <a:spcAft>
                <a:spcPts val="0"/>
              </a:spcAft>
              <a:buNone/>
            </a:pPr>
            <a:r>
              <a:t>Sources: project docs/dover.md; datasets/dover/model.py; api/deep_cascade.py; api/deep_cascade_live.py; agents/resilience/ and api/resilience_routes.py (working tree in development, 3 October 2026). Template: https://docs.google.com/presentation/d/11kPObZ02zyVYLIPoZuwGec1joH7JIdBX/edit</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In our synthetic model, a port disruption can interrupt supplies, then production, then support services. Airlift is a candidate response, but the aircraft pool and downstream transport have finite capacity. The challenge is to understand both the cascade and the limits on recovery.</a:t>
            </a:r>
            <a:endParaRPr sz="1200">
              <a:solidFill>
                <a:schemeClr val="dk1"/>
              </a:solidFill>
              <a:latin typeface="Arial"/>
              <a:ea typeface="Arial"/>
              <a:cs typeface="Arial"/>
            </a:endParaRPr>
          </a:p>
          <a:p xmlns:a="http://schemas.openxmlformats.org/drawingml/2006/main">
            <a:pPr marL="0" marR="0" lvl="0" indent="0" algn="l">
              <a:spcBef>
                <a:spcPts val="0"/>
              </a:spcBef>
              <a:spcAft>
                <a:spcPts val="0"/>
              </a:spcAft>
              <a:buNone/>
            </a:pPr>
            <a:r>
              <a:t/>
            </a:r>
            <a:endParaRPr sz="1200">
              <a:solidFill>
                <a:schemeClr val="dk1"/>
              </a:solidFill>
              <a:latin typeface="Arial"/>
              <a:ea typeface="Arial"/>
              <a:cs typeface="Arial"/>
            </a:endParaRPr>
          </a:p>
          <a:p xmlns:a="http://schemas.openxmlformats.org/drawingml/2006/main">
            <a:pPr marL="0" marR="0" lvl="0" indent="0" algn="l">
              <a:spcBef>
                <a:spcPts val="0"/>
              </a:spcBef>
              <a:spcAft>
                <a:spcPts val="0"/>
              </a:spcAft>
              <a:buNone/>
            </a:pPr>
            <a:r>
              <a:t>Sources: project docs/dover.md; datasets/dover/model.py; api/deep_cascade.py; api/deep_cascade_live.py; agents/resilience/ and api/resilience_routes.py (working tree in development, 3 October 2026). Template: https://docs.google.com/presentation/d/11kPObZ02zyVYLIPoZuwGec1joH7JIdBX/edit</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The intended demo starts with one of three chat suggestions. The current impact map reveals exposure degree by degree. The planned recovery agent will evaluate alternatives in isolated TuringDB branches and present measured recovery on the map. Do not imply all three scenarios or the recovery UI have passed end-to-end validation.</a:t>
            </a:r>
            <a:endParaRPr sz="1200">
              <a:solidFill>
                <a:schemeClr val="dk1"/>
              </a:solidFill>
              <a:latin typeface="Arial"/>
              <a:ea typeface="Arial"/>
              <a:cs typeface="Arial"/>
            </a:endParaRPr>
          </a:p>
          <a:p xmlns:a="http://schemas.openxmlformats.org/drawingml/2006/main">
            <a:pPr marL="0" marR="0" lvl="0" indent="0" algn="l">
              <a:spcBef>
                <a:spcPts val="0"/>
              </a:spcBef>
              <a:spcAft>
                <a:spcPts val="0"/>
              </a:spcAft>
              <a:buNone/>
            </a:pPr>
            <a:r>
              <a:t/>
            </a:r>
            <a:endParaRPr sz="1200">
              <a:solidFill>
                <a:schemeClr val="dk1"/>
              </a:solidFill>
              <a:latin typeface="Arial"/>
              <a:ea typeface="Arial"/>
              <a:cs typeface="Arial"/>
            </a:endParaRPr>
          </a:p>
          <a:p xmlns:a="http://schemas.openxmlformats.org/drawingml/2006/main">
            <a:pPr marL="0" marR="0" lvl="0" indent="0" algn="l">
              <a:spcBef>
                <a:spcPts val="0"/>
              </a:spcBef>
              <a:spcAft>
                <a:spcPts val="0"/>
              </a:spcAft>
              <a:buNone/>
            </a:pPr>
            <a:r>
              <a:t>Sources: project docs/dover.md; datasets/dover/model.py; api/deep_cascade.py; api/deep_cascade_live.py; agents/resilience/ and api/resilience_routes.py (working tree in development, 3 October 2026). Template: https://docs.google.com/presentation/d/11kPObZ02zyVYLIPoZuwGec1joH7JIdBX/edit</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The dependency graph provides the evidence behind the explanation. Recovery options reference required resources. Branches allow comparison without changing the baseline. These are implementation choices, not claims of exclusive access, patents or commercial differentiation. Personal USP 3 remains for the presenter to complete.</a:t>
            </a:r>
            <a:endParaRPr sz="1200">
              <a:solidFill>
                <a:schemeClr val="dk1"/>
              </a:solidFill>
              <a:latin typeface="Arial"/>
              <a:ea typeface="Arial"/>
              <a:cs typeface="Arial"/>
            </a:endParaRPr>
          </a:p>
          <a:p xmlns:a="http://schemas.openxmlformats.org/drawingml/2006/main">
            <a:pPr marL="0" marR="0" lvl="0" indent="0" algn="l">
              <a:spcBef>
                <a:spcPts val="0"/>
              </a:spcBef>
              <a:spcAft>
                <a:spcPts val="0"/>
              </a:spcAft>
              <a:buNone/>
            </a:pPr>
            <a:r>
              <a:t/>
            </a:r>
            <a:endParaRPr sz="1200">
              <a:solidFill>
                <a:schemeClr val="dk1"/>
              </a:solidFill>
              <a:latin typeface="Arial"/>
              <a:ea typeface="Arial"/>
              <a:cs typeface="Arial"/>
            </a:endParaRPr>
          </a:p>
          <a:p xmlns:a="http://schemas.openxmlformats.org/drawingml/2006/main">
            <a:pPr marL="0" marR="0" lvl="0" indent="0" algn="l">
              <a:spcBef>
                <a:spcPts val="0"/>
              </a:spcBef>
              <a:spcAft>
                <a:spcPts val="0"/>
              </a:spcAft>
              <a:buNone/>
            </a:pPr>
            <a:r>
              <a:t>Sources: project docs/dover.md; datasets/dover/model.py; api/deep_cascade.py; api/deep_cascade_live.py; agents/resilience/ and api/resilience_routes.py (working tree in development, 3 October 2026). Template: https://docs.google.com/presentation/d/11kPObZ02zyVYLIPoZuwGec1joH7JIdBX/edit</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These figures describe a synthetic demonstration graph, not real UK or French facilities. The existing Dover closure projection reaches 778 facilities over 12 displayed cascade degrees. That is exposure to supply flows, not a forecast that all 778 facilities stop. Recovery options are dormant possibilities, not demonstrated successful interventions. No customer, revenue or partner traction is claimed.</a:t>
            </a:r>
            <a:endParaRPr sz="1200">
              <a:solidFill>
                <a:schemeClr val="dk1"/>
              </a:solidFill>
              <a:latin typeface="Arial"/>
              <a:ea typeface="Arial"/>
              <a:cs typeface="Arial"/>
            </a:endParaRPr>
          </a:p>
          <a:p xmlns:a="http://schemas.openxmlformats.org/drawingml/2006/main">
            <a:pPr marL="0" marR="0" lvl="0" indent="0" algn="l">
              <a:spcBef>
                <a:spcPts val="0"/>
              </a:spcBef>
              <a:spcAft>
                <a:spcPts val="0"/>
              </a:spcAft>
              <a:buNone/>
            </a:pPr>
            <a:r>
              <a:t/>
            </a:r>
            <a:endParaRPr sz="1200">
              <a:solidFill>
                <a:schemeClr val="dk1"/>
              </a:solidFill>
              <a:latin typeface="Arial"/>
              <a:ea typeface="Arial"/>
              <a:cs typeface="Arial"/>
            </a:endParaRPr>
          </a:p>
          <a:p xmlns:a="http://schemas.openxmlformats.org/drawingml/2006/main">
            <a:pPr marL="0" marR="0" lvl="0" indent="0" algn="l">
              <a:spcBef>
                <a:spcPts val="0"/>
              </a:spcBef>
              <a:spcAft>
                <a:spcPts val="0"/>
              </a:spcAft>
              <a:buNone/>
            </a:pPr>
            <a:r>
              <a:t>Sources: project docs/dover.md; datasets/dover/model.py; api/deep_cascade.py; api/deep_cascade_live.py; agents/resilience/ and api/resilience_routes.py (working tree in development, 3 October 2026). Template: https://docs.google.com/presentation/d/11kPObZ02zyVYLIPoZuwGec1joH7JIdBX/edit</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This is a proposed design-partner ask and an indicative roadmap. No partnership, funding amount or delivery commitment is confirmed. Alternatives for the ask: access to an anonymised dependency dataset, or a technical mentor to review branch simulation and resource allocation.</a:t>
            </a:r>
            <a:endParaRPr sz="1200">
              <a:solidFill>
                <a:schemeClr val="dk1"/>
              </a:solidFill>
              <a:latin typeface="Arial"/>
              <a:ea typeface="Arial"/>
              <a:cs typeface="Arial"/>
            </a:endParaRPr>
          </a:p>
          <a:p xmlns:a="http://schemas.openxmlformats.org/drawingml/2006/main">
            <a:pPr marL="0" marR="0" lvl="0" indent="0" algn="l">
              <a:spcBef>
                <a:spcPts val="0"/>
              </a:spcBef>
              <a:spcAft>
                <a:spcPts val="0"/>
              </a:spcAft>
              <a:buNone/>
            </a:pPr>
            <a:r>
              <a:t/>
            </a:r>
            <a:endParaRPr sz="1200">
              <a:solidFill>
                <a:schemeClr val="dk1"/>
              </a:solidFill>
              <a:latin typeface="Arial"/>
              <a:ea typeface="Arial"/>
              <a:cs typeface="Arial"/>
            </a:endParaRPr>
          </a:p>
          <a:p xmlns:a="http://schemas.openxmlformats.org/drawingml/2006/main">
            <a:pPr marL="0" marR="0" lvl="0" indent="0" algn="l">
              <a:spcBef>
                <a:spcPts val="0"/>
              </a:spcBef>
              <a:spcAft>
                <a:spcPts val="0"/>
              </a:spcAft>
              <a:buNone/>
            </a:pPr>
            <a:r>
              <a:t>Sources: project docs/dover.md; datasets/dover/model.py; api/deep_cascade.py; api/deep_cascade_live.py; agents/resilience/ and api/resilience_routes.py (working tree in development, 3 October 2026). Template: https://docs.google.com/presentation/d/11kPObZ02zyVYLIPoZuwGec1joH7JIdBX/edit</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a:spcBef>
                <a:spcPts val="0"/>
              </a:spcBef>
              <a:spcAft>
                <a:spcPts val="0"/>
              </a:spcAft>
              <a:buNone/>
            </a:pPr>
            <a:r>
              <a:t/>
            </a:r>
            <a:endParaRPr sz="1200">
              <a:solidFill>
                <a:schemeClr val="dk1"/>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13d1ec4cca43c0"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1cece817884642" /><Relationship Type="http://schemas.openxmlformats.org/officeDocument/2006/relationships/slideLayout" Target="/ppt/slideLayouts/slideLayout1.xml" Id="R991a9896ee6749a0"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991a9896ee6749a0"/>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46439489dce44a7" /><Relationship Type="http://schemas.openxmlformats.org/officeDocument/2006/relationships/image" Target="/ppt/media/image.png" Id="R417e0bf253b64ce3" /><Relationship Type="http://schemas.openxmlformats.org/officeDocument/2006/relationships/notesSlide" Target="/ppt/notesSlides/notesSlide1.xml" Id="R5881d071bf6e46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856d307c2b44db4" /><Relationship Type="http://schemas.openxmlformats.org/officeDocument/2006/relationships/image" Target="/ppt/media/image2.png" Id="R440b0458810249b0" /><Relationship Type="http://schemas.openxmlformats.org/officeDocument/2006/relationships/image" Target="/ppt/media/image.png" Id="R7eb8c3b5d04c461e" /><Relationship Type="http://schemas.openxmlformats.org/officeDocument/2006/relationships/image" Target="/ppt/media/image3.png" Id="R50e48778aa7e42a1" /><Relationship Type="http://schemas.openxmlformats.org/officeDocument/2006/relationships/image" Target="/ppt/media/image4.png" Id="R5be7c4662f884ee0" /><Relationship Type="http://schemas.openxmlformats.org/officeDocument/2006/relationships/image" Target="/ppt/media/image5.png" Id="R9efd557c43634e16" /><Relationship Type="http://schemas.openxmlformats.org/officeDocument/2006/relationships/notesSlide" Target="/ppt/notesSlides/notesSlide2.xml" Id="R8ac4e3205a054da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33e652144324208" /><Relationship Type="http://schemas.openxmlformats.org/officeDocument/2006/relationships/image" Target="/ppt/media/image5.png" Id="Rada6b9b510094622" /><Relationship Type="http://schemas.openxmlformats.org/officeDocument/2006/relationships/image" Target="/ppt/media/image2.png" Id="Rcfc1d09b00c340bc" /><Relationship Type="http://schemas.openxmlformats.org/officeDocument/2006/relationships/image" Target="/ppt/media/image4.png" Id="R197d69a009514873" /><Relationship Type="http://schemas.openxmlformats.org/officeDocument/2006/relationships/image" Target="/ppt/media/image6.png" Id="R9179b1c70eba489d" /><Relationship Type="http://schemas.openxmlformats.org/officeDocument/2006/relationships/notesSlide" Target="/ppt/notesSlides/notesSlide3.xml" Id="R92986103d8f544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da89f2ad5dc4875" /><Relationship Type="http://schemas.openxmlformats.org/officeDocument/2006/relationships/image" Target="/ppt/media/image7.png" Id="R85367fdb2e8345c9" /><Relationship Type="http://schemas.openxmlformats.org/officeDocument/2006/relationships/image" Target="/ppt/media/image8.png" Id="R0609b60e08704ad8" /><Relationship Type="http://schemas.openxmlformats.org/officeDocument/2006/relationships/image" Target="/ppt/media/image2.png" Id="R346e75df1bc049d3" /><Relationship Type="http://schemas.openxmlformats.org/officeDocument/2006/relationships/image" Target="/ppt/media/image5.png" Id="Rc49065c99acc4df3" /><Relationship Type="http://schemas.openxmlformats.org/officeDocument/2006/relationships/notesSlide" Target="/ppt/notesSlides/notesSlide4.xml" Id="Rec85e6e7ab1948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1cd238fbdb7460b" /><Relationship Type="http://schemas.openxmlformats.org/officeDocument/2006/relationships/image" Target="/ppt/media/image9.png" Id="R820c877e36484574" /><Relationship Type="http://schemas.openxmlformats.org/officeDocument/2006/relationships/image" Target="/ppt/media/image10.png" Id="R26bab062e13c4ddd" /><Relationship Type="http://schemas.openxmlformats.org/officeDocument/2006/relationships/image" Target="/ppt/media/image11.png" Id="R118f876a584d402d" /><Relationship Type="http://schemas.openxmlformats.org/officeDocument/2006/relationships/image" Target="/ppt/media/image12.png" Id="R19880e3bbbe7445b" /><Relationship Type="http://schemas.openxmlformats.org/officeDocument/2006/relationships/notesSlide" Target="/ppt/notesSlides/notesSlide5.xml" Id="R9c404f331ff84a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26821df4a074f98" /><Relationship Type="http://schemas.openxmlformats.org/officeDocument/2006/relationships/image" Target="/ppt/media/image2.png" Id="Rf2a07bdb68ca4963" /><Relationship Type="http://schemas.openxmlformats.org/officeDocument/2006/relationships/image" Target="/ppt/media/image8.png" Id="R5d12c7ae283948ca" /><Relationship Type="http://schemas.openxmlformats.org/officeDocument/2006/relationships/notesSlide" Target="/ppt/notesSlides/notesSlide6.xml" Id="R85f6c11afd604d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94b082f01314be2" /><Relationship Type="http://schemas.openxmlformats.org/officeDocument/2006/relationships/notesSlide" Target="/ppt/notesSlides/notesSlide7.xml" Id="R60f0b97c269f4c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3d2db7c6a74662" /><Relationship Type="http://schemas.openxmlformats.org/officeDocument/2006/relationships/notesSlide" Target="/ppt/notesSlides/notesSlide8.xml" Id="R5b2a10ea9b044a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fdc6ab7090f47e1" /><Relationship Type="http://schemas.openxmlformats.org/officeDocument/2006/relationships/notesSlide" Target="/ppt/notesSlides/notesSlide9.xml" Id="R04ccd00e8be64e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8c2cbaae69648b9" /><Relationship Type="http://schemas.openxmlformats.org/officeDocument/2006/relationships/notesSlide" Target="/ppt/notesSlides/notesSlide10.xml" Id="Rd6af25b721b1494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3a7cfee5eed44ff" /><Relationship Type="http://schemas.openxmlformats.org/officeDocument/2006/relationships/notesSlide" Target="/ppt/notesSlides/notesSlide11.xml" Id="R513e5bbae8e746e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26e46bd41e44421" /><Relationship Type="http://schemas.openxmlformats.org/officeDocument/2006/relationships/notesSlide" Target="/ppt/notesSlides/notesSlide12.xml" Id="Redd3d3e14ba549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74e3eea9dca4dd9" /><Relationship Type="http://schemas.openxmlformats.org/officeDocument/2006/relationships/notesSlide" Target="/ppt/notesSlides/notesSlide13.xml" Id="R6bc04993c77847a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859cd020b9247fe" /><Relationship Type="http://schemas.openxmlformats.org/officeDocument/2006/relationships/notesSlide" Target="/ppt/notesSlides/notesSlide14.xml" Id="R24d30afb1cb2465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fc7bb69927a4ac7" /><Relationship Type="http://schemas.openxmlformats.org/officeDocument/2006/relationships/notesSlide" Target="/ppt/notesSlides/notesSlide15.xml" Id="R91fe694c07cc4a4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2" name="Google Shape;12;p1">
            <a:extLst xmlns:a="http://schemas.openxmlformats.org/drawingml/2006/main">
              <a:ext uri="{FF2B5EF4-FFF2-40B4-BE49-F238E27FC236}">
                <a16:creationId xmlns:a16="http://schemas.microsoft.com/office/drawing/2014/main" id="{F48DC885-A9F1-4583-9CEB-0E329CB322C1}"/>
              </a:ext>
            </a:extLst>
          </p:cNvPr>
          <p:cNvSpPr>
            <a:spLocks xmlns:a="http://schemas.openxmlformats.org/drawingml/2006/main" noGrp="1"/>
          </p:cNvSpPr>
          <p:nvPr/>
        </p:nvSpPr>
        <p:spPr>
          <a:xfrm xmlns:a="http://schemas.openxmlformats.org/drawingml/2006/main">
            <a:off x="822960" y="1234440"/>
            <a:ext cx="256032" cy="256032"/>
          </a:xfrm>
          <a:prstGeom xmlns:a="http://schemas.openxmlformats.org/drawingml/2006/main" prst="ellipse">
            <a:avLst/>
          </a:prstGeom>
          <a:solidFill xmlns:a="http://schemas.openxmlformats.org/drawingml/2006/main">
            <a:srgbClr val="F2A900"/>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 name="Google Shape;13;p1">
            <a:extLst xmlns:a="http://schemas.openxmlformats.org/drawingml/2006/main">
              <a:ext uri="{FF2B5EF4-FFF2-40B4-BE49-F238E27FC236}">
                <a16:creationId xmlns:a16="http://schemas.microsoft.com/office/drawing/2014/main" id="{922E3C90-0198-45D9-B027-E886D30027AA}"/>
              </a:ext>
            </a:extLst>
          </p:cNvPr>
          <p:cNvSpPr>
            <a:spLocks xmlns:a="http://schemas.openxmlformats.org/drawingml/2006/main" noGrp="1"/>
          </p:cNvSpPr>
          <p:nvPr/>
        </p:nvSpPr>
        <p:spPr>
          <a:xfrm xmlns:a="http://schemas.openxmlformats.org/drawingml/2006/main">
            <a:off x="1234440" y="1188720"/>
            <a:ext cx="82296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dk1"/>
              </a:buClr>
              <a:buSzPts val="1400"/>
              <a:buFont typeface="Calibri"/>
              <a:buNone/>
            </a:pPr>
            <a:r>
              <a:rPr sz="1400" b="1">
                <a:solidFill>
                  <a:schemeClr val="dk1"/>
                </a:solidFill>
                <a:latin typeface="Calibri"/>
                <a:ea typeface="Calibri"/>
                <a:cs typeface="Calibri"/>
              </a:rPr>
              <a:t>EUROPEAN DEFENSE TECH HACKATHON</a:t>
            </a:r>
            <a:endParaRPr sz="1400">
              <a:solidFill>
                <a:schemeClr val="dk1"/>
              </a:solidFill>
              <a:latin typeface="Calibri"/>
              <a:ea typeface="Calibri"/>
              <a:cs typeface="Calibri"/>
            </a:endParaRPr>
          </a:p>
        </p:txBody>
      </p:sp>
      <p:sp>
        <p:nvSpPr>
          <p:cNvPr id="14" name="Google Shape;14;p1">
            <a:extLst xmlns:a="http://schemas.openxmlformats.org/drawingml/2006/main">
              <a:ext uri="{FF2B5EF4-FFF2-40B4-BE49-F238E27FC236}">
                <a16:creationId xmlns:a16="http://schemas.microsoft.com/office/drawing/2014/main" id="{2CA7A080-145F-4C32-BC60-AE06B9D53603}"/>
              </a:ext>
            </a:extLst>
          </p:cNvPr>
          <p:cNvSpPr>
            <a:spLocks xmlns:a="http://schemas.openxmlformats.org/drawingml/2006/main" noGrp="1"/>
          </p:cNvSpPr>
          <p:nvPr/>
        </p:nvSpPr>
        <p:spPr>
          <a:xfrm xmlns:a="http://schemas.openxmlformats.org/drawingml/2006/main">
            <a:off x="822960" y="3246120"/>
            <a:ext cx="9601200" cy="82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dk1"/>
              </a:buClr>
              <a:buSzPts val="1800"/>
              <a:buFont typeface="Calibri"/>
              <a:buNone/>
            </a:pPr>
            <a:r>
              <a:rPr sz="1800" i="1">
                <a:solidFill>
                  <a:schemeClr val="dk1"/>
                </a:solidFill>
                <a:latin typeface="Calibri"/>
                <a:ea typeface="Calibri"/>
                <a:cs typeface="Calibri"/>
              </a:rPr>
              <a:t>A mentor's quick guide for teams — turn 3 minutes on stage into funding, partners, and momentum.</a:t>
            </a:r>
            <a:endParaRPr sz="1800">
              <a:solidFill>
                <a:schemeClr val="dk1"/>
              </a:solidFill>
              <a:latin typeface="Calibri"/>
              <a:ea typeface="Calibri"/>
              <a:cs typeface="Calibri"/>
            </a:endParaRPr>
          </a:p>
        </p:txBody>
      </p:sp>
      <p:pic>
        <p:nvPicPr>
          <p:cNvPr id="15" name="Google Shape;15;p1">
            <a:extLst xmlns:a="http://schemas.openxmlformats.org/drawingml/2006/main">
              <a:ext uri="{FF2B5EF4-FFF2-40B4-BE49-F238E27FC236}">
                <a16:creationId xmlns:a16="http://schemas.microsoft.com/office/drawing/2014/main" id="{CD150F6A-3BD4-43B7-943F-A5E4A269546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17e0bf253b64ce3">
            <a:alphaModFix/>
          </a:blip>
          <a:srcRect xmlns:a="http://schemas.openxmlformats.org/drawingml/2006/main" l="0" t="0" r="0" b="0"/>
          <a:stretch xmlns:a="http://schemas.openxmlformats.org/drawingml/2006/main"/>
        </p:blipFill>
        <p:spPr>
          <a:xfrm xmlns:a="http://schemas.openxmlformats.org/drawingml/2006/main">
            <a:off x="822960" y="4937760"/>
            <a:ext cx="457200" cy="457200"/>
          </a:xfrm>
          <a:prstGeom xmlns:a="http://schemas.openxmlformats.org/drawingml/2006/main" prst="rect">
            <a:avLst/>
          </a:prstGeom>
          <a:ln xmlns:a="http://schemas.openxmlformats.org/drawingml/2006/main">
            <a:noFill/>
          </a:ln>
        </p:spPr>
      </p:pic>
      <p:sp>
        <p:nvSpPr>
          <p:cNvPr id="16" name="Google Shape;16;p1">
            <a:extLst xmlns:a="http://schemas.openxmlformats.org/drawingml/2006/main">
              <a:ext uri="{FF2B5EF4-FFF2-40B4-BE49-F238E27FC236}">
                <a16:creationId xmlns:a16="http://schemas.microsoft.com/office/drawing/2014/main" id="{BB253C11-D691-4F32-B8E2-35D7E5BBB892}"/>
              </a:ext>
            </a:extLst>
          </p:cNvPr>
          <p:cNvSpPr>
            <a:spLocks xmlns:a="http://schemas.openxmlformats.org/drawingml/2006/main" noGrp="1"/>
          </p:cNvSpPr>
          <p:nvPr/>
        </p:nvSpPr>
        <p:spPr>
          <a:xfrm xmlns:a="http://schemas.openxmlformats.org/drawingml/2006/main">
            <a:off x="1371600" y="4992624"/>
            <a:ext cx="54864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dk1"/>
              </a:buClr>
              <a:buSzPts val="1400"/>
              <a:buFont typeface="Calibri"/>
              <a:buNone/>
            </a:pPr>
            <a:r>
              <a:rPr sz="1400">
                <a:solidFill>
                  <a:schemeClr val="dk1"/>
                </a:solidFill>
                <a:latin typeface="Calibri"/>
                <a:ea typeface="Calibri"/>
                <a:cs typeface="Calibri"/>
              </a:rPr>
              <a:t>Mentor briefing · 5 slides + Template</a:t>
            </a:r>
            <a:endParaRPr sz="1400">
              <a:solidFill>
                <a:schemeClr val="dk1"/>
              </a:solidFill>
              <a:latin typeface="Calibri"/>
              <a:ea typeface="Calibri"/>
              <a:cs typeface="Calibri"/>
            </a:endParaRPr>
          </a:p>
        </p:txBody>
      </p:sp>
      <p:sp>
        <p:nvSpPr>
          <p:cNvPr id="17" name="Google Shape;17;p1">
            <a:extLst xmlns:a="http://schemas.openxmlformats.org/drawingml/2006/main">
              <a:ext uri="{FF2B5EF4-FFF2-40B4-BE49-F238E27FC236}">
                <a16:creationId xmlns:a16="http://schemas.microsoft.com/office/drawing/2014/main" id="{7AF0348A-451B-487E-9012-22B0B451BB99}"/>
              </a:ext>
            </a:extLst>
          </p:cNvPr>
          <p:cNvSpPr>
            <a:spLocks xmlns:a="http://schemas.openxmlformats.org/drawingml/2006/main" noGrp="1"/>
          </p:cNvSpPr>
          <p:nvPr/>
        </p:nvSpPr>
        <p:spPr>
          <a:xfrm xmlns:a="http://schemas.openxmlformats.org/drawingml/2006/main">
            <a:off x="777240" y="1965960"/>
            <a:ext cx="10607040" cy="1280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dk1"/>
              </a:buClr>
              <a:buSzPts val="5333"/>
              <a:buFont typeface="Calibri"/>
              <a:buNone/>
            </a:pPr>
            <a:r>
              <a:rPr sz="5333" b="1">
                <a:solidFill>
                  <a:schemeClr val="dk1"/>
                </a:solidFill>
                <a:latin typeface="Calibri"/>
                <a:ea typeface="Calibri"/>
                <a:cs typeface="Calibri"/>
              </a:rPr>
              <a:t>How to Make a Perfect Pitch</a:t>
            </a:r>
            <a:endParaRPr/>
          </a:p>
        </p:txBody>
      </p:sp>
    </p:spTree>
    <p:extLst>
      <p:ext uri="{BB962C8B-B14F-4D97-AF65-F5344CB8AC3E}">
        <p14:creationId xmlns:p14="http://schemas.microsoft.com/office/powerpoint/2010/main" val="189585289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3" name="Google Shape;23;p2">
            <a:extLst xmlns:a="http://schemas.openxmlformats.org/drawingml/2006/main">
              <a:ext uri="{FF2B5EF4-FFF2-40B4-BE49-F238E27FC236}">
                <a16:creationId xmlns:a16="http://schemas.microsoft.com/office/drawing/2014/main" id="{8844F099-8479-44BD-B0AA-BE213E20C9F8}"/>
              </a:ext>
            </a:extLst>
          </p:cNvPr>
          <p:cNvSpPr>
            <a:spLocks xmlns:a="http://schemas.openxmlformats.org/drawingml/2006/main" noGrp="1"/>
          </p:cNvSpPr>
          <p:nvPr/>
        </p:nvSpPr>
        <p:spPr>
          <a:xfrm xmlns:a="http://schemas.openxmlformats.org/drawingml/2006/main">
            <a:off x="487680" y="755904"/>
            <a:ext cx="10972800" cy="85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5333" b="1">
                <a:solidFill>
                  <a:schemeClr val="dk1"/>
                </a:solidFill>
                <a:latin typeface="Calibri"/>
                <a:ea typeface="Calibri"/>
                <a:cs typeface="Calibri"/>
              </a:rPr>
              <a:t>The Pitch Structure</a:t>
            </a:r>
            <a:endParaRPr/>
          </a:p>
        </p:txBody>
      </p:sp>
      <p:sp>
        <p:nvSpPr>
          <p:cNvPr id="24" name="Google Shape;24;p2">
            <a:extLst xmlns:a="http://schemas.openxmlformats.org/drawingml/2006/main">
              <a:ext uri="{FF2B5EF4-FFF2-40B4-BE49-F238E27FC236}">
                <a16:creationId xmlns:a16="http://schemas.microsoft.com/office/drawing/2014/main" id="{E13401A4-18E7-492C-8AA2-3647135D9D6A}"/>
              </a:ext>
            </a:extLst>
          </p:cNvPr>
          <p:cNvSpPr>
            <a:spLocks xmlns:a="http://schemas.openxmlformats.org/drawingml/2006/main" noGrp="1"/>
          </p:cNvSpPr>
          <p:nvPr/>
        </p:nvSpPr>
        <p:spPr>
          <a:xfrm xmlns:a="http://schemas.openxmlformats.org/drawingml/2006/main">
            <a:off x="777240" y="1878450"/>
            <a:ext cx="10607040" cy="841248"/>
          </a:xfrm>
          <a:prstGeom xmlns:a="http://schemas.openxmlformats.org/drawingml/2006/main" prst="roundRect">
            <a:avLst>
              <a:gd name="adj" fmla="val 8696"/>
            </a:avLst>
          </a:prstGeom>
          <a:solidFill xmlns:a="http://schemas.openxmlformats.org/drawingml/2006/main">
            <a:srgbClr val="262626"/>
          </a:solidFill>
          <a:ln xmlns:a="http://schemas.openxmlformats.org/drawingml/2006/main">
            <a:noFill/>
          </a:ln>
          <a:effectLst xmlns:a="http://schemas.openxmlformats.org/drawingml/2006/main">
            <a:outerShdw blurRad="88900" dist="25400" dir="5400000" algn="bl" rotWithShape="0">
              <a:srgbClr val="000000">
                <a:alpha val="18039"/>
              </a:srgbClr>
            </a:outerShdw>
          </a:effectLst>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5" name="Google Shape;25;p2">
            <a:extLst xmlns:a="http://schemas.openxmlformats.org/drawingml/2006/main">
              <a:ext uri="{FF2B5EF4-FFF2-40B4-BE49-F238E27FC236}">
                <a16:creationId xmlns:a16="http://schemas.microsoft.com/office/drawing/2014/main" id="{E7ED430F-6ABA-4E36-B080-61EC15E1529A}"/>
              </a:ext>
            </a:extLst>
          </p:cNvPr>
          <p:cNvSpPr>
            <a:spLocks xmlns:a="http://schemas.openxmlformats.org/drawingml/2006/main" noGrp="1"/>
          </p:cNvSpPr>
          <p:nvPr/>
        </p:nvSpPr>
        <p:spPr>
          <a:xfrm xmlns:a="http://schemas.openxmlformats.org/drawingml/2006/main">
            <a:off x="960120" y="2070474"/>
            <a:ext cx="457200" cy="457200"/>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pic>
        <p:nvPicPr>
          <p:cNvPr id="26" name="Google Shape;26;p2">
            <a:extLst xmlns:a="http://schemas.openxmlformats.org/drawingml/2006/main">
              <a:ext uri="{FF2B5EF4-FFF2-40B4-BE49-F238E27FC236}">
                <a16:creationId xmlns:a16="http://schemas.microsoft.com/office/drawing/2014/main" id="{1ED308C9-D948-4FE4-873E-2F6FDA0CE73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40b0458810249b0">
            <a:alphaModFix/>
          </a:blip>
          <a:srcRect xmlns:a="http://schemas.openxmlformats.org/drawingml/2006/main" l="0" t="0" r="0" b="0"/>
          <a:stretch xmlns:a="http://schemas.openxmlformats.org/drawingml/2006/main"/>
        </p:blipFill>
        <p:spPr>
          <a:xfrm xmlns:a="http://schemas.openxmlformats.org/drawingml/2006/main">
            <a:off x="1060704" y="2171058"/>
            <a:ext cx="256032" cy="256032"/>
          </a:xfrm>
          <a:prstGeom xmlns:a="http://schemas.openxmlformats.org/drawingml/2006/main" prst="rect">
            <a:avLst/>
          </a:prstGeom>
          <a:ln xmlns:a="http://schemas.openxmlformats.org/drawingml/2006/main">
            <a:noFill/>
          </a:ln>
        </p:spPr>
      </p:pic>
      <p:sp>
        <p:nvSpPr>
          <p:cNvPr id="27" name="Google Shape;27;p2">
            <a:extLst xmlns:a="http://schemas.openxmlformats.org/drawingml/2006/main">
              <a:ext uri="{FF2B5EF4-FFF2-40B4-BE49-F238E27FC236}">
                <a16:creationId xmlns:a16="http://schemas.microsoft.com/office/drawing/2014/main" id="{2CB3042E-DD90-4CC6-881D-FF90D358EDA0}"/>
              </a:ext>
            </a:extLst>
          </p:cNvPr>
          <p:cNvSpPr>
            <a:spLocks xmlns:a="http://schemas.openxmlformats.org/drawingml/2006/main" noGrp="1"/>
          </p:cNvSpPr>
          <p:nvPr/>
        </p:nvSpPr>
        <p:spPr>
          <a:xfrm xmlns:a="http://schemas.openxmlformats.org/drawingml/2006/main">
            <a:off x="1600200" y="1988178"/>
            <a:ext cx="457200" cy="6217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Clr>
                <a:srgbClr val="F2A900"/>
              </a:buClr>
              <a:buSzPts val="2600"/>
              <a:buFont typeface="Cambria"/>
              <a:buNone/>
            </a:pPr>
            <a:r>
              <a:rPr sz="2600" b="1">
                <a:solidFill>
                  <a:srgbClr val="F2A900"/>
                </a:solidFill>
                <a:latin typeface="Cambria"/>
                <a:ea typeface="Cambria"/>
                <a:cs typeface="Cambria"/>
              </a:rPr>
              <a:t>1</a:t>
            </a:r>
            <a:endParaRPr sz="2600">
              <a:solidFill>
                <a:schemeClr val="dk1"/>
              </a:solidFill>
              <a:latin typeface="Calibri"/>
              <a:ea typeface="Calibri"/>
              <a:cs typeface="Calibri"/>
            </a:endParaRPr>
          </a:p>
        </p:txBody>
      </p:sp>
      <p:sp>
        <p:nvSpPr>
          <p:cNvPr id="28" name="Google Shape;28;p2">
            <a:extLst xmlns:a="http://schemas.openxmlformats.org/drawingml/2006/main">
              <a:ext uri="{FF2B5EF4-FFF2-40B4-BE49-F238E27FC236}">
                <a16:creationId xmlns:a16="http://schemas.microsoft.com/office/drawing/2014/main" id="{AD1B9ED0-4D08-4292-A6AB-8773F602E796}"/>
              </a:ext>
            </a:extLst>
          </p:cNvPr>
          <p:cNvSpPr>
            <a:spLocks xmlns:a="http://schemas.openxmlformats.org/drawingml/2006/main" noGrp="1"/>
          </p:cNvSpPr>
          <p:nvPr/>
        </p:nvSpPr>
        <p:spPr>
          <a:xfrm xmlns:a="http://schemas.openxmlformats.org/drawingml/2006/main">
            <a:off x="2194560" y="1878450"/>
            <a:ext cx="9052560" cy="8412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700"/>
              <a:buFont typeface="Calibri"/>
              <a:buNone/>
            </a:pPr>
            <a:r>
              <a:rPr sz="1700" b="1">
                <a:solidFill>
                  <a:schemeClr val="lt1"/>
                </a:solidFill>
                <a:latin typeface="Calibri"/>
                <a:ea typeface="Calibri"/>
                <a:cs typeface="Calibri"/>
              </a:rPr>
              <a:t>Problem   </a:t>
            </a:r>
            <a:r>
              <a:rPr sz="1400">
                <a:solidFill>
                  <a:schemeClr val="lt1"/>
                </a:solidFill>
                <a:latin typeface="Calibri"/>
                <a:ea typeface="Calibri"/>
                <a:cs typeface="Calibri"/>
              </a:rPr>
              <a:t>The threat or gap — concrete, urgent, defence-relevant.</a:t>
            </a:r>
            <a:endParaRPr sz="1700">
              <a:solidFill>
                <a:schemeClr val="lt1"/>
              </a:solidFill>
              <a:latin typeface="Calibri"/>
              <a:ea typeface="Calibri"/>
              <a:cs typeface="Calibri"/>
            </a:endParaRPr>
          </a:p>
        </p:txBody>
      </p:sp>
      <p:sp>
        <p:nvSpPr>
          <p:cNvPr id="29" name="Google Shape;29;p2">
            <a:extLst xmlns:a="http://schemas.openxmlformats.org/drawingml/2006/main">
              <a:ext uri="{FF2B5EF4-FFF2-40B4-BE49-F238E27FC236}">
                <a16:creationId xmlns:a16="http://schemas.microsoft.com/office/drawing/2014/main" id="{5B9C693B-6243-439E-B63E-2452F803FCBC}"/>
              </a:ext>
            </a:extLst>
          </p:cNvPr>
          <p:cNvSpPr>
            <a:spLocks xmlns:a="http://schemas.openxmlformats.org/drawingml/2006/main" noGrp="1"/>
          </p:cNvSpPr>
          <p:nvPr/>
        </p:nvSpPr>
        <p:spPr>
          <a:xfrm xmlns:a="http://schemas.openxmlformats.org/drawingml/2006/main">
            <a:off x="777240" y="2811138"/>
            <a:ext cx="10607040" cy="841248"/>
          </a:xfrm>
          <a:prstGeom xmlns:a="http://schemas.openxmlformats.org/drawingml/2006/main" prst="roundRect">
            <a:avLst>
              <a:gd name="adj" fmla="val 8696"/>
            </a:avLst>
          </a:prstGeom>
          <a:solidFill xmlns:a="http://schemas.openxmlformats.org/drawingml/2006/main">
            <a:srgbClr val="262626"/>
          </a:solidFill>
          <a:ln xmlns:a="http://schemas.openxmlformats.org/drawingml/2006/main">
            <a:noFill/>
          </a:ln>
          <a:effectLst xmlns:a="http://schemas.openxmlformats.org/drawingml/2006/main">
            <a:outerShdw blurRad="88900" dist="25400" dir="5400000" algn="bl" rotWithShape="0">
              <a:srgbClr val="000000">
                <a:alpha val="18039"/>
              </a:srgbClr>
            </a:outerShdw>
          </a:effectLst>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 name="Google Shape;30;p2">
            <a:extLst xmlns:a="http://schemas.openxmlformats.org/drawingml/2006/main">
              <a:ext uri="{FF2B5EF4-FFF2-40B4-BE49-F238E27FC236}">
                <a16:creationId xmlns:a16="http://schemas.microsoft.com/office/drawing/2014/main" id="{1EAD7EFE-8B40-4D72-B511-AAD36023B527}"/>
              </a:ext>
            </a:extLst>
          </p:cNvPr>
          <p:cNvSpPr>
            <a:spLocks xmlns:a="http://schemas.openxmlformats.org/drawingml/2006/main" noGrp="1"/>
          </p:cNvSpPr>
          <p:nvPr/>
        </p:nvSpPr>
        <p:spPr>
          <a:xfrm xmlns:a="http://schemas.openxmlformats.org/drawingml/2006/main">
            <a:off x="960120" y="3003162"/>
            <a:ext cx="457200" cy="457200"/>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pic>
        <p:nvPicPr>
          <p:cNvPr id="31" name="Google Shape;31;p2">
            <a:extLst xmlns:a="http://schemas.openxmlformats.org/drawingml/2006/main">
              <a:ext uri="{FF2B5EF4-FFF2-40B4-BE49-F238E27FC236}">
                <a16:creationId xmlns:a16="http://schemas.microsoft.com/office/drawing/2014/main" id="{35CEB490-E608-439B-BC63-2E29B6EEEFA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eb8c3b5d04c461e">
            <a:alphaModFix/>
          </a:blip>
          <a:srcRect xmlns:a="http://schemas.openxmlformats.org/drawingml/2006/main" l="0" t="0" r="0" b="0"/>
          <a:stretch xmlns:a="http://schemas.openxmlformats.org/drawingml/2006/main"/>
        </p:blipFill>
        <p:spPr>
          <a:xfrm xmlns:a="http://schemas.openxmlformats.org/drawingml/2006/main">
            <a:off x="1060704" y="3103746"/>
            <a:ext cx="256032" cy="256032"/>
          </a:xfrm>
          <a:prstGeom xmlns:a="http://schemas.openxmlformats.org/drawingml/2006/main" prst="rect">
            <a:avLst/>
          </a:prstGeom>
          <a:ln xmlns:a="http://schemas.openxmlformats.org/drawingml/2006/main">
            <a:noFill/>
          </a:ln>
        </p:spPr>
      </p:pic>
      <p:sp>
        <p:nvSpPr>
          <p:cNvPr id="32" name="Google Shape;32;p2">
            <a:extLst xmlns:a="http://schemas.openxmlformats.org/drawingml/2006/main">
              <a:ext uri="{FF2B5EF4-FFF2-40B4-BE49-F238E27FC236}">
                <a16:creationId xmlns:a16="http://schemas.microsoft.com/office/drawing/2014/main" id="{F4C08733-2A79-4303-9BF4-A73F2F40D76A}"/>
              </a:ext>
            </a:extLst>
          </p:cNvPr>
          <p:cNvSpPr>
            <a:spLocks xmlns:a="http://schemas.openxmlformats.org/drawingml/2006/main" noGrp="1"/>
          </p:cNvSpPr>
          <p:nvPr/>
        </p:nvSpPr>
        <p:spPr>
          <a:xfrm xmlns:a="http://schemas.openxmlformats.org/drawingml/2006/main">
            <a:off x="1600200" y="2920866"/>
            <a:ext cx="457200" cy="6217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Clr>
                <a:srgbClr val="F2A900"/>
              </a:buClr>
              <a:buSzPts val="2600"/>
              <a:buFont typeface="Cambria"/>
              <a:buNone/>
            </a:pPr>
            <a:r>
              <a:rPr sz="2600" b="1">
                <a:solidFill>
                  <a:srgbClr val="F2A900"/>
                </a:solidFill>
                <a:latin typeface="Cambria"/>
                <a:ea typeface="Cambria"/>
                <a:cs typeface="Cambria"/>
              </a:rPr>
              <a:t>2</a:t>
            </a:r>
            <a:endParaRPr sz="2600">
              <a:solidFill>
                <a:schemeClr val="dk1"/>
              </a:solidFill>
              <a:latin typeface="Calibri"/>
              <a:ea typeface="Calibri"/>
              <a:cs typeface="Calibri"/>
            </a:endParaRPr>
          </a:p>
        </p:txBody>
      </p:sp>
      <p:sp>
        <p:nvSpPr>
          <p:cNvPr id="33" name="Google Shape;33;p2">
            <a:extLst xmlns:a="http://schemas.openxmlformats.org/drawingml/2006/main">
              <a:ext uri="{FF2B5EF4-FFF2-40B4-BE49-F238E27FC236}">
                <a16:creationId xmlns:a16="http://schemas.microsoft.com/office/drawing/2014/main" id="{168F9D34-29D3-43B5-9384-2199A966CBB6}"/>
              </a:ext>
            </a:extLst>
          </p:cNvPr>
          <p:cNvSpPr>
            <a:spLocks xmlns:a="http://schemas.openxmlformats.org/drawingml/2006/main" noGrp="1"/>
          </p:cNvSpPr>
          <p:nvPr/>
        </p:nvSpPr>
        <p:spPr>
          <a:xfrm xmlns:a="http://schemas.openxmlformats.org/drawingml/2006/main">
            <a:off x="2194560" y="2811138"/>
            <a:ext cx="9052560" cy="8412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700"/>
              <a:buFont typeface="Calibri"/>
              <a:buNone/>
            </a:pPr>
            <a:r>
              <a:rPr sz="1700" b="1">
                <a:solidFill>
                  <a:schemeClr val="lt1"/>
                </a:solidFill>
                <a:latin typeface="Calibri"/>
                <a:ea typeface="Calibri"/>
                <a:cs typeface="Calibri"/>
              </a:rPr>
              <a:t>Solution   </a:t>
            </a:r>
            <a:r>
              <a:rPr sz="1400">
                <a:solidFill>
                  <a:schemeClr val="lt1"/>
                </a:solidFill>
                <a:latin typeface="Calibri"/>
                <a:ea typeface="Calibri"/>
                <a:cs typeface="Calibri"/>
              </a:rPr>
              <a:t>What you built and why it's the right answer.</a:t>
            </a:r>
            <a:endParaRPr sz="1700">
              <a:solidFill>
                <a:schemeClr val="lt1"/>
              </a:solidFill>
              <a:latin typeface="Calibri"/>
              <a:ea typeface="Calibri"/>
              <a:cs typeface="Calibri"/>
            </a:endParaRPr>
          </a:p>
        </p:txBody>
      </p:sp>
      <p:sp>
        <p:nvSpPr>
          <p:cNvPr id="34" name="Google Shape;34;p2">
            <a:extLst xmlns:a="http://schemas.openxmlformats.org/drawingml/2006/main">
              <a:ext uri="{FF2B5EF4-FFF2-40B4-BE49-F238E27FC236}">
                <a16:creationId xmlns:a16="http://schemas.microsoft.com/office/drawing/2014/main" id="{A1047F1C-D308-46B7-864E-B7A60560399A}"/>
              </a:ext>
            </a:extLst>
          </p:cNvPr>
          <p:cNvSpPr>
            <a:spLocks xmlns:a="http://schemas.openxmlformats.org/drawingml/2006/main" noGrp="1"/>
          </p:cNvSpPr>
          <p:nvPr/>
        </p:nvSpPr>
        <p:spPr>
          <a:xfrm xmlns:a="http://schemas.openxmlformats.org/drawingml/2006/main">
            <a:off x="777240" y="3743826"/>
            <a:ext cx="10607040" cy="841248"/>
          </a:xfrm>
          <a:prstGeom xmlns:a="http://schemas.openxmlformats.org/drawingml/2006/main" prst="roundRect">
            <a:avLst>
              <a:gd name="adj" fmla="val 8696"/>
            </a:avLst>
          </a:prstGeom>
          <a:solidFill xmlns:a="http://schemas.openxmlformats.org/drawingml/2006/main">
            <a:srgbClr val="262626"/>
          </a:solidFill>
          <a:ln xmlns:a="http://schemas.openxmlformats.org/drawingml/2006/main">
            <a:noFill/>
          </a:ln>
          <a:effectLst xmlns:a="http://schemas.openxmlformats.org/drawingml/2006/main">
            <a:outerShdw blurRad="88900" dist="25400" dir="5400000" algn="bl" rotWithShape="0">
              <a:srgbClr val="000000">
                <a:alpha val="18039"/>
              </a:srgbClr>
            </a:outerShdw>
          </a:effectLst>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5" name="Google Shape;35;p2">
            <a:extLst xmlns:a="http://schemas.openxmlformats.org/drawingml/2006/main">
              <a:ext uri="{FF2B5EF4-FFF2-40B4-BE49-F238E27FC236}">
                <a16:creationId xmlns:a16="http://schemas.microsoft.com/office/drawing/2014/main" id="{01935411-DE23-40B7-8F8C-18C8617883B9}"/>
              </a:ext>
            </a:extLst>
          </p:cNvPr>
          <p:cNvSpPr>
            <a:spLocks xmlns:a="http://schemas.openxmlformats.org/drawingml/2006/main" noGrp="1"/>
          </p:cNvSpPr>
          <p:nvPr/>
        </p:nvSpPr>
        <p:spPr>
          <a:xfrm xmlns:a="http://schemas.openxmlformats.org/drawingml/2006/main">
            <a:off x="960120" y="3935850"/>
            <a:ext cx="457200" cy="457200"/>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pic>
        <p:nvPicPr>
          <p:cNvPr id="36" name="Google Shape;36;p2">
            <a:extLst xmlns:a="http://schemas.openxmlformats.org/drawingml/2006/main">
              <a:ext uri="{FF2B5EF4-FFF2-40B4-BE49-F238E27FC236}">
                <a16:creationId xmlns:a16="http://schemas.microsoft.com/office/drawing/2014/main" id="{E013C2B6-BF10-4B0B-ABB8-168F5E2564D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0e48778aa7e42a1">
            <a:alphaModFix/>
          </a:blip>
          <a:srcRect xmlns:a="http://schemas.openxmlformats.org/drawingml/2006/main" l="0" t="0" r="0" b="0"/>
          <a:stretch xmlns:a="http://schemas.openxmlformats.org/drawingml/2006/main"/>
        </p:blipFill>
        <p:spPr>
          <a:xfrm xmlns:a="http://schemas.openxmlformats.org/drawingml/2006/main">
            <a:off x="1060704" y="4036434"/>
            <a:ext cx="256032" cy="256032"/>
          </a:xfrm>
          <a:prstGeom xmlns:a="http://schemas.openxmlformats.org/drawingml/2006/main" prst="rect">
            <a:avLst/>
          </a:prstGeom>
          <a:ln xmlns:a="http://schemas.openxmlformats.org/drawingml/2006/main">
            <a:noFill/>
          </a:ln>
        </p:spPr>
      </p:pic>
      <p:sp>
        <p:nvSpPr>
          <p:cNvPr id="37" name="Google Shape;37;p2">
            <a:extLst xmlns:a="http://schemas.openxmlformats.org/drawingml/2006/main">
              <a:ext uri="{FF2B5EF4-FFF2-40B4-BE49-F238E27FC236}">
                <a16:creationId xmlns:a16="http://schemas.microsoft.com/office/drawing/2014/main" id="{E38F745B-C09B-453D-823C-3C03A2C9E1DD}"/>
              </a:ext>
            </a:extLst>
          </p:cNvPr>
          <p:cNvSpPr>
            <a:spLocks xmlns:a="http://schemas.openxmlformats.org/drawingml/2006/main" noGrp="1"/>
          </p:cNvSpPr>
          <p:nvPr/>
        </p:nvSpPr>
        <p:spPr>
          <a:xfrm xmlns:a="http://schemas.openxmlformats.org/drawingml/2006/main">
            <a:off x="1600200" y="3853554"/>
            <a:ext cx="457200" cy="6217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Clr>
                <a:srgbClr val="F2A900"/>
              </a:buClr>
              <a:buSzPts val="2600"/>
              <a:buFont typeface="Cambria"/>
              <a:buNone/>
            </a:pPr>
            <a:r>
              <a:rPr sz="2600" b="1">
                <a:solidFill>
                  <a:srgbClr val="F2A900"/>
                </a:solidFill>
                <a:latin typeface="Cambria"/>
                <a:ea typeface="Cambria"/>
                <a:cs typeface="Cambria"/>
              </a:rPr>
              <a:t>3</a:t>
            </a:r>
            <a:endParaRPr sz="2600">
              <a:solidFill>
                <a:schemeClr val="dk1"/>
              </a:solidFill>
              <a:latin typeface="Calibri"/>
              <a:ea typeface="Calibri"/>
              <a:cs typeface="Calibri"/>
            </a:endParaRPr>
          </a:p>
        </p:txBody>
      </p:sp>
      <p:sp>
        <p:nvSpPr>
          <p:cNvPr id="38" name="Google Shape;38;p2">
            <a:extLst xmlns:a="http://schemas.openxmlformats.org/drawingml/2006/main">
              <a:ext uri="{FF2B5EF4-FFF2-40B4-BE49-F238E27FC236}">
                <a16:creationId xmlns:a16="http://schemas.microsoft.com/office/drawing/2014/main" id="{0084FE51-C34E-4AAA-8E6A-AB288DC8501A}"/>
              </a:ext>
            </a:extLst>
          </p:cNvPr>
          <p:cNvSpPr>
            <a:spLocks xmlns:a="http://schemas.openxmlformats.org/drawingml/2006/main" noGrp="1"/>
          </p:cNvSpPr>
          <p:nvPr/>
        </p:nvSpPr>
        <p:spPr>
          <a:xfrm xmlns:a="http://schemas.openxmlformats.org/drawingml/2006/main">
            <a:off x="2194560" y="3743826"/>
            <a:ext cx="9052560" cy="8412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700"/>
              <a:buFont typeface="Calibri"/>
              <a:buNone/>
            </a:pPr>
            <a:r>
              <a:rPr sz="1700" b="1">
                <a:solidFill>
                  <a:schemeClr val="lt1"/>
                </a:solidFill>
                <a:latin typeface="Calibri"/>
                <a:ea typeface="Calibri"/>
                <a:cs typeface="Calibri"/>
              </a:rPr>
              <a:t>How it works   </a:t>
            </a:r>
            <a:r>
              <a:rPr sz="1400">
                <a:solidFill>
                  <a:schemeClr val="lt1"/>
                </a:solidFill>
                <a:latin typeface="Calibri"/>
                <a:ea typeface="Calibri"/>
                <a:cs typeface="Calibri"/>
              </a:rPr>
              <a:t>The demo or the core tech, in plain language.</a:t>
            </a:r>
            <a:endParaRPr sz="1700">
              <a:solidFill>
                <a:schemeClr val="lt1"/>
              </a:solidFill>
              <a:latin typeface="Calibri"/>
              <a:ea typeface="Calibri"/>
              <a:cs typeface="Calibri"/>
            </a:endParaRPr>
          </a:p>
        </p:txBody>
      </p:sp>
      <p:sp>
        <p:nvSpPr>
          <p:cNvPr id="39" name="Google Shape;39;p2">
            <a:extLst xmlns:a="http://schemas.openxmlformats.org/drawingml/2006/main">
              <a:ext uri="{FF2B5EF4-FFF2-40B4-BE49-F238E27FC236}">
                <a16:creationId xmlns:a16="http://schemas.microsoft.com/office/drawing/2014/main" id="{EB6C05FF-9724-4224-B44F-EC6B7A33A7E3}"/>
              </a:ext>
            </a:extLst>
          </p:cNvPr>
          <p:cNvSpPr>
            <a:spLocks xmlns:a="http://schemas.openxmlformats.org/drawingml/2006/main" noGrp="1"/>
          </p:cNvSpPr>
          <p:nvPr/>
        </p:nvSpPr>
        <p:spPr>
          <a:xfrm xmlns:a="http://schemas.openxmlformats.org/drawingml/2006/main">
            <a:off x="777240" y="4676514"/>
            <a:ext cx="10607040" cy="841248"/>
          </a:xfrm>
          <a:prstGeom xmlns:a="http://schemas.openxmlformats.org/drawingml/2006/main" prst="roundRect">
            <a:avLst>
              <a:gd name="adj" fmla="val 8696"/>
            </a:avLst>
          </a:prstGeom>
          <a:solidFill xmlns:a="http://schemas.openxmlformats.org/drawingml/2006/main">
            <a:srgbClr val="262626"/>
          </a:solidFill>
          <a:ln xmlns:a="http://schemas.openxmlformats.org/drawingml/2006/main">
            <a:noFill/>
          </a:ln>
          <a:effectLst xmlns:a="http://schemas.openxmlformats.org/drawingml/2006/main">
            <a:outerShdw blurRad="88900" dist="25400" dir="5400000" algn="bl" rotWithShape="0">
              <a:srgbClr val="000000">
                <a:alpha val="18039"/>
              </a:srgbClr>
            </a:outerShdw>
          </a:effectLst>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 name="Google Shape;40;p2">
            <a:extLst xmlns:a="http://schemas.openxmlformats.org/drawingml/2006/main">
              <a:ext uri="{FF2B5EF4-FFF2-40B4-BE49-F238E27FC236}">
                <a16:creationId xmlns:a16="http://schemas.microsoft.com/office/drawing/2014/main" id="{74DFA76F-20CE-47DC-9D63-D718C2079088}"/>
              </a:ext>
            </a:extLst>
          </p:cNvPr>
          <p:cNvSpPr>
            <a:spLocks xmlns:a="http://schemas.openxmlformats.org/drawingml/2006/main" noGrp="1"/>
          </p:cNvSpPr>
          <p:nvPr/>
        </p:nvSpPr>
        <p:spPr>
          <a:xfrm xmlns:a="http://schemas.openxmlformats.org/drawingml/2006/main">
            <a:off x="960120" y="4868538"/>
            <a:ext cx="457200" cy="457200"/>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pic>
        <p:nvPicPr>
          <p:cNvPr id="41" name="Google Shape;41;p2">
            <a:extLst xmlns:a="http://schemas.openxmlformats.org/drawingml/2006/main">
              <a:ext uri="{FF2B5EF4-FFF2-40B4-BE49-F238E27FC236}">
                <a16:creationId xmlns:a16="http://schemas.microsoft.com/office/drawing/2014/main" id="{D02887F6-5E83-4CF7-9FA6-E0C128C8BAA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be7c4662f884ee0">
            <a:alphaModFix/>
          </a:blip>
          <a:srcRect xmlns:a="http://schemas.openxmlformats.org/drawingml/2006/main" l="0" t="0" r="0" b="0"/>
          <a:stretch xmlns:a="http://schemas.openxmlformats.org/drawingml/2006/main"/>
        </p:blipFill>
        <p:spPr>
          <a:xfrm xmlns:a="http://schemas.openxmlformats.org/drawingml/2006/main">
            <a:off x="1060704" y="4969122"/>
            <a:ext cx="256032" cy="256032"/>
          </a:xfrm>
          <a:prstGeom xmlns:a="http://schemas.openxmlformats.org/drawingml/2006/main" prst="rect">
            <a:avLst/>
          </a:prstGeom>
          <a:ln xmlns:a="http://schemas.openxmlformats.org/drawingml/2006/main">
            <a:noFill/>
          </a:ln>
        </p:spPr>
      </p:pic>
      <p:sp>
        <p:nvSpPr>
          <p:cNvPr id="42" name="Google Shape;42;p2">
            <a:extLst xmlns:a="http://schemas.openxmlformats.org/drawingml/2006/main">
              <a:ext uri="{FF2B5EF4-FFF2-40B4-BE49-F238E27FC236}">
                <a16:creationId xmlns:a16="http://schemas.microsoft.com/office/drawing/2014/main" id="{12FC643D-C96B-4492-9BEC-0AF10D9FCDAF}"/>
              </a:ext>
            </a:extLst>
          </p:cNvPr>
          <p:cNvSpPr>
            <a:spLocks xmlns:a="http://schemas.openxmlformats.org/drawingml/2006/main" noGrp="1"/>
          </p:cNvSpPr>
          <p:nvPr/>
        </p:nvSpPr>
        <p:spPr>
          <a:xfrm xmlns:a="http://schemas.openxmlformats.org/drawingml/2006/main">
            <a:off x="1600200" y="4786242"/>
            <a:ext cx="457200" cy="6217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Clr>
                <a:srgbClr val="F2A900"/>
              </a:buClr>
              <a:buSzPts val="2600"/>
              <a:buFont typeface="Cambria"/>
              <a:buNone/>
            </a:pPr>
            <a:r>
              <a:rPr sz="2600" b="1">
                <a:solidFill>
                  <a:srgbClr val="F2A900"/>
                </a:solidFill>
                <a:latin typeface="Cambria"/>
                <a:ea typeface="Cambria"/>
                <a:cs typeface="Cambria"/>
              </a:rPr>
              <a:t>4</a:t>
            </a:r>
            <a:endParaRPr sz="2600">
              <a:solidFill>
                <a:schemeClr val="dk1"/>
              </a:solidFill>
              <a:latin typeface="Calibri"/>
              <a:ea typeface="Calibri"/>
              <a:cs typeface="Calibri"/>
            </a:endParaRPr>
          </a:p>
        </p:txBody>
      </p:sp>
      <p:sp>
        <p:nvSpPr>
          <p:cNvPr id="43" name="Google Shape;43;p2">
            <a:extLst xmlns:a="http://schemas.openxmlformats.org/drawingml/2006/main">
              <a:ext uri="{FF2B5EF4-FFF2-40B4-BE49-F238E27FC236}">
                <a16:creationId xmlns:a16="http://schemas.microsoft.com/office/drawing/2014/main" id="{95F0D8B9-3934-4BD2-90C2-626CBE134F84}"/>
              </a:ext>
            </a:extLst>
          </p:cNvPr>
          <p:cNvSpPr>
            <a:spLocks xmlns:a="http://schemas.openxmlformats.org/drawingml/2006/main" noGrp="1"/>
          </p:cNvSpPr>
          <p:nvPr/>
        </p:nvSpPr>
        <p:spPr>
          <a:xfrm xmlns:a="http://schemas.openxmlformats.org/drawingml/2006/main">
            <a:off x="2194560" y="4676514"/>
            <a:ext cx="9052560" cy="8412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700"/>
              <a:buFont typeface="Calibri"/>
              <a:buNone/>
            </a:pPr>
            <a:r>
              <a:rPr sz="1700" b="1">
                <a:solidFill>
                  <a:schemeClr val="lt1"/>
                </a:solidFill>
                <a:latin typeface="Calibri"/>
                <a:ea typeface="Calibri"/>
                <a:cs typeface="Calibri"/>
              </a:rPr>
              <a:t>Why now / market   </a:t>
            </a:r>
            <a:r>
              <a:rPr sz="1400">
                <a:solidFill>
                  <a:schemeClr val="lt1"/>
                </a:solidFill>
                <a:latin typeface="Calibri"/>
                <a:ea typeface="Calibri"/>
                <a:cs typeface="Calibri"/>
              </a:rPr>
              <a:t>Timing, users, and the path to scale or adoption.</a:t>
            </a:r>
            <a:endParaRPr sz="1700">
              <a:solidFill>
                <a:schemeClr val="lt1"/>
              </a:solidFill>
              <a:latin typeface="Calibri"/>
              <a:ea typeface="Calibri"/>
              <a:cs typeface="Calibri"/>
            </a:endParaRPr>
          </a:p>
        </p:txBody>
      </p:sp>
      <p:sp>
        <p:nvSpPr>
          <p:cNvPr id="44" name="Google Shape;44;p2">
            <a:extLst xmlns:a="http://schemas.openxmlformats.org/drawingml/2006/main">
              <a:ext uri="{FF2B5EF4-FFF2-40B4-BE49-F238E27FC236}">
                <a16:creationId xmlns:a16="http://schemas.microsoft.com/office/drawing/2014/main" id="{D47AA0F6-B677-48F9-8686-2612C1460AFC}"/>
              </a:ext>
            </a:extLst>
          </p:cNvPr>
          <p:cNvSpPr>
            <a:spLocks xmlns:a="http://schemas.openxmlformats.org/drawingml/2006/main" noGrp="1"/>
          </p:cNvSpPr>
          <p:nvPr/>
        </p:nvSpPr>
        <p:spPr>
          <a:xfrm xmlns:a="http://schemas.openxmlformats.org/drawingml/2006/main">
            <a:off x="777240" y="5609202"/>
            <a:ext cx="10607040" cy="841248"/>
          </a:xfrm>
          <a:prstGeom xmlns:a="http://schemas.openxmlformats.org/drawingml/2006/main" prst="roundRect">
            <a:avLst>
              <a:gd name="adj" fmla="val 8696"/>
            </a:avLst>
          </a:prstGeom>
          <a:solidFill xmlns:a="http://schemas.openxmlformats.org/drawingml/2006/main">
            <a:srgbClr val="262626"/>
          </a:solidFill>
          <a:ln xmlns:a="http://schemas.openxmlformats.org/drawingml/2006/main">
            <a:noFill/>
          </a:ln>
          <a:effectLst xmlns:a="http://schemas.openxmlformats.org/drawingml/2006/main">
            <a:outerShdw blurRad="88900" dist="25400" dir="5400000" algn="bl" rotWithShape="0">
              <a:srgbClr val="000000">
                <a:alpha val="18039"/>
              </a:srgbClr>
            </a:outerShdw>
          </a:effectLst>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5" name="Google Shape;45;p2">
            <a:extLst xmlns:a="http://schemas.openxmlformats.org/drawingml/2006/main">
              <a:ext uri="{FF2B5EF4-FFF2-40B4-BE49-F238E27FC236}">
                <a16:creationId xmlns:a16="http://schemas.microsoft.com/office/drawing/2014/main" id="{86D62D7E-3CC1-4A4A-A103-1F410E934E92}"/>
              </a:ext>
            </a:extLst>
          </p:cNvPr>
          <p:cNvSpPr>
            <a:spLocks xmlns:a="http://schemas.openxmlformats.org/drawingml/2006/main" noGrp="1"/>
          </p:cNvSpPr>
          <p:nvPr/>
        </p:nvSpPr>
        <p:spPr>
          <a:xfrm xmlns:a="http://schemas.openxmlformats.org/drawingml/2006/main">
            <a:off x="960120" y="5801226"/>
            <a:ext cx="457200" cy="457200"/>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pic>
        <p:nvPicPr>
          <p:cNvPr id="46" name="Google Shape;46;p2">
            <a:extLst xmlns:a="http://schemas.openxmlformats.org/drawingml/2006/main">
              <a:ext uri="{FF2B5EF4-FFF2-40B4-BE49-F238E27FC236}">
                <a16:creationId xmlns:a16="http://schemas.microsoft.com/office/drawing/2014/main" id="{CDF426DB-8D0B-41AB-9545-8C23FD6C70D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efd557c43634e16">
            <a:alphaModFix/>
          </a:blip>
          <a:srcRect xmlns:a="http://schemas.openxmlformats.org/drawingml/2006/main" l="0" t="0" r="0" b="0"/>
          <a:stretch xmlns:a="http://schemas.openxmlformats.org/drawingml/2006/main"/>
        </p:blipFill>
        <p:spPr>
          <a:xfrm xmlns:a="http://schemas.openxmlformats.org/drawingml/2006/main">
            <a:off x="1060704" y="5901810"/>
            <a:ext cx="256032" cy="256032"/>
          </a:xfrm>
          <a:prstGeom xmlns:a="http://schemas.openxmlformats.org/drawingml/2006/main" prst="rect">
            <a:avLst/>
          </a:prstGeom>
          <a:ln xmlns:a="http://schemas.openxmlformats.org/drawingml/2006/main">
            <a:noFill/>
          </a:ln>
        </p:spPr>
      </p:pic>
      <p:sp>
        <p:nvSpPr>
          <p:cNvPr id="47" name="Google Shape;47;p2">
            <a:extLst xmlns:a="http://schemas.openxmlformats.org/drawingml/2006/main">
              <a:ext uri="{FF2B5EF4-FFF2-40B4-BE49-F238E27FC236}">
                <a16:creationId xmlns:a16="http://schemas.microsoft.com/office/drawing/2014/main" id="{0133622E-CE51-4928-BDA0-E0DA6C30BF07}"/>
              </a:ext>
            </a:extLst>
          </p:cNvPr>
          <p:cNvSpPr>
            <a:spLocks xmlns:a="http://schemas.openxmlformats.org/drawingml/2006/main" noGrp="1"/>
          </p:cNvSpPr>
          <p:nvPr/>
        </p:nvSpPr>
        <p:spPr>
          <a:xfrm xmlns:a="http://schemas.openxmlformats.org/drawingml/2006/main">
            <a:off x="1600200" y="5718930"/>
            <a:ext cx="457200" cy="6217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Clr>
                <a:srgbClr val="F2A900"/>
              </a:buClr>
              <a:buSzPts val="2600"/>
              <a:buFont typeface="Cambria"/>
              <a:buNone/>
            </a:pPr>
            <a:r>
              <a:rPr sz="2600" b="1">
                <a:solidFill>
                  <a:srgbClr val="F2A900"/>
                </a:solidFill>
                <a:latin typeface="Cambria"/>
                <a:ea typeface="Cambria"/>
                <a:cs typeface="Cambria"/>
              </a:rPr>
              <a:t>5</a:t>
            </a:r>
            <a:endParaRPr sz="2600">
              <a:solidFill>
                <a:schemeClr val="dk1"/>
              </a:solidFill>
              <a:latin typeface="Calibri"/>
              <a:ea typeface="Calibri"/>
              <a:cs typeface="Calibri"/>
            </a:endParaRPr>
          </a:p>
        </p:txBody>
      </p:sp>
      <p:sp>
        <p:nvSpPr>
          <p:cNvPr id="48" name="Google Shape;48;p2">
            <a:extLst xmlns:a="http://schemas.openxmlformats.org/drawingml/2006/main">
              <a:ext uri="{FF2B5EF4-FFF2-40B4-BE49-F238E27FC236}">
                <a16:creationId xmlns:a16="http://schemas.microsoft.com/office/drawing/2014/main" id="{7BC697C7-CE18-484E-B003-3545C3E53839}"/>
              </a:ext>
            </a:extLst>
          </p:cNvPr>
          <p:cNvSpPr>
            <a:spLocks xmlns:a="http://schemas.openxmlformats.org/drawingml/2006/main" noGrp="1"/>
          </p:cNvSpPr>
          <p:nvPr/>
        </p:nvSpPr>
        <p:spPr>
          <a:xfrm xmlns:a="http://schemas.openxmlformats.org/drawingml/2006/main">
            <a:off x="2194560" y="5609202"/>
            <a:ext cx="9052560" cy="8412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700"/>
              <a:buFont typeface="Calibri"/>
              <a:buNone/>
            </a:pPr>
            <a:r>
              <a:rPr sz="1700" b="1">
                <a:solidFill>
                  <a:schemeClr val="lt1"/>
                </a:solidFill>
                <a:latin typeface="Calibri"/>
                <a:ea typeface="Calibri"/>
                <a:cs typeface="Calibri"/>
              </a:rPr>
              <a:t>Team &amp; ask   </a:t>
            </a:r>
            <a:r>
              <a:rPr sz="1400">
                <a:solidFill>
                  <a:schemeClr val="lt1"/>
                </a:solidFill>
                <a:latin typeface="Calibri"/>
                <a:ea typeface="Calibri"/>
                <a:cs typeface="Calibri"/>
              </a:rPr>
              <a:t>Why you can win, and exactly what you need next.</a:t>
            </a:r>
            <a:endParaRPr sz="1700">
              <a:solidFill>
                <a:schemeClr val="lt1"/>
              </a:solidFill>
              <a:latin typeface="Calibri"/>
              <a:ea typeface="Calibri"/>
              <a:cs typeface="Calibri"/>
            </a:endParaRPr>
          </a:p>
        </p:txBody>
      </p:sp>
      <p:sp>
        <p:nvSpPr>
          <p:cNvPr id="49" name="Google Shape;49;p2">
            <a:extLst xmlns:a="http://schemas.openxmlformats.org/drawingml/2006/main">
              <a:ext uri="{FF2B5EF4-FFF2-40B4-BE49-F238E27FC236}">
                <a16:creationId xmlns:a16="http://schemas.microsoft.com/office/drawing/2014/main" id="{F687E6C8-2593-4564-9B22-11431072CF17}"/>
              </a:ext>
            </a:extLst>
          </p:cNvPr>
          <p:cNvSpPr>
            <a:spLocks xmlns:a="http://schemas.openxmlformats.org/drawingml/2006/main" noGrp="1"/>
          </p:cNvSpPr>
          <p:nvPr/>
        </p:nvSpPr>
        <p:spPr>
          <a:xfrm xmlns:a="http://schemas.openxmlformats.org/drawingml/2006/main">
            <a:off x="795528" y="1510235"/>
            <a:ext cx="100584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dk1"/>
              </a:buClr>
              <a:buSzPts val="1600"/>
              <a:buFont typeface="Calibri"/>
              <a:buNone/>
            </a:pPr>
            <a:r>
              <a:rPr sz="1600" i="1">
                <a:solidFill>
                  <a:schemeClr val="dk1"/>
                </a:solidFill>
                <a:latin typeface="Calibri"/>
                <a:ea typeface="Calibri"/>
                <a:cs typeface="Calibri"/>
              </a:rPr>
              <a:t>Five beats, in order. If a slide doesn't serve one of these, cut it.</a:t>
            </a:r>
            <a:endParaRPr sz="1600">
              <a:solidFill>
                <a:schemeClr val="dk1"/>
              </a:solidFill>
              <a:latin typeface="Calibri"/>
              <a:ea typeface="Calibri"/>
              <a:cs typeface="Calibri"/>
            </a:endParaRPr>
          </a:p>
        </p:txBody>
      </p:sp>
    </p:spTree>
    <p:extLst>
      <p:ext uri="{BB962C8B-B14F-4D97-AF65-F5344CB8AC3E}">
        <p14:creationId xmlns:p14="http://schemas.microsoft.com/office/powerpoint/2010/main" val="165274948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5" name="Google Shape;55;p3">
            <a:extLst xmlns:a="http://schemas.openxmlformats.org/drawingml/2006/main">
              <a:ext uri="{FF2B5EF4-FFF2-40B4-BE49-F238E27FC236}">
                <a16:creationId xmlns:a16="http://schemas.microsoft.com/office/drawing/2014/main" id="{4AB8AF0F-C256-4D3E-A213-6DA7CC289142}"/>
              </a:ext>
            </a:extLst>
          </p:cNvPr>
          <p:cNvSpPr>
            <a:spLocks xmlns:a="http://schemas.openxmlformats.org/drawingml/2006/main" noGrp="1"/>
          </p:cNvSpPr>
          <p:nvPr/>
        </p:nvSpPr>
        <p:spPr>
          <a:xfrm xmlns:a="http://schemas.openxmlformats.org/drawingml/2006/main">
            <a:off x="487680" y="755904"/>
            <a:ext cx="10972800" cy="85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5333" b="1">
                <a:solidFill>
                  <a:schemeClr val="dk1"/>
                </a:solidFill>
                <a:latin typeface="Calibri"/>
                <a:ea typeface="Calibri"/>
                <a:cs typeface="Calibri"/>
              </a:rPr>
              <a:t>The Demo-Day Pitch in Four Blocks</a:t>
            </a:r>
            <a:endParaRPr/>
          </a:p>
        </p:txBody>
      </p:sp>
      <p:sp>
        <p:nvSpPr>
          <p:cNvPr id="56" name="Google Shape;56;p3">
            <a:extLst xmlns:a="http://schemas.openxmlformats.org/drawingml/2006/main">
              <a:ext uri="{FF2B5EF4-FFF2-40B4-BE49-F238E27FC236}">
                <a16:creationId xmlns:a16="http://schemas.microsoft.com/office/drawing/2014/main" id="{B97D7BF9-C1E7-4761-9A3D-EC4D2612BC8A}"/>
              </a:ext>
            </a:extLst>
          </p:cNvPr>
          <p:cNvSpPr>
            <a:spLocks xmlns:a="http://schemas.openxmlformats.org/drawingml/2006/main" noGrp="1"/>
          </p:cNvSpPr>
          <p:nvPr/>
        </p:nvSpPr>
        <p:spPr>
          <a:xfrm xmlns:a="http://schemas.openxmlformats.org/drawingml/2006/main">
            <a:off x="795528" y="1520070"/>
            <a:ext cx="105156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dk1"/>
              </a:buClr>
              <a:buSzPts val="1600"/>
              <a:buFont typeface="Calibri"/>
              <a:buNone/>
            </a:pPr>
            <a:r>
              <a:rPr sz="1600" i="1">
                <a:solidFill>
                  <a:schemeClr val="dk1"/>
                </a:solidFill>
                <a:latin typeface="Calibri"/>
                <a:ea typeface="Calibri"/>
                <a:cs typeface="Calibri"/>
              </a:rPr>
              <a:t>A blueprint for your 48-hour build — clear to judges, VCs, and defense operators alike.</a:t>
            </a:r>
            <a:endParaRPr/>
          </a:p>
        </p:txBody>
      </p:sp>
      <p:sp>
        <p:nvSpPr>
          <p:cNvPr id="57" name="Google Shape;57;p3">
            <a:extLst xmlns:a="http://schemas.openxmlformats.org/drawingml/2006/main">
              <a:ext uri="{FF2B5EF4-FFF2-40B4-BE49-F238E27FC236}">
                <a16:creationId xmlns:a16="http://schemas.microsoft.com/office/drawing/2014/main" id="{9A2FFF6F-CD18-4D0A-B0E4-E0A308021D66}"/>
              </a:ext>
            </a:extLst>
          </p:cNvPr>
          <p:cNvSpPr>
            <a:spLocks xmlns:a="http://schemas.openxmlformats.org/drawingml/2006/main" noGrp="1"/>
          </p:cNvSpPr>
          <p:nvPr/>
        </p:nvSpPr>
        <p:spPr>
          <a:xfrm xmlns:a="http://schemas.openxmlformats.org/drawingml/2006/main">
            <a:off x="777240" y="2022990"/>
            <a:ext cx="5074920" cy="1783080"/>
          </a:xfrm>
          <a:prstGeom xmlns:a="http://schemas.openxmlformats.org/drawingml/2006/main" prst="roundRect">
            <a:avLst>
              <a:gd name="adj" fmla="val 4103"/>
            </a:avLst>
          </a:prstGeom>
          <a:solidFill xmlns:a="http://schemas.openxmlformats.org/drawingml/2006/main">
            <a:srgbClr val="262626"/>
          </a:solidFill>
          <a:ln xmlns:a="http://schemas.openxmlformats.org/drawingml/2006/main">
            <a:noFill/>
          </a:ln>
          <a:effectLst xmlns:a="http://schemas.openxmlformats.org/drawingml/2006/main">
            <a:outerShdw blurRad="88900" dist="25400" dir="5400000" algn="bl" rotWithShape="0">
              <a:srgbClr val="000000">
                <a:alpha val="18039"/>
              </a:srgbClr>
            </a:outerShdw>
          </a:effectLst>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lt1"/>
              </a:solidFill>
              <a:latin typeface="Calibri"/>
              <a:ea typeface="Calibri"/>
              <a:cs typeface="Calibri"/>
            </a:endParaRPr>
          </a:p>
        </p:txBody>
      </p:sp>
      <p:sp>
        <p:nvSpPr>
          <p:cNvPr id="58" name="Google Shape;58;p3">
            <a:extLst xmlns:a="http://schemas.openxmlformats.org/drawingml/2006/main">
              <a:ext uri="{FF2B5EF4-FFF2-40B4-BE49-F238E27FC236}">
                <a16:creationId xmlns:a16="http://schemas.microsoft.com/office/drawing/2014/main" id="{F4C99983-2D9C-4A17-8D9C-EFF28AE9ABAD}"/>
              </a:ext>
            </a:extLst>
          </p:cNvPr>
          <p:cNvSpPr>
            <a:spLocks xmlns:a="http://schemas.openxmlformats.org/drawingml/2006/main" noGrp="1"/>
          </p:cNvSpPr>
          <p:nvPr/>
        </p:nvSpPr>
        <p:spPr>
          <a:xfrm xmlns:a="http://schemas.openxmlformats.org/drawingml/2006/main">
            <a:off x="1097280" y="2343030"/>
            <a:ext cx="640080" cy="640080"/>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lt1"/>
              </a:solidFill>
              <a:latin typeface="Calibri"/>
              <a:ea typeface="Calibri"/>
              <a:cs typeface="Calibri"/>
            </a:endParaRPr>
          </a:p>
        </p:txBody>
      </p:sp>
      <p:pic>
        <p:nvPicPr>
          <p:cNvPr id="59" name="Google Shape;59;p3">
            <a:extLst xmlns:a="http://schemas.openxmlformats.org/drawingml/2006/main">
              <a:ext uri="{FF2B5EF4-FFF2-40B4-BE49-F238E27FC236}">
                <a16:creationId xmlns:a16="http://schemas.microsoft.com/office/drawing/2014/main" id="{67CDF6D2-9E16-4E21-A968-5D80433FC11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da6b9b510094622">
            <a:alphaModFix/>
          </a:blip>
          <a:srcRect xmlns:a="http://schemas.openxmlformats.org/drawingml/2006/main" l="0" t="0" r="0" b="0"/>
          <a:stretch xmlns:a="http://schemas.openxmlformats.org/drawingml/2006/main"/>
        </p:blipFill>
        <p:spPr>
          <a:xfrm xmlns:a="http://schemas.openxmlformats.org/drawingml/2006/main">
            <a:off x="1243584" y="2489334"/>
            <a:ext cx="347472" cy="347472"/>
          </a:xfrm>
          <a:prstGeom xmlns:a="http://schemas.openxmlformats.org/drawingml/2006/main" prst="rect">
            <a:avLst/>
          </a:prstGeom>
          <a:ln xmlns:a="http://schemas.openxmlformats.org/drawingml/2006/main">
            <a:noFill/>
          </a:ln>
        </p:spPr>
      </p:pic>
      <p:sp>
        <p:nvSpPr>
          <p:cNvPr id="60" name="Google Shape;60;p3">
            <a:extLst xmlns:a="http://schemas.openxmlformats.org/drawingml/2006/main">
              <a:ext uri="{FF2B5EF4-FFF2-40B4-BE49-F238E27FC236}">
                <a16:creationId xmlns:a16="http://schemas.microsoft.com/office/drawing/2014/main" id="{18DCB249-5DC1-41E2-9AFC-51387F4253C8}"/>
              </a:ext>
            </a:extLst>
          </p:cNvPr>
          <p:cNvSpPr>
            <a:spLocks xmlns:a="http://schemas.openxmlformats.org/drawingml/2006/main" noGrp="1"/>
          </p:cNvSpPr>
          <p:nvPr/>
        </p:nvSpPr>
        <p:spPr>
          <a:xfrm xmlns:a="http://schemas.openxmlformats.org/drawingml/2006/main">
            <a:off x="1965960" y="2343030"/>
            <a:ext cx="365760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2100"/>
              <a:buFont typeface="Cambria"/>
              <a:buNone/>
            </a:pPr>
            <a:r>
              <a:rPr sz="2100" b="1">
                <a:solidFill>
                  <a:schemeClr val="lt1"/>
                </a:solidFill>
                <a:latin typeface="Cambria"/>
                <a:ea typeface="Cambria"/>
                <a:cs typeface="Cambria"/>
              </a:rPr>
              <a:t>1 · The Problem</a:t>
            </a:r>
            <a:endParaRPr/>
          </a:p>
        </p:txBody>
      </p:sp>
      <p:sp>
        <p:nvSpPr>
          <p:cNvPr id="61" name="Google Shape;61;p3">
            <a:extLst xmlns:a="http://schemas.openxmlformats.org/drawingml/2006/main">
              <a:ext uri="{FF2B5EF4-FFF2-40B4-BE49-F238E27FC236}">
                <a16:creationId xmlns:a16="http://schemas.microsoft.com/office/drawing/2014/main" id="{103E6799-708B-4781-8BCA-787D81B9C52D}"/>
              </a:ext>
            </a:extLst>
          </p:cNvPr>
          <p:cNvSpPr>
            <a:spLocks xmlns:a="http://schemas.openxmlformats.org/drawingml/2006/main" noGrp="1"/>
          </p:cNvSpPr>
          <p:nvPr/>
        </p:nvSpPr>
        <p:spPr>
          <a:xfrm xmlns:a="http://schemas.openxmlformats.org/drawingml/2006/main">
            <a:off x="1143000" y="2983110"/>
            <a:ext cx="434340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450"/>
              <a:buFont typeface="Calibri"/>
              <a:buNone/>
            </a:pPr>
            <a:r>
              <a:rPr sz="1450">
                <a:solidFill>
                  <a:schemeClr val="lt1"/>
                </a:solidFill>
                <a:latin typeface="Calibri"/>
                <a:ea typeface="Calibri"/>
                <a:cs typeface="Calibri"/>
              </a:rPr>
              <a:t>Open with the mission gap or threat. One concrete line the judges feel immediately.</a:t>
            </a:r>
            <a:endParaRPr/>
          </a:p>
        </p:txBody>
      </p:sp>
      <p:sp>
        <p:nvSpPr>
          <p:cNvPr id="62" name="Google Shape;62;p3">
            <a:extLst xmlns:a="http://schemas.openxmlformats.org/drawingml/2006/main">
              <a:ext uri="{FF2B5EF4-FFF2-40B4-BE49-F238E27FC236}">
                <a16:creationId xmlns:a16="http://schemas.microsoft.com/office/drawing/2014/main" id="{CD05202C-BE36-41DC-B6A7-7F5C2CBE1ECD}"/>
              </a:ext>
            </a:extLst>
          </p:cNvPr>
          <p:cNvSpPr>
            <a:spLocks xmlns:a="http://schemas.openxmlformats.org/drawingml/2006/main" noGrp="1"/>
          </p:cNvSpPr>
          <p:nvPr/>
        </p:nvSpPr>
        <p:spPr>
          <a:xfrm xmlns:a="http://schemas.openxmlformats.org/drawingml/2006/main">
            <a:off x="6309360" y="2022990"/>
            <a:ext cx="5074920" cy="1783080"/>
          </a:xfrm>
          <a:prstGeom xmlns:a="http://schemas.openxmlformats.org/drawingml/2006/main" prst="roundRect">
            <a:avLst>
              <a:gd name="adj" fmla="val 4103"/>
            </a:avLst>
          </a:prstGeom>
          <a:solidFill xmlns:a="http://schemas.openxmlformats.org/drawingml/2006/main">
            <a:srgbClr val="262626"/>
          </a:solidFill>
          <a:ln xmlns:a="http://schemas.openxmlformats.org/drawingml/2006/main">
            <a:noFill/>
          </a:ln>
          <a:effectLst xmlns:a="http://schemas.openxmlformats.org/drawingml/2006/main">
            <a:outerShdw blurRad="88900" dist="25400" dir="5400000" algn="bl" rotWithShape="0">
              <a:srgbClr val="000000">
                <a:alpha val="18039"/>
              </a:srgbClr>
            </a:outerShdw>
          </a:effectLst>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lt1"/>
              </a:solidFill>
              <a:latin typeface="Calibri"/>
              <a:ea typeface="Calibri"/>
              <a:cs typeface="Calibri"/>
            </a:endParaRPr>
          </a:p>
        </p:txBody>
      </p:sp>
      <p:sp>
        <p:nvSpPr>
          <p:cNvPr id="63" name="Google Shape;63;p3">
            <a:extLst xmlns:a="http://schemas.openxmlformats.org/drawingml/2006/main">
              <a:ext uri="{FF2B5EF4-FFF2-40B4-BE49-F238E27FC236}">
                <a16:creationId xmlns:a16="http://schemas.microsoft.com/office/drawing/2014/main" id="{DC8DEA95-0215-418E-9738-EB2AE3A39E9A}"/>
              </a:ext>
            </a:extLst>
          </p:cNvPr>
          <p:cNvSpPr>
            <a:spLocks xmlns:a="http://schemas.openxmlformats.org/drawingml/2006/main" noGrp="1"/>
          </p:cNvSpPr>
          <p:nvPr/>
        </p:nvSpPr>
        <p:spPr>
          <a:xfrm xmlns:a="http://schemas.openxmlformats.org/drawingml/2006/main">
            <a:off x="6629400" y="2343030"/>
            <a:ext cx="640080" cy="640080"/>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lt1"/>
              </a:solidFill>
              <a:latin typeface="Calibri"/>
              <a:ea typeface="Calibri"/>
              <a:cs typeface="Calibri"/>
            </a:endParaRPr>
          </a:p>
        </p:txBody>
      </p:sp>
      <p:pic>
        <p:nvPicPr>
          <p:cNvPr id="64" name="Google Shape;64;p3">
            <a:extLst xmlns:a="http://schemas.openxmlformats.org/drawingml/2006/main">
              <a:ext uri="{FF2B5EF4-FFF2-40B4-BE49-F238E27FC236}">
                <a16:creationId xmlns:a16="http://schemas.microsoft.com/office/drawing/2014/main" id="{7AF3A5FB-912A-457A-B1A9-98D6B09373D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fc1d09b00c340bc">
            <a:alphaModFix/>
          </a:blip>
          <a:srcRect xmlns:a="http://schemas.openxmlformats.org/drawingml/2006/main" l="0" t="0" r="0" b="0"/>
          <a:stretch xmlns:a="http://schemas.openxmlformats.org/drawingml/2006/main"/>
        </p:blipFill>
        <p:spPr>
          <a:xfrm xmlns:a="http://schemas.openxmlformats.org/drawingml/2006/main">
            <a:off x="6775704" y="2489334"/>
            <a:ext cx="347472" cy="347472"/>
          </a:xfrm>
          <a:prstGeom xmlns:a="http://schemas.openxmlformats.org/drawingml/2006/main" prst="rect">
            <a:avLst/>
          </a:prstGeom>
          <a:ln xmlns:a="http://schemas.openxmlformats.org/drawingml/2006/main">
            <a:noFill/>
          </a:ln>
        </p:spPr>
      </p:pic>
      <p:sp>
        <p:nvSpPr>
          <p:cNvPr id="65" name="Google Shape;65;p3">
            <a:extLst xmlns:a="http://schemas.openxmlformats.org/drawingml/2006/main">
              <a:ext uri="{FF2B5EF4-FFF2-40B4-BE49-F238E27FC236}">
                <a16:creationId xmlns:a16="http://schemas.microsoft.com/office/drawing/2014/main" id="{E1CADFDC-3827-4DA6-AFF4-5E0228EF6D46}"/>
              </a:ext>
            </a:extLst>
          </p:cNvPr>
          <p:cNvSpPr>
            <a:spLocks xmlns:a="http://schemas.openxmlformats.org/drawingml/2006/main" noGrp="1"/>
          </p:cNvSpPr>
          <p:nvPr/>
        </p:nvSpPr>
        <p:spPr>
          <a:xfrm xmlns:a="http://schemas.openxmlformats.org/drawingml/2006/main">
            <a:off x="7498080" y="2343030"/>
            <a:ext cx="365760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2100"/>
              <a:buFont typeface="Cambria"/>
              <a:buNone/>
            </a:pPr>
            <a:r>
              <a:rPr sz="2100" b="1">
                <a:solidFill>
                  <a:schemeClr val="lt1"/>
                </a:solidFill>
                <a:latin typeface="Cambria"/>
                <a:ea typeface="Cambria"/>
                <a:cs typeface="Cambria"/>
              </a:rPr>
              <a:t>2 · The Solution</a:t>
            </a:r>
            <a:endParaRPr/>
          </a:p>
        </p:txBody>
      </p:sp>
      <p:sp>
        <p:nvSpPr>
          <p:cNvPr id="66" name="Google Shape;66;p3">
            <a:extLst xmlns:a="http://schemas.openxmlformats.org/drawingml/2006/main">
              <a:ext uri="{FF2B5EF4-FFF2-40B4-BE49-F238E27FC236}">
                <a16:creationId xmlns:a16="http://schemas.microsoft.com/office/drawing/2014/main" id="{B95A5305-D02E-4175-A843-CF89758B5B89}"/>
              </a:ext>
            </a:extLst>
          </p:cNvPr>
          <p:cNvSpPr>
            <a:spLocks xmlns:a="http://schemas.openxmlformats.org/drawingml/2006/main" noGrp="1"/>
          </p:cNvSpPr>
          <p:nvPr/>
        </p:nvSpPr>
        <p:spPr>
          <a:xfrm xmlns:a="http://schemas.openxmlformats.org/drawingml/2006/main">
            <a:off x="6675120" y="2983110"/>
            <a:ext cx="434340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450"/>
              <a:buFont typeface="Calibri"/>
              <a:buNone/>
            </a:pPr>
            <a:r>
              <a:rPr sz="1450">
                <a:solidFill>
                  <a:schemeClr val="lt1"/>
                </a:solidFill>
                <a:latin typeface="Calibri"/>
                <a:ea typeface="Calibri"/>
                <a:cs typeface="Calibri"/>
              </a:rPr>
              <a:t>Your capability and why it wins. One sentence a non-engineer can repeat.</a:t>
            </a:r>
            <a:endParaRPr/>
          </a:p>
        </p:txBody>
      </p:sp>
      <p:sp>
        <p:nvSpPr>
          <p:cNvPr id="67" name="Google Shape;67;p3">
            <a:extLst xmlns:a="http://schemas.openxmlformats.org/drawingml/2006/main">
              <a:ext uri="{FF2B5EF4-FFF2-40B4-BE49-F238E27FC236}">
                <a16:creationId xmlns:a16="http://schemas.microsoft.com/office/drawing/2014/main" id="{47A8B989-E187-491A-844A-74658A6205A2}"/>
              </a:ext>
            </a:extLst>
          </p:cNvPr>
          <p:cNvSpPr>
            <a:spLocks xmlns:a="http://schemas.openxmlformats.org/drawingml/2006/main" noGrp="1"/>
          </p:cNvSpPr>
          <p:nvPr/>
        </p:nvSpPr>
        <p:spPr>
          <a:xfrm xmlns:a="http://schemas.openxmlformats.org/drawingml/2006/main">
            <a:off x="777240" y="4171830"/>
            <a:ext cx="5074920" cy="1783080"/>
          </a:xfrm>
          <a:prstGeom xmlns:a="http://schemas.openxmlformats.org/drawingml/2006/main" prst="roundRect">
            <a:avLst>
              <a:gd name="adj" fmla="val 4103"/>
            </a:avLst>
          </a:prstGeom>
          <a:solidFill xmlns:a="http://schemas.openxmlformats.org/drawingml/2006/main">
            <a:srgbClr val="262626"/>
          </a:solidFill>
          <a:ln xmlns:a="http://schemas.openxmlformats.org/drawingml/2006/main">
            <a:noFill/>
          </a:ln>
          <a:effectLst xmlns:a="http://schemas.openxmlformats.org/drawingml/2006/main">
            <a:outerShdw blurRad="88900" dist="25400" dir="5400000" algn="bl" rotWithShape="0">
              <a:srgbClr val="000000">
                <a:alpha val="18039"/>
              </a:srgbClr>
            </a:outerShdw>
          </a:effectLst>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lt1"/>
              </a:solidFill>
              <a:latin typeface="Calibri"/>
              <a:ea typeface="Calibri"/>
              <a:cs typeface="Calibri"/>
            </a:endParaRPr>
          </a:p>
        </p:txBody>
      </p:sp>
      <p:sp>
        <p:nvSpPr>
          <p:cNvPr id="68" name="Google Shape;68;p3">
            <a:extLst xmlns:a="http://schemas.openxmlformats.org/drawingml/2006/main">
              <a:ext uri="{FF2B5EF4-FFF2-40B4-BE49-F238E27FC236}">
                <a16:creationId xmlns:a16="http://schemas.microsoft.com/office/drawing/2014/main" id="{70455820-D9CD-48F9-A95B-EB7242610EC1}"/>
              </a:ext>
            </a:extLst>
          </p:cNvPr>
          <p:cNvSpPr>
            <a:spLocks xmlns:a="http://schemas.openxmlformats.org/drawingml/2006/main" noGrp="1"/>
          </p:cNvSpPr>
          <p:nvPr/>
        </p:nvSpPr>
        <p:spPr>
          <a:xfrm xmlns:a="http://schemas.openxmlformats.org/drawingml/2006/main">
            <a:off x="1097280" y="4491870"/>
            <a:ext cx="640080" cy="640080"/>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lt1"/>
              </a:solidFill>
              <a:latin typeface="Calibri"/>
              <a:ea typeface="Calibri"/>
              <a:cs typeface="Calibri"/>
            </a:endParaRPr>
          </a:p>
        </p:txBody>
      </p:sp>
      <p:pic>
        <p:nvPicPr>
          <p:cNvPr id="69" name="Google Shape;69;p3">
            <a:extLst xmlns:a="http://schemas.openxmlformats.org/drawingml/2006/main">
              <a:ext uri="{FF2B5EF4-FFF2-40B4-BE49-F238E27FC236}">
                <a16:creationId xmlns:a16="http://schemas.microsoft.com/office/drawing/2014/main" id="{2655A737-EABD-46F2-8455-65728A2BD31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97d69a009514873">
            <a:alphaModFix/>
          </a:blip>
          <a:srcRect xmlns:a="http://schemas.openxmlformats.org/drawingml/2006/main" l="0" t="0" r="0" b="0"/>
          <a:stretch xmlns:a="http://schemas.openxmlformats.org/drawingml/2006/main"/>
        </p:blipFill>
        <p:spPr>
          <a:xfrm xmlns:a="http://schemas.openxmlformats.org/drawingml/2006/main">
            <a:off x="1243584" y="4638174"/>
            <a:ext cx="347472" cy="347472"/>
          </a:xfrm>
          <a:prstGeom xmlns:a="http://schemas.openxmlformats.org/drawingml/2006/main" prst="rect">
            <a:avLst/>
          </a:prstGeom>
          <a:ln xmlns:a="http://schemas.openxmlformats.org/drawingml/2006/main">
            <a:noFill/>
          </a:ln>
        </p:spPr>
      </p:pic>
      <p:sp>
        <p:nvSpPr>
          <p:cNvPr id="70" name="Google Shape;70;p3">
            <a:extLst xmlns:a="http://schemas.openxmlformats.org/drawingml/2006/main">
              <a:ext uri="{FF2B5EF4-FFF2-40B4-BE49-F238E27FC236}">
                <a16:creationId xmlns:a16="http://schemas.microsoft.com/office/drawing/2014/main" id="{CB0BCD78-F34E-495D-AAAC-36B66C8A43CD}"/>
              </a:ext>
            </a:extLst>
          </p:cNvPr>
          <p:cNvSpPr>
            <a:spLocks xmlns:a="http://schemas.openxmlformats.org/drawingml/2006/main" noGrp="1"/>
          </p:cNvSpPr>
          <p:nvPr/>
        </p:nvSpPr>
        <p:spPr>
          <a:xfrm xmlns:a="http://schemas.openxmlformats.org/drawingml/2006/main">
            <a:off x="1965960" y="4491870"/>
            <a:ext cx="365760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2100"/>
              <a:buFont typeface="Cambria"/>
              <a:buNone/>
            </a:pPr>
            <a:r>
              <a:rPr sz="2100" b="1">
                <a:solidFill>
                  <a:schemeClr val="lt1"/>
                </a:solidFill>
                <a:latin typeface="Cambria"/>
                <a:ea typeface="Cambria"/>
                <a:cs typeface="Cambria"/>
              </a:rPr>
              <a:t>3 · The Proof</a:t>
            </a:r>
            <a:endParaRPr/>
          </a:p>
        </p:txBody>
      </p:sp>
      <p:sp>
        <p:nvSpPr>
          <p:cNvPr id="71" name="Google Shape;71;p3">
            <a:extLst xmlns:a="http://schemas.openxmlformats.org/drawingml/2006/main">
              <a:ext uri="{FF2B5EF4-FFF2-40B4-BE49-F238E27FC236}">
                <a16:creationId xmlns:a16="http://schemas.microsoft.com/office/drawing/2014/main" id="{77BF8920-9138-49B4-9485-D6B524AB260C}"/>
              </a:ext>
            </a:extLst>
          </p:cNvPr>
          <p:cNvSpPr>
            <a:spLocks xmlns:a="http://schemas.openxmlformats.org/drawingml/2006/main" noGrp="1"/>
          </p:cNvSpPr>
          <p:nvPr/>
        </p:nvSpPr>
        <p:spPr>
          <a:xfrm xmlns:a="http://schemas.openxmlformats.org/drawingml/2006/main">
            <a:off x="1143000" y="5131950"/>
            <a:ext cx="434340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450"/>
              <a:buFont typeface="Calibri"/>
              <a:buNone/>
            </a:pPr>
            <a:r>
              <a:rPr sz="1450">
                <a:solidFill>
                  <a:schemeClr val="lt1"/>
                </a:solidFill>
                <a:latin typeface="Calibri"/>
                <a:ea typeface="Calibri"/>
                <a:cs typeface="Calibri"/>
              </a:rPr>
              <a:t>What you built in 48 hours: the live demo, the prototype, the early data.</a:t>
            </a:r>
            <a:endParaRPr/>
          </a:p>
        </p:txBody>
      </p:sp>
      <p:sp>
        <p:nvSpPr>
          <p:cNvPr id="72" name="Google Shape;72;p3">
            <a:extLst xmlns:a="http://schemas.openxmlformats.org/drawingml/2006/main">
              <a:ext uri="{FF2B5EF4-FFF2-40B4-BE49-F238E27FC236}">
                <a16:creationId xmlns:a16="http://schemas.microsoft.com/office/drawing/2014/main" id="{06866DF1-FB7E-4098-BE26-FBE706983110}"/>
              </a:ext>
            </a:extLst>
          </p:cNvPr>
          <p:cNvSpPr>
            <a:spLocks xmlns:a="http://schemas.openxmlformats.org/drawingml/2006/main" noGrp="1"/>
          </p:cNvSpPr>
          <p:nvPr/>
        </p:nvSpPr>
        <p:spPr>
          <a:xfrm xmlns:a="http://schemas.openxmlformats.org/drawingml/2006/main">
            <a:off x="6309360" y="4171830"/>
            <a:ext cx="5074920" cy="1783080"/>
          </a:xfrm>
          <a:prstGeom xmlns:a="http://schemas.openxmlformats.org/drawingml/2006/main" prst="roundRect">
            <a:avLst>
              <a:gd name="adj" fmla="val 4103"/>
            </a:avLst>
          </a:prstGeom>
          <a:solidFill xmlns:a="http://schemas.openxmlformats.org/drawingml/2006/main">
            <a:srgbClr val="262626"/>
          </a:solidFill>
          <a:ln xmlns:a="http://schemas.openxmlformats.org/drawingml/2006/main">
            <a:noFill/>
          </a:ln>
          <a:effectLst xmlns:a="http://schemas.openxmlformats.org/drawingml/2006/main">
            <a:outerShdw blurRad="88900" dist="25400" dir="5400000" algn="bl" rotWithShape="0">
              <a:srgbClr val="000000">
                <a:alpha val="18039"/>
              </a:srgbClr>
            </a:outerShdw>
          </a:effectLst>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lt1"/>
              </a:solidFill>
              <a:latin typeface="Calibri"/>
              <a:ea typeface="Calibri"/>
              <a:cs typeface="Calibri"/>
            </a:endParaRPr>
          </a:p>
        </p:txBody>
      </p:sp>
      <p:sp>
        <p:nvSpPr>
          <p:cNvPr id="73" name="Google Shape;73;p3">
            <a:extLst xmlns:a="http://schemas.openxmlformats.org/drawingml/2006/main">
              <a:ext uri="{FF2B5EF4-FFF2-40B4-BE49-F238E27FC236}">
                <a16:creationId xmlns:a16="http://schemas.microsoft.com/office/drawing/2014/main" id="{211481A3-0F65-4324-AFAD-95BD5AA493FD}"/>
              </a:ext>
            </a:extLst>
          </p:cNvPr>
          <p:cNvSpPr>
            <a:spLocks xmlns:a="http://schemas.openxmlformats.org/drawingml/2006/main" noGrp="1"/>
          </p:cNvSpPr>
          <p:nvPr/>
        </p:nvSpPr>
        <p:spPr>
          <a:xfrm xmlns:a="http://schemas.openxmlformats.org/drawingml/2006/main">
            <a:off x="6629400" y="4491870"/>
            <a:ext cx="640080" cy="640080"/>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lt1"/>
              </a:solidFill>
              <a:latin typeface="Calibri"/>
              <a:ea typeface="Calibri"/>
              <a:cs typeface="Calibri"/>
            </a:endParaRPr>
          </a:p>
        </p:txBody>
      </p:sp>
      <p:pic>
        <p:nvPicPr>
          <p:cNvPr id="74" name="Google Shape;74;p3">
            <a:extLst xmlns:a="http://schemas.openxmlformats.org/drawingml/2006/main">
              <a:ext uri="{FF2B5EF4-FFF2-40B4-BE49-F238E27FC236}">
                <a16:creationId xmlns:a16="http://schemas.microsoft.com/office/drawing/2014/main" id="{6379AFCB-5B85-4F57-AB1B-02429DB67FA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179b1c70eba489d">
            <a:alphaModFix/>
          </a:blip>
          <a:srcRect xmlns:a="http://schemas.openxmlformats.org/drawingml/2006/main" l="0" t="0" r="0" b="0"/>
          <a:stretch xmlns:a="http://schemas.openxmlformats.org/drawingml/2006/main"/>
        </p:blipFill>
        <p:spPr>
          <a:xfrm xmlns:a="http://schemas.openxmlformats.org/drawingml/2006/main">
            <a:off x="6775704" y="4638174"/>
            <a:ext cx="347472" cy="347472"/>
          </a:xfrm>
          <a:prstGeom xmlns:a="http://schemas.openxmlformats.org/drawingml/2006/main" prst="rect">
            <a:avLst/>
          </a:prstGeom>
          <a:ln xmlns:a="http://schemas.openxmlformats.org/drawingml/2006/main">
            <a:noFill/>
          </a:ln>
        </p:spPr>
      </p:pic>
      <p:sp>
        <p:nvSpPr>
          <p:cNvPr id="75" name="Google Shape;75;p3">
            <a:extLst xmlns:a="http://schemas.openxmlformats.org/drawingml/2006/main">
              <a:ext uri="{FF2B5EF4-FFF2-40B4-BE49-F238E27FC236}">
                <a16:creationId xmlns:a16="http://schemas.microsoft.com/office/drawing/2014/main" id="{0F522CE9-0233-4777-8A85-D4D54A8765C3}"/>
              </a:ext>
            </a:extLst>
          </p:cNvPr>
          <p:cNvSpPr>
            <a:spLocks xmlns:a="http://schemas.openxmlformats.org/drawingml/2006/main" noGrp="1"/>
          </p:cNvSpPr>
          <p:nvPr/>
        </p:nvSpPr>
        <p:spPr>
          <a:xfrm xmlns:a="http://schemas.openxmlformats.org/drawingml/2006/main">
            <a:off x="7498080" y="4491870"/>
            <a:ext cx="365760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2100"/>
              <a:buFont typeface="Cambria"/>
              <a:buNone/>
            </a:pPr>
            <a:r>
              <a:rPr sz="2100" b="1">
                <a:solidFill>
                  <a:schemeClr val="lt1"/>
                </a:solidFill>
                <a:latin typeface="Cambria"/>
                <a:ea typeface="Cambria"/>
                <a:cs typeface="Cambria"/>
              </a:rPr>
              <a:t>4 · The Ask</a:t>
            </a:r>
            <a:endParaRPr/>
          </a:p>
        </p:txBody>
      </p:sp>
      <p:sp>
        <p:nvSpPr>
          <p:cNvPr id="76" name="Google Shape;76;p3">
            <a:extLst xmlns:a="http://schemas.openxmlformats.org/drawingml/2006/main">
              <a:ext uri="{FF2B5EF4-FFF2-40B4-BE49-F238E27FC236}">
                <a16:creationId xmlns:a16="http://schemas.microsoft.com/office/drawing/2014/main" id="{23358E2D-9250-4176-B7F0-1902D99FA7A1}"/>
              </a:ext>
            </a:extLst>
          </p:cNvPr>
          <p:cNvSpPr>
            <a:spLocks xmlns:a="http://schemas.openxmlformats.org/drawingml/2006/main" noGrp="1"/>
          </p:cNvSpPr>
          <p:nvPr/>
        </p:nvSpPr>
        <p:spPr>
          <a:xfrm xmlns:a="http://schemas.openxmlformats.org/drawingml/2006/main">
            <a:off x="6675120" y="5131950"/>
            <a:ext cx="434340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450"/>
              <a:buFont typeface="Calibri"/>
              <a:buNone/>
            </a:pPr>
            <a:r>
              <a:rPr sz="1450">
                <a:solidFill>
                  <a:schemeClr val="lt1"/>
                </a:solidFill>
                <a:latin typeface="Calibri"/>
                <a:ea typeface="Calibri"/>
                <a:cs typeface="Calibri"/>
              </a:rPr>
              <a:t>Where it goes next — the pilot, the team, the funding to keep building.</a:t>
            </a:r>
            <a:endParaRPr/>
          </a:p>
        </p:txBody>
      </p:sp>
    </p:spTree>
    <p:extLst>
      <p:ext uri="{BB962C8B-B14F-4D97-AF65-F5344CB8AC3E}">
        <p14:creationId xmlns:p14="http://schemas.microsoft.com/office/powerpoint/2010/main" val="204527765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82" name="Google Shape;82;p4">
            <a:extLst xmlns:a="http://schemas.openxmlformats.org/drawingml/2006/main">
              <a:ext uri="{FF2B5EF4-FFF2-40B4-BE49-F238E27FC236}">
                <a16:creationId xmlns:a16="http://schemas.microsoft.com/office/drawing/2014/main" id="{ED622CBB-0CC0-48A3-A63C-F69AEDE7B53C}"/>
              </a:ext>
            </a:extLst>
          </p:cNvPr>
          <p:cNvSpPr>
            <a:spLocks xmlns:a="http://schemas.openxmlformats.org/drawingml/2006/main" noGrp="1"/>
          </p:cNvSpPr>
          <p:nvPr/>
        </p:nvSpPr>
        <p:spPr>
          <a:xfrm xmlns:a="http://schemas.openxmlformats.org/drawingml/2006/main">
            <a:off x="487680" y="755904"/>
            <a:ext cx="10972800" cy="85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5333" b="1">
                <a:solidFill>
                  <a:schemeClr val="dk1"/>
                </a:solidFill>
                <a:latin typeface="Calibri"/>
                <a:ea typeface="Calibri"/>
                <a:cs typeface="Calibri"/>
              </a:rPr>
              <a:t>What Judges Actually Reward</a:t>
            </a:r>
            <a:endParaRPr/>
          </a:p>
        </p:txBody>
      </p:sp>
      <p:sp>
        <p:nvSpPr>
          <p:cNvPr id="83" name="Google Shape;83;p4">
            <a:extLst xmlns:a="http://schemas.openxmlformats.org/drawingml/2006/main">
              <a:ext uri="{FF2B5EF4-FFF2-40B4-BE49-F238E27FC236}">
                <a16:creationId xmlns:a16="http://schemas.microsoft.com/office/drawing/2014/main" id="{5F7FE089-727F-4BC1-AC34-9D65A568B8CB}"/>
              </a:ext>
            </a:extLst>
          </p:cNvPr>
          <p:cNvSpPr>
            <a:spLocks xmlns:a="http://schemas.openxmlformats.org/drawingml/2006/main" noGrp="1"/>
          </p:cNvSpPr>
          <p:nvPr/>
        </p:nvSpPr>
        <p:spPr>
          <a:xfrm xmlns:a="http://schemas.openxmlformats.org/drawingml/2006/main">
            <a:off x="777240" y="1886320"/>
            <a:ext cx="5074920" cy="1828800"/>
          </a:xfrm>
          <a:prstGeom xmlns:a="http://schemas.openxmlformats.org/drawingml/2006/main" prst="roundRect">
            <a:avLst>
              <a:gd name="adj" fmla="val 4000"/>
            </a:avLst>
          </a:prstGeom>
          <a:solidFill xmlns:a="http://schemas.openxmlformats.org/drawingml/2006/main">
            <a:srgbClr val="262626"/>
          </a:solidFill>
          <a:ln xmlns:a="http://schemas.openxmlformats.org/drawingml/2006/main">
            <a:noFill/>
          </a:ln>
          <a:effectLst xmlns:a="http://schemas.openxmlformats.org/drawingml/2006/main">
            <a:outerShdw blurRad="88900" dist="25400" dir="5400000" algn="bl" rotWithShape="0">
              <a:srgbClr val="000000">
                <a:alpha val="18039"/>
              </a:srgbClr>
            </a:outerShdw>
          </a:effectLst>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lt1"/>
              </a:solidFill>
              <a:latin typeface="Calibri"/>
              <a:ea typeface="Calibri"/>
              <a:cs typeface="Calibri"/>
            </a:endParaRPr>
          </a:p>
        </p:txBody>
      </p:sp>
      <p:sp>
        <p:nvSpPr>
          <p:cNvPr id="84" name="Google Shape;84;p4">
            <a:extLst xmlns:a="http://schemas.openxmlformats.org/drawingml/2006/main">
              <a:ext uri="{FF2B5EF4-FFF2-40B4-BE49-F238E27FC236}">
                <a16:creationId xmlns:a16="http://schemas.microsoft.com/office/drawing/2014/main" id="{D377064B-E5F5-4888-A5EE-1879FAC9A06C}"/>
              </a:ext>
            </a:extLst>
          </p:cNvPr>
          <p:cNvSpPr>
            <a:spLocks xmlns:a="http://schemas.openxmlformats.org/drawingml/2006/main" noGrp="1"/>
          </p:cNvSpPr>
          <p:nvPr/>
        </p:nvSpPr>
        <p:spPr>
          <a:xfrm xmlns:a="http://schemas.openxmlformats.org/drawingml/2006/main">
            <a:off x="1097280" y="2206360"/>
            <a:ext cx="640080" cy="640080"/>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lt1"/>
              </a:solidFill>
              <a:latin typeface="Calibri"/>
              <a:ea typeface="Calibri"/>
              <a:cs typeface="Calibri"/>
            </a:endParaRPr>
          </a:p>
        </p:txBody>
      </p:sp>
      <p:pic>
        <p:nvPicPr>
          <p:cNvPr id="85" name="Google Shape;85;p4">
            <a:extLst xmlns:a="http://schemas.openxmlformats.org/drawingml/2006/main">
              <a:ext uri="{FF2B5EF4-FFF2-40B4-BE49-F238E27FC236}">
                <a16:creationId xmlns:a16="http://schemas.microsoft.com/office/drawing/2014/main" id="{E5162EAA-D1D2-4B39-99C9-8128005EBF2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5367fdb2e8345c9">
            <a:alphaModFix/>
          </a:blip>
          <a:srcRect xmlns:a="http://schemas.openxmlformats.org/drawingml/2006/main" l="0" t="0" r="0" b="0"/>
          <a:stretch xmlns:a="http://schemas.openxmlformats.org/drawingml/2006/main"/>
        </p:blipFill>
        <p:spPr>
          <a:xfrm xmlns:a="http://schemas.openxmlformats.org/drawingml/2006/main">
            <a:off x="1243584" y="2352664"/>
            <a:ext cx="347472" cy="347472"/>
          </a:xfrm>
          <a:prstGeom xmlns:a="http://schemas.openxmlformats.org/drawingml/2006/main" prst="rect">
            <a:avLst/>
          </a:prstGeom>
          <a:ln xmlns:a="http://schemas.openxmlformats.org/drawingml/2006/main">
            <a:noFill/>
          </a:ln>
        </p:spPr>
      </p:pic>
      <p:sp>
        <p:nvSpPr>
          <p:cNvPr id="86" name="Google Shape;86;p4">
            <a:extLst xmlns:a="http://schemas.openxmlformats.org/drawingml/2006/main">
              <a:ext uri="{FF2B5EF4-FFF2-40B4-BE49-F238E27FC236}">
                <a16:creationId xmlns:a16="http://schemas.microsoft.com/office/drawing/2014/main" id="{AB4C1C41-64FD-4894-880E-401E0C69BA0F}"/>
              </a:ext>
            </a:extLst>
          </p:cNvPr>
          <p:cNvSpPr>
            <a:spLocks xmlns:a="http://schemas.openxmlformats.org/drawingml/2006/main" noGrp="1"/>
          </p:cNvSpPr>
          <p:nvPr/>
        </p:nvSpPr>
        <p:spPr>
          <a:xfrm xmlns:a="http://schemas.openxmlformats.org/drawingml/2006/main">
            <a:off x="1965960" y="2206360"/>
            <a:ext cx="365760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2100"/>
              <a:buFont typeface="Cambria"/>
              <a:buNone/>
            </a:pPr>
            <a:r>
              <a:rPr sz="2100" b="1">
                <a:solidFill>
                  <a:schemeClr val="lt1"/>
                </a:solidFill>
                <a:latin typeface="Cambria"/>
                <a:ea typeface="Cambria"/>
                <a:cs typeface="Cambria"/>
              </a:rPr>
              <a:t>Clarity</a:t>
            </a:r>
            <a:endParaRPr sz="2100">
              <a:solidFill>
                <a:schemeClr val="lt1"/>
              </a:solidFill>
              <a:latin typeface="Calibri"/>
              <a:ea typeface="Calibri"/>
              <a:cs typeface="Calibri"/>
            </a:endParaRPr>
          </a:p>
        </p:txBody>
      </p:sp>
      <p:sp>
        <p:nvSpPr>
          <p:cNvPr id="87" name="Google Shape;87;p4">
            <a:extLst xmlns:a="http://schemas.openxmlformats.org/drawingml/2006/main">
              <a:ext uri="{FF2B5EF4-FFF2-40B4-BE49-F238E27FC236}">
                <a16:creationId xmlns:a16="http://schemas.microsoft.com/office/drawing/2014/main" id="{506D236B-FF02-4304-8335-53642E3AE503}"/>
              </a:ext>
            </a:extLst>
          </p:cNvPr>
          <p:cNvSpPr>
            <a:spLocks xmlns:a="http://schemas.openxmlformats.org/drawingml/2006/main" noGrp="1"/>
          </p:cNvSpPr>
          <p:nvPr/>
        </p:nvSpPr>
        <p:spPr>
          <a:xfrm xmlns:a="http://schemas.openxmlformats.org/drawingml/2006/main">
            <a:off x="1143000" y="2892160"/>
            <a:ext cx="434340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450"/>
              <a:buFont typeface="Calibri"/>
              <a:buNone/>
            </a:pPr>
            <a:r>
              <a:rPr sz="1450">
                <a:solidFill>
                  <a:schemeClr val="lt1"/>
                </a:solidFill>
                <a:latin typeface="Calibri"/>
                <a:ea typeface="Calibri"/>
                <a:cs typeface="Calibri"/>
              </a:rPr>
              <a:t>Anyone in the room gets the idea in 30 seconds — no jargon walls.</a:t>
            </a:r>
            <a:endParaRPr sz="1450">
              <a:solidFill>
                <a:schemeClr val="lt1"/>
              </a:solidFill>
              <a:latin typeface="Calibri"/>
              <a:ea typeface="Calibri"/>
              <a:cs typeface="Calibri"/>
            </a:endParaRPr>
          </a:p>
        </p:txBody>
      </p:sp>
      <p:sp>
        <p:nvSpPr>
          <p:cNvPr id="88" name="Google Shape;88;p4">
            <a:extLst xmlns:a="http://schemas.openxmlformats.org/drawingml/2006/main">
              <a:ext uri="{FF2B5EF4-FFF2-40B4-BE49-F238E27FC236}">
                <a16:creationId xmlns:a16="http://schemas.microsoft.com/office/drawing/2014/main" id="{522475AB-B00E-4EAF-9BA1-A9C81D1F1109}"/>
              </a:ext>
            </a:extLst>
          </p:cNvPr>
          <p:cNvSpPr>
            <a:spLocks xmlns:a="http://schemas.openxmlformats.org/drawingml/2006/main" noGrp="1"/>
          </p:cNvSpPr>
          <p:nvPr/>
        </p:nvSpPr>
        <p:spPr>
          <a:xfrm xmlns:a="http://schemas.openxmlformats.org/drawingml/2006/main">
            <a:off x="6309360" y="1886320"/>
            <a:ext cx="5074920" cy="1828800"/>
          </a:xfrm>
          <a:prstGeom xmlns:a="http://schemas.openxmlformats.org/drawingml/2006/main" prst="roundRect">
            <a:avLst>
              <a:gd name="adj" fmla="val 4000"/>
            </a:avLst>
          </a:prstGeom>
          <a:solidFill xmlns:a="http://schemas.openxmlformats.org/drawingml/2006/main">
            <a:srgbClr val="262626"/>
          </a:solidFill>
          <a:ln xmlns:a="http://schemas.openxmlformats.org/drawingml/2006/main">
            <a:noFill/>
          </a:ln>
          <a:effectLst xmlns:a="http://schemas.openxmlformats.org/drawingml/2006/main">
            <a:outerShdw blurRad="88900" dist="25400" dir="5400000" algn="bl" rotWithShape="0">
              <a:srgbClr val="000000">
                <a:alpha val="18039"/>
              </a:srgbClr>
            </a:outerShdw>
          </a:effectLst>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lt1"/>
              </a:solidFill>
              <a:latin typeface="Calibri"/>
              <a:ea typeface="Calibri"/>
              <a:cs typeface="Calibri"/>
            </a:endParaRPr>
          </a:p>
        </p:txBody>
      </p:sp>
      <p:sp>
        <p:nvSpPr>
          <p:cNvPr id="89" name="Google Shape;89;p4">
            <a:extLst xmlns:a="http://schemas.openxmlformats.org/drawingml/2006/main">
              <a:ext uri="{FF2B5EF4-FFF2-40B4-BE49-F238E27FC236}">
                <a16:creationId xmlns:a16="http://schemas.microsoft.com/office/drawing/2014/main" id="{86B62CE3-012E-48E2-97FE-C440D81F7F06}"/>
              </a:ext>
            </a:extLst>
          </p:cNvPr>
          <p:cNvSpPr>
            <a:spLocks xmlns:a="http://schemas.openxmlformats.org/drawingml/2006/main" noGrp="1"/>
          </p:cNvSpPr>
          <p:nvPr/>
        </p:nvSpPr>
        <p:spPr>
          <a:xfrm xmlns:a="http://schemas.openxmlformats.org/drawingml/2006/main">
            <a:off x="6629400" y="2206360"/>
            <a:ext cx="640080" cy="640080"/>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lt1"/>
              </a:solidFill>
              <a:latin typeface="Calibri"/>
              <a:ea typeface="Calibri"/>
              <a:cs typeface="Calibri"/>
            </a:endParaRPr>
          </a:p>
        </p:txBody>
      </p:sp>
      <p:pic>
        <p:nvPicPr>
          <p:cNvPr id="90" name="Google Shape;90;p4">
            <a:extLst xmlns:a="http://schemas.openxmlformats.org/drawingml/2006/main">
              <a:ext uri="{FF2B5EF4-FFF2-40B4-BE49-F238E27FC236}">
                <a16:creationId xmlns:a16="http://schemas.microsoft.com/office/drawing/2014/main" id="{0200B278-C2C8-4634-80BC-B0B4AE39A6E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609b60e08704ad8">
            <a:alphaModFix/>
          </a:blip>
          <a:srcRect xmlns:a="http://schemas.openxmlformats.org/drawingml/2006/main" l="0" t="0" r="0" b="0"/>
          <a:stretch xmlns:a="http://schemas.openxmlformats.org/drawingml/2006/main"/>
        </p:blipFill>
        <p:spPr>
          <a:xfrm xmlns:a="http://schemas.openxmlformats.org/drawingml/2006/main">
            <a:off x="6775704" y="2352664"/>
            <a:ext cx="347472" cy="347472"/>
          </a:xfrm>
          <a:prstGeom xmlns:a="http://schemas.openxmlformats.org/drawingml/2006/main" prst="rect">
            <a:avLst/>
          </a:prstGeom>
          <a:ln xmlns:a="http://schemas.openxmlformats.org/drawingml/2006/main">
            <a:noFill/>
          </a:ln>
        </p:spPr>
      </p:pic>
      <p:sp>
        <p:nvSpPr>
          <p:cNvPr id="91" name="Google Shape;91;p4">
            <a:extLst xmlns:a="http://schemas.openxmlformats.org/drawingml/2006/main">
              <a:ext uri="{FF2B5EF4-FFF2-40B4-BE49-F238E27FC236}">
                <a16:creationId xmlns:a16="http://schemas.microsoft.com/office/drawing/2014/main" id="{41A767C9-1465-424F-8948-DDE294364DC4}"/>
              </a:ext>
            </a:extLst>
          </p:cNvPr>
          <p:cNvSpPr>
            <a:spLocks xmlns:a="http://schemas.openxmlformats.org/drawingml/2006/main" noGrp="1"/>
          </p:cNvSpPr>
          <p:nvPr/>
        </p:nvSpPr>
        <p:spPr>
          <a:xfrm xmlns:a="http://schemas.openxmlformats.org/drawingml/2006/main">
            <a:off x="7498080" y="2206360"/>
            <a:ext cx="365760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2100"/>
              <a:buFont typeface="Cambria"/>
              <a:buNone/>
            </a:pPr>
            <a:r>
              <a:rPr sz="2100" b="1">
                <a:solidFill>
                  <a:schemeClr val="lt1"/>
                </a:solidFill>
                <a:latin typeface="Cambria"/>
                <a:ea typeface="Cambria"/>
                <a:cs typeface="Cambria"/>
              </a:rPr>
              <a:t>Working proof</a:t>
            </a:r>
            <a:endParaRPr sz="2100">
              <a:solidFill>
                <a:schemeClr val="lt1"/>
              </a:solidFill>
              <a:latin typeface="Calibri"/>
              <a:ea typeface="Calibri"/>
              <a:cs typeface="Calibri"/>
            </a:endParaRPr>
          </a:p>
        </p:txBody>
      </p:sp>
      <p:sp>
        <p:nvSpPr>
          <p:cNvPr id="92" name="Google Shape;92;p4">
            <a:extLst xmlns:a="http://schemas.openxmlformats.org/drawingml/2006/main">
              <a:ext uri="{FF2B5EF4-FFF2-40B4-BE49-F238E27FC236}">
                <a16:creationId xmlns:a16="http://schemas.microsoft.com/office/drawing/2014/main" id="{01A51F9D-959C-4C37-87B1-A5A450FD705B}"/>
              </a:ext>
            </a:extLst>
          </p:cNvPr>
          <p:cNvSpPr>
            <a:spLocks xmlns:a="http://schemas.openxmlformats.org/drawingml/2006/main" noGrp="1"/>
          </p:cNvSpPr>
          <p:nvPr/>
        </p:nvSpPr>
        <p:spPr>
          <a:xfrm xmlns:a="http://schemas.openxmlformats.org/drawingml/2006/main">
            <a:off x="6675120" y="2892160"/>
            <a:ext cx="434340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450"/>
              <a:buFont typeface="Calibri"/>
              <a:buNone/>
            </a:pPr>
            <a:r>
              <a:rPr sz="1450">
                <a:solidFill>
                  <a:schemeClr val="lt1"/>
                </a:solidFill>
                <a:latin typeface="Calibri"/>
                <a:ea typeface="Calibri"/>
                <a:cs typeface="Calibri"/>
              </a:rPr>
              <a:t>A live demo beats slides. Show it doing the thing.</a:t>
            </a:r>
            <a:endParaRPr sz="1450">
              <a:solidFill>
                <a:schemeClr val="lt1"/>
              </a:solidFill>
              <a:latin typeface="Calibri"/>
              <a:ea typeface="Calibri"/>
              <a:cs typeface="Calibri"/>
            </a:endParaRPr>
          </a:p>
        </p:txBody>
      </p:sp>
      <p:sp>
        <p:nvSpPr>
          <p:cNvPr id="93" name="Google Shape;93;p4">
            <a:extLst xmlns:a="http://schemas.openxmlformats.org/drawingml/2006/main">
              <a:ext uri="{FF2B5EF4-FFF2-40B4-BE49-F238E27FC236}">
                <a16:creationId xmlns:a16="http://schemas.microsoft.com/office/drawing/2014/main" id="{B37A94D5-5A5E-4F80-A250-851878BC77AC}"/>
              </a:ext>
            </a:extLst>
          </p:cNvPr>
          <p:cNvSpPr>
            <a:spLocks xmlns:a="http://schemas.openxmlformats.org/drawingml/2006/main" noGrp="1"/>
          </p:cNvSpPr>
          <p:nvPr/>
        </p:nvSpPr>
        <p:spPr>
          <a:xfrm xmlns:a="http://schemas.openxmlformats.org/drawingml/2006/main">
            <a:off x="777240" y="4126600"/>
            <a:ext cx="5074920" cy="1828800"/>
          </a:xfrm>
          <a:prstGeom xmlns:a="http://schemas.openxmlformats.org/drawingml/2006/main" prst="roundRect">
            <a:avLst>
              <a:gd name="adj" fmla="val 4000"/>
            </a:avLst>
          </a:prstGeom>
          <a:solidFill xmlns:a="http://schemas.openxmlformats.org/drawingml/2006/main">
            <a:srgbClr val="262626"/>
          </a:solidFill>
          <a:ln xmlns:a="http://schemas.openxmlformats.org/drawingml/2006/main">
            <a:noFill/>
          </a:ln>
          <a:effectLst xmlns:a="http://schemas.openxmlformats.org/drawingml/2006/main">
            <a:outerShdw blurRad="88900" dist="25400" dir="5400000" algn="bl" rotWithShape="0">
              <a:srgbClr val="000000">
                <a:alpha val="18039"/>
              </a:srgbClr>
            </a:outerShdw>
          </a:effectLst>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lt1"/>
              </a:solidFill>
              <a:latin typeface="Calibri"/>
              <a:ea typeface="Calibri"/>
              <a:cs typeface="Calibri"/>
            </a:endParaRPr>
          </a:p>
        </p:txBody>
      </p:sp>
      <p:sp>
        <p:nvSpPr>
          <p:cNvPr id="94" name="Google Shape;94;p4">
            <a:extLst xmlns:a="http://schemas.openxmlformats.org/drawingml/2006/main">
              <a:ext uri="{FF2B5EF4-FFF2-40B4-BE49-F238E27FC236}">
                <a16:creationId xmlns:a16="http://schemas.microsoft.com/office/drawing/2014/main" id="{D61F2BDC-9CFB-4A12-8597-D99DE5D0A1F9}"/>
              </a:ext>
            </a:extLst>
          </p:cNvPr>
          <p:cNvSpPr>
            <a:spLocks xmlns:a="http://schemas.openxmlformats.org/drawingml/2006/main" noGrp="1"/>
          </p:cNvSpPr>
          <p:nvPr/>
        </p:nvSpPr>
        <p:spPr>
          <a:xfrm xmlns:a="http://schemas.openxmlformats.org/drawingml/2006/main">
            <a:off x="1097280" y="4446640"/>
            <a:ext cx="640080" cy="640080"/>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lt1"/>
              </a:solidFill>
              <a:latin typeface="Calibri"/>
              <a:ea typeface="Calibri"/>
              <a:cs typeface="Calibri"/>
            </a:endParaRPr>
          </a:p>
        </p:txBody>
      </p:sp>
      <p:pic>
        <p:nvPicPr>
          <p:cNvPr id="95" name="Google Shape;95;p4">
            <a:extLst xmlns:a="http://schemas.openxmlformats.org/drawingml/2006/main">
              <a:ext uri="{FF2B5EF4-FFF2-40B4-BE49-F238E27FC236}">
                <a16:creationId xmlns:a16="http://schemas.microsoft.com/office/drawing/2014/main" id="{21BC9B3B-3E24-4C3E-B7C3-8534419E2E7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46e75df1bc049d3">
            <a:alphaModFix/>
          </a:blip>
          <a:srcRect xmlns:a="http://schemas.openxmlformats.org/drawingml/2006/main" l="0" t="0" r="0" b="0"/>
          <a:stretch xmlns:a="http://schemas.openxmlformats.org/drawingml/2006/main"/>
        </p:blipFill>
        <p:spPr>
          <a:xfrm xmlns:a="http://schemas.openxmlformats.org/drawingml/2006/main">
            <a:off x="1243584" y="4592944"/>
            <a:ext cx="347472" cy="347472"/>
          </a:xfrm>
          <a:prstGeom xmlns:a="http://schemas.openxmlformats.org/drawingml/2006/main" prst="rect">
            <a:avLst/>
          </a:prstGeom>
          <a:ln xmlns:a="http://schemas.openxmlformats.org/drawingml/2006/main">
            <a:noFill/>
          </a:ln>
        </p:spPr>
      </p:pic>
      <p:sp>
        <p:nvSpPr>
          <p:cNvPr id="96" name="Google Shape;96;p4">
            <a:extLst xmlns:a="http://schemas.openxmlformats.org/drawingml/2006/main">
              <a:ext uri="{FF2B5EF4-FFF2-40B4-BE49-F238E27FC236}">
                <a16:creationId xmlns:a16="http://schemas.microsoft.com/office/drawing/2014/main" id="{1AF9EDBC-2FD5-4CD7-A46C-B8F1E442FE4E}"/>
              </a:ext>
            </a:extLst>
          </p:cNvPr>
          <p:cNvSpPr>
            <a:spLocks xmlns:a="http://schemas.openxmlformats.org/drawingml/2006/main" noGrp="1"/>
          </p:cNvSpPr>
          <p:nvPr/>
        </p:nvSpPr>
        <p:spPr>
          <a:xfrm xmlns:a="http://schemas.openxmlformats.org/drawingml/2006/main">
            <a:off x="1965960" y="4446640"/>
            <a:ext cx="365760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2100"/>
              <a:buFont typeface="Cambria"/>
              <a:buNone/>
            </a:pPr>
            <a:r>
              <a:rPr sz="2100" b="1">
                <a:solidFill>
                  <a:schemeClr val="lt1"/>
                </a:solidFill>
                <a:latin typeface="Cambria"/>
                <a:ea typeface="Cambria"/>
                <a:cs typeface="Cambria"/>
              </a:rPr>
              <a:t>Real impact</a:t>
            </a:r>
            <a:endParaRPr sz="2100">
              <a:solidFill>
                <a:schemeClr val="lt1"/>
              </a:solidFill>
              <a:latin typeface="Calibri"/>
              <a:ea typeface="Calibri"/>
              <a:cs typeface="Calibri"/>
            </a:endParaRPr>
          </a:p>
        </p:txBody>
      </p:sp>
      <p:sp>
        <p:nvSpPr>
          <p:cNvPr id="97" name="Google Shape;97;p4">
            <a:extLst xmlns:a="http://schemas.openxmlformats.org/drawingml/2006/main">
              <a:ext uri="{FF2B5EF4-FFF2-40B4-BE49-F238E27FC236}">
                <a16:creationId xmlns:a16="http://schemas.microsoft.com/office/drawing/2014/main" id="{E53AC964-F67C-4227-960D-90B85244F77B}"/>
              </a:ext>
            </a:extLst>
          </p:cNvPr>
          <p:cNvSpPr>
            <a:spLocks xmlns:a="http://schemas.openxmlformats.org/drawingml/2006/main" noGrp="1"/>
          </p:cNvSpPr>
          <p:nvPr/>
        </p:nvSpPr>
        <p:spPr>
          <a:xfrm xmlns:a="http://schemas.openxmlformats.org/drawingml/2006/main">
            <a:off x="1143000" y="5132440"/>
            <a:ext cx="434340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450"/>
              <a:buFont typeface="Calibri"/>
              <a:buNone/>
            </a:pPr>
            <a:r>
              <a:rPr sz="1450">
                <a:solidFill>
                  <a:schemeClr val="lt1"/>
                </a:solidFill>
                <a:latin typeface="Calibri"/>
                <a:ea typeface="Calibri"/>
                <a:cs typeface="Calibri"/>
              </a:rPr>
              <a:t>Tie it to a genuine defence/security need, not a generic one.</a:t>
            </a:r>
            <a:endParaRPr sz="1450">
              <a:solidFill>
                <a:schemeClr val="lt1"/>
              </a:solidFill>
              <a:latin typeface="Calibri"/>
              <a:ea typeface="Calibri"/>
              <a:cs typeface="Calibri"/>
            </a:endParaRPr>
          </a:p>
        </p:txBody>
      </p:sp>
      <p:sp>
        <p:nvSpPr>
          <p:cNvPr id="98" name="Google Shape;98;p4">
            <a:extLst xmlns:a="http://schemas.openxmlformats.org/drawingml/2006/main">
              <a:ext uri="{FF2B5EF4-FFF2-40B4-BE49-F238E27FC236}">
                <a16:creationId xmlns:a16="http://schemas.microsoft.com/office/drawing/2014/main" id="{EA6870C4-51FC-404B-B64C-454852665432}"/>
              </a:ext>
            </a:extLst>
          </p:cNvPr>
          <p:cNvSpPr>
            <a:spLocks xmlns:a="http://schemas.openxmlformats.org/drawingml/2006/main" noGrp="1"/>
          </p:cNvSpPr>
          <p:nvPr/>
        </p:nvSpPr>
        <p:spPr>
          <a:xfrm xmlns:a="http://schemas.openxmlformats.org/drawingml/2006/main">
            <a:off x="6309360" y="4126600"/>
            <a:ext cx="5074920" cy="1828800"/>
          </a:xfrm>
          <a:prstGeom xmlns:a="http://schemas.openxmlformats.org/drawingml/2006/main" prst="roundRect">
            <a:avLst>
              <a:gd name="adj" fmla="val 4000"/>
            </a:avLst>
          </a:prstGeom>
          <a:solidFill xmlns:a="http://schemas.openxmlformats.org/drawingml/2006/main">
            <a:srgbClr val="262626"/>
          </a:solidFill>
          <a:ln xmlns:a="http://schemas.openxmlformats.org/drawingml/2006/main">
            <a:noFill/>
          </a:ln>
          <a:effectLst xmlns:a="http://schemas.openxmlformats.org/drawingml/2006/main">
            <a:outerShdw blurRad="88900" dist="25400" dir="5400000" algn="bl" rotWithShape="0">
              <a:srgbClr val="000000">
                <a:alpha val="18039"/>
              </a:srgbClr>
            </a:outerShdw>
          </a:effectLst>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lt1"/>
              </a:solidFill>
              <a:latin typeface="Calibri"/>
              <a:ea typeface="Calibri"/>
              <a:cs typeface="Calibri"/>
            </a:endParaRPr>
          </a:p>
        </p:txBody>
      </p:sp>
      <p:sp>
        <p:nvSpPr>
          <p:cNvPr id="99" name="Google Shape;99;p4">
            <a:extLst xmlns:a="http://schemas.openxmlformats.org/drawingml/2006/main">
              <a:ext uri="{FF2B5EF4-FFF2-40B4-BE49-F238E27FC236}">
                <a16:creationId xmlns:a16="http://schemas.microsoft.com/office/drawing/2014/main" id="{218E5B12-9BF5-49E9-87BB-1C261E2877C3}"/>
              </a:ext>
            </a:extLst>
          </p:cNvPr>
          <p:cNvSpPr>
            <a:spLocks xmlns:a="http://schemas.openxmlformats.org/drawingml/2006/main" noGrp="1"/>
          </p:cNvSpPr>
          <p:nvPr/>
        </p:nvSpPr>
        <p:spPr>
          <a:xfrm xmlns:a="http://schemas.openxmlformats.org/drawingml/2006/main">
            <a:off x="6629400" y="4446640"/>
            <a:ext cx="640080" cy="640080"/>
          </a:xfrm>
          <a:prstGeom xmlns:a="http://schemas.openxmlformats.org/drawingml/2006/main" prst="ellipse">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lt1"/>
              </a:solidFill>
              <a:latin typeface="Calibri"/>
              <a:ea typeface="Calibri"/>
              <a:cs typeface="Calibri"/>
            </a:endParaRPr>
          </a:p>
        </p:txBody>
      </p:sp>
      <p:pic>
        <p:nvPicPr>
          <p:cNvPr id="100" name="Google Shape;100;p4">
            <a:extLst xmlns:a="http://schemas.openxmlformats.org/drawingml/2006/main">
              <a:ext uri="{FF2B5EF4-FFF2-40B4-BE49-F238E27FC236}">
                <a16:creationId xmlns:a16="http://schemas.microsoft.com/office/drawing/2014/main" id="{FC954184-BC4B-4FB4-8F4E-343AA245CA7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49065c99acc4df3">
            <a:alphaModFix/>
          </a:blip>
          <a:srcRect xmlns:a="http://schemas.openxmlformats.org/drawingml/2006/main" l="0" t="0" r="0" b="0"/>
          <a:stretch xmlns:a="http://schemas.openxmlformats.org/drawingml/2006/main"/>
        </p:blipFill>
        <p:spPr>
          <a:xfrm xmlns:a="http://schemas.openxmlformats.org/drawingml/2006/main">
            <a:off x="6775704" y="4592944"/>
            <a:ext cx="347472" cy="347472"/>
          </a:xfrm>
          <a:prstGeom xmlns:a="http://schemas.openxmlformats.org/drawingml/2006/main" prst="rect">
            <a:avLst/>
          </a:prstGeom>
          <a:ln xmlns:a="http://schemas.openxmlformats.org/drawingml/2006/main">
            <a:noFill/>
          </a:ln>
        </p:spPr>
      </p:pic>
      <p:sp>
        <p:nvSpPr>
          <p:cNvPr id="101" name="Google Shape;101;p4">
            <a:extLst xmlns:a="http://schemas.openxmlformats.org/drawingml/2006/main">
              <a:ext uri="{FF2B5EF4-FFF2-40B4-BE49-F238E27FC236}">
                <a16:creationId xmlns:a16="http://schemas.microsoft.com/office/drawing/2014/main" id="{BA20757C-FDE6-4C1A-B5EC-70538CBC8AB3}"/>
              </a:ext>
            </a:extLst>
          </p:cNvPr>
          <p:cNvSpPr>
            <a:spLocks xmlns:a="http://schemas.openxmlformats.org/drawingml/2006/main" noGrp="1"/>
          </p:cNvSpPr>
          <p:nvPr/>
        </p:nvSpPr>
        <p:spPr>
          <a:xfrm xmlns:a="http://schemas.openxmlformats.org/drawingml/2006/main">
            <a:off x="7498080" y="4446640"/>
            <a:ext cx="3657600"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2100"/>
              <a:buFont typeface="Cambria"/>
              <a:buNone/>
            </a:pPr>
            <a:r>
              <a:rPr sz="2100" b="1">
                <a:solidFill>
                  <a:schemeClr val="lt1"/>
                </a:solidFill>
                <a:latin typeface="Cambria"/>
                <a:ea typeface="Cambria"/>
                <a:cs typeface="Cambria"/>
              </a:rPr>
              <a:t>Credible team</a:t>
            </a:r>
            <a:endParaRPr sz="2100">
              <a:solidFill>
                <a:schemeClr val="lt1"/>
              </a:solidFill>
              <a:latin typeface="Calibri"/>
              <a:ea typeface="Calibri"/>
              <a:cs typeface="Calibri"/>
            </a:endParaRPr>
          </a:p>
        </p:txBody>
      </p:sp>
      <p:sp>
        <p:nvSpPr>
          <p:cNvPr id="102" name="Google Shape;102;p4">
            <a:extLst xmlns:a="http://schemas.openxmlformats.org/drawingml/2006/main">
              <a:ext uri="{FF2B5EF4-FFF2-40B4-BE49-F238E27FC236}">
                <a16:creationId xmlns:a16="http://schemas.microsoft.com/office/drawing/2014/main" id="{DBEF9AF2-DD6D-4C87-B648-6698D35319F2}"/>
              </a:ext>
            </a:extLst>
          </p:cNvPr>
          <p:cNvSpPr>
            <a:spLocks xmlns:a="http://schemas.openxmlformats.org/drawingml/2006/main" noGrp="1"/>
          </p:cNvSpPr>
          <p:nvPr/>
        </p:nvSpPr>
        <p:spPr>
          <a:xfrm xmlns:a="http://schemas.openxmlformats.org/drawingml/2006/main">
            <a:off x="6675120" y="5132440"/>
            <a:ext cx="4343400" cy="731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450"/>
              <a:buFont typeface="Calibri"/>
              <a:buNone/>
            </a:pPr>
            <a:r>
              <a:rPr sz="1450">
                <a:solidFill>
                  <a:schemeClr val="lt1"/>
                </a:solidFill>
                <a:latin typeface="Calibri"/>
                <a:ea typeface="Calibri"/>
                <a:cs typeface="Calibri"/>
              </a:rPr>
              <a:t>Why this team executes — skills, speed, conviction.</a:t>
            </a:r>
            <a:endParaRPr sz="1450">
              <a:solidFill>
                <a:schemeClr val="lt1"/>
              </a:solidFill>
              <a:latin typeface="Calibri"/>
              <a:ea typeface="Calibri"/>
              <a:cs typeface="Calibri"/>
            </a:endParaRPr>
          </a:p>
        </p:txBody>
      </p:sp>
    </p:spTree>
    <p:extLst>
      <p:ext uri="{BB962C8B-B14F-4D97-AF65-F5344CB8AC3E}">
        <p14:creationId xmlns:p14="http://schemas.microsoft.com/office/powerpoint/2010/main" val="2188728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8" name="Google Shape;108;p5">
            <a:extLst xmlns:a="http://schemas.openxmlformats.org/drawingml/2006/main">
              <a:ext uri="{FF2B5EF4-FFF2-40B4-BE49-F238E27FC236}">
                <a16:creationId xmlns:a16="http://schemas.microsoft.com/office/drawing/2014/main" id="{62F679FA-7071-416C-96B8-2C8424CE641D}"/>
              </a:ext>
            </a:extLst>
          </p:cNvPr>
          <p:cNvSpPr>
            <a:spLocks xmlns:a="http://schemas.openxmlformats.org/drawingml/2006/main" noGrp="1"/>
          </p:cNvSpPr>
          <p:nvPr/>
        </p:nvSpPr>
        <p:spPr>
          <a:xfrm xmlns:a="http://schemas.openxmlformats.org/drawingml/2006/main">
            <a:off x="487680" y="755904"/>
            <a:ext cx="10972800" cy="85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5333" b="1">
                <a:solidFill>
                  <a:schemeClr val="dk1"/>
                </a:solidFill>
                <a:latin typeface="Calibri"/>
                <a:ea typeface="Calibri"/>
                <a:cs typeface="Calibri"/>
              </a:rPr>
              <a:t>Delivery: The 3-Minute Rules</a:t>
            </a:r>
            <a:endParaRPr/>
          </a:p>
        </p:txBody>
      </p:sp>
      <p:sp>
        <p:nvSpPr>
          <p:cNvPr id="109" name="Google Shape;109;p5">
            <a:extLst xmlns:a="http://schemas.openxmlformats.org/drawingml/2006/main">
              <a:ext uri="{FF2B5EF4-FFF2-40B4-BE49-F238E27FC236}">
                <a16:creationId xmlns:a16="http://schemas.microsoft.com/office/drawing/2014/main" id="{73FC6649-E076-47A2-AFCB-0AA0613CE872}"/>
              </a:ext>
            </a:extLst>
          </p:cNvPr>
          <p:cNvSpPr>
            <a:spLocks xmlns:a="http://schemas.openxmlformats.org/drawingml/2006/main" noGrp="1"/>
          </p:cNvSpPr>
          <p:nvPr/>
        </p:nvSpPr>
        <p:spPr>
          <a:xfrm xmlns:a="http://schemas.openxmlformats.org/drawingml/2006/main">
            <a:off x="777240" y="1758003"/>
            <a:ext cx="10607040" cy="1051560"/>
          </a:xfrm>
          <a:prstGeom xmlns:a="http://schemas.openxmlformats.org/drawingml/2006/main" prst="roundRect">
            <a:avLst>
              <a:gd name="adj" fmla="val 6957"/>
            </a:avLst>
          </a:prstGeom>
          <a:solidFill xmlns:a="http://schemas.openxmlformats.org/drawingml/2006/main">
            <a:srgbClr val="262626"/>
          </a:solidFill>
          <a:ln xmlns:a="http://schemas.openxmlformats.org/drawingml/2006/main">
            <a:noFill/>
          </a:ln>
          <a:effectLst xmlns:a="http://schemas.openxmlformats.org/drawingml/2006/main">
            <a:outerShdw blurRad="88900" dist="25400" dir="5400000" algn="bl" rotWithShape="0">
              <a:srgbClr val="000000">
                <a:alpha val="18039"/>
              </a:srgbClr>
            </a:outerShdw>
          </a:effectLst>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0" name="Google Shape;110;p5">
            <a:extLst xmlns:a="http://schemas.openxmlformats.org/drawingml/2006/main">
              <a:ext uri="{FF2B5EF4-FFF2-40B4-BE49-F238E27FC236}">
                <a16:creationId xmlns:a16="http://schemas.microsoft.com/office/drawing/2014/main" id="{56BAA305-2008-49E3-97C7-DF050C876080}"/>
              </a:ext>
            </a:extLst>
          </p:cNvPr>
          <p:cNvSpPr>
            <a:spLocks xmlns:a="http://schemas.openxmlformats.org/drawingml/2006/main" noGrp="1"/>
          </p:cNvSpPr>
          <p:nvPr/>
        </p:nvSpPr>
        <p:spPr>
          <a:xfrm xmlns:a="http://schemas.openxmlformats.org/drawingml/2006/main">
            <a:off x="1005840" y="2032323"/>
            <a:ext cx="502920" cy="502920"/>
          </a:xfrm>
          <a:prstGeom xmlns:a="http://schemas.openxmlformats.org/drawingml/2006/main" prst="ellipse">
            <a:avLst/>
          </a:prstGeom>
          <a:solidFill xmlns:a="http://schemas.openxmlformats.org/drawingml/2006/main">
            <a:srgbClr val="F2A900"/>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lt1"/>
              </a:solidFill>
              <a:latin typeface="Calibri"/>
              <a:ea typeface="Calibri"/>
              <a:cs typeface="Calibri"/>
            </a:endParaRPr>
          </a:p>
        </p:txBody>
      </p:sp>
      <p:pic>
        <p:nvPicPr>
          <p:cNvPr id="111" name="Google Shape;111;p5">
            <a:extLst xmlns:a="http://schemas.openxmlformats.org/drawingml/2006/main">
              <a:ext uri="{FF2B5EF4-FFF2-40B4-BE49-F238E27FC236}">
                <a16:creationId xmlns:a16="http://schemas.microsoft.com/office/drawing/2014/main" id="{832DABBB-0149-4247-9AAC-A8FED7B38B1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20c877e36484574">
            <a:alphaModFix/>
          </a:blip>
          <a:srcRect xmlns:a="http://schemas.openxmlformats.org/drawingml/2006/main" l="0" t="0" r="0" b="0"/>
          <a:stretch xmlns:a="http://schemas.openxmlformats.org/drawingml/2006/main"/>
        </p:blipFill>
        <p:spPr>
          <a:xfrm xmlns:a="http://schemas.openxmlformats.org/drawingml/2006/main">
            <a:off x="1129284" y="2155767"/>
            <a:ext cx="256032" cy="256032"/>
          </a:xfrm>
          <a:prstGeom xmlns:a="http://schemas.openxmlformats.org/drawingml/2006/main" prst="rect">
            <a:avLst/>
          </a:prstGeom>
          <a:ln xmlns:a="http://schemas.openxmlformats.org/drawingml/2006/main">
            <a:noFill/>
          </a:ln>
        </p:spPr>
      </p:pic>
      <p:sp>
        <p:nvSpPr>
          <p:cNvPr id="112" name="Google Shape;112;p5">
            <a:extLst xmlns:a="http://schemas.openxmlformats.org/drawingml/2006/main">
              <a:ext uri="{FF2B5EF4-FFF2-40B4-BE49-F238E27FC236}">
                <a16:creationId xmlns:a16="http://schemas.microsoft.com/office/drawing/2014/main" id="{18D64E53-9AE8-4D9E-B181-B59AB872FD0F}"/>
              </a:ext>
            </a:extLst>
          </p:cNvPr>
          <p:cNvSpPr>
            <a:spLocks xmlns:a="http://schemas.openxmlformats.org/drawingml/2006/main" noGrp="1"/>
          </p:cNvSpPr>
          <p:nvPr/>
        </p:nvSpPr>
        <p:spPr>
          <a:xfrm xmlns:a="http://schemas.openxmlformats.org/drawingml/2006/main">
            <a:off x="1783080" y="1904307"/>
            <a:ext cx="86868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900"/>
              <a:buFont typeface="Cambria"/>
              <a:buNone/>
            </a:pPr>
            <a:r>
              <a:rPr sz="1900" b="1">
                <a:solidFill>
                  <a:schemeClr val="lt1"/>
                </a:solidFill>
                <a:latin typeface="Cambria"/>
                <a:ea typeface="Cambria"/>
                <a:cs typeface="Cambria"/>
              </a:rPr>
              <a:t>Respect the clock</a:t>
            </a:r>
            <a:endParaRPr sz="1900">
              <a:solidFill>
                <a:schemeClr val="lt1"/>
              </a:solidFill>
              <a:latin typeface="Calibri"/>
              <a:ea typeface="Calibri"/>
              <a:cs typeface="Calibri"/>
            </a:endParaRPr>
          </a:p>
        </p:txBody>
      </p:sp>
      <p:sp>
        <p:nvSpPr>
          <p:cNvPr id="113" name="Google Shape;113;p5">
            <a:extLst xmlns:a="http://schemas.openxmlformats.org/drawingml/2006/main">
              <a:ext uri="{FF2B5EF4-FFF2-40B4-BE49-F238E27FC236}">
                <a16:creationId xmlns:a16="http://schemas.microsoft.com/office/drawing/2014/main" id="{90E0D435-FB7D-4534-ACF2-F6C29C264001}"/>
              </a:ext>
            </a:extLst>
          </p:cNvPr>
          <p:cNvSpPr>
            <a:spLocks xmlns:a="http://schemas.openxmlformats.org/drawingml/2006/main" noGrp="1"/>
          </p:cNvSpPr>
          <p:nvPr/>
        </p:nvSpPr>
        <p:spPr>
          <a:xfrm xmlns:a="http://schemas.openxmlformats.org/drawingml/2006/main">
            <a:off x="1783080" y="2288355"/>
            <a:ext cx="93268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450"/>
              <a:buFont typeface="Calibri"/>
              <a:buNone/>
            </a:pPr>
            <a:r>
              <a:rPr sz="1450">
                <a:solidFill>
                  <a:schemeClr val="lt1"/>
                </a:solidFill>
                <a:latin typeface="Calibri"/>
                <a:ea typeface="Calibri"/>
                <a:cs typeface="Calibri"/>
              </a:rPr>
              <a:t>Rehearse to 90% of the limit. Running over reads as unprepared.</a:t>
            </a:r>
            <a:endParaRPr sz="1450">
              <a:solidFill>
                <a:schemeClr val="lt1"/>
              </a:solidFill>
              <a:latin typeface="Calibri"/>
              <a:ea typeface="Calibri"/>
              <a:cs typeface="Calibri"/>
            </a:endParaRPr>
          </a:p>
        </p:txBody>
      </p:sp>
      <p:sp>
        <p:nvSpPr>
          <p:cNvPr id="114" name="Google Shape;114;p5">
            <a:extLst xmlns:a="http://schemas.openxmlformats.org/drawingml/2006/main">
              <a:ext uri="{FF2B5EF4-FFF2-40B4-BE49-F238E27FC236}">
                <a16:creationId xmlns:a16="http://schemas.microsoft.com/office/drawing/2014/main" id="{055B9FBD-5690-435C-A49D-0F1F39926718}"/>
              </a:ext>
            </a:extLst>
          </p:cNvPr>
          <p:cNvSpPr>
            <a:spLocks xmlns:a="http://schemas.openxmlformats.org/drawingml/2006/main" noGrp="1"/>
          </p:cNvSpPr>
          <p:nvPr/>
        </p:nvSpPr>
        <p:spPr>
          <a:xfrm xmlns:a="http://schemas.openxmlformats.org/drawingml/2006/main">
            <a:off x="777240" y="2919291"/>
            <a:ext cx="10607040" cy="1051560"/>
          </a:xfrm>
          <a:prstGeom xmlns:a="http://schemas.openxmlformats.org/drawingml/2006/main" prst="roundRect">
            <a:avLst>
              <a:gd name="adj" fmla="val 6957"/>
            </a:avLst>
          </a:prstGeom>
          <a:solidFill xmlns:a="http://schemas.openxmlformats.org/drawingml/2006/main">
            <a:srgbClr val="262626"/>
          </a:solidFill>
          <a:ln xmlns:a="http://schemas.openxmlformats.org/drawingml/2006/main">
            <a:noFill/>
          </a:ln>
          <a:effectLst xmlns:a="http://schemas.openxmlformats.org/drawingml/2006/main">
            <a:outerShdw blurRad="88900" dist="25400" dir="5400000" algn="bl" rotWithShape="0">
              <a:srgbClr val="000000">
                <a:alpha val="18039"/>
              </a:srgbClr>
            </a:outerShdw>
          </a:effectLst>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lt1"/>
              </a:solidFill>
              <a:latin typeface="Calibri"/>
              <a:ea typeface="Calibri"/>
              <a:cs typeface="Calibri"/>
            </a:endParaRPr>
          </a:p>
        </p:txBody>
      </p:sp>
      <p:sp>
        <p:nvSpPr>
          <p:cNvPr id="115" name="Google Shape;115;p5">
            <a:extLst xmlns:a="http://schemas.openxmlformats.org/drawingml/2006/main">
              <a:ext uri="{FF2B5EF4-FFF2-40B4-BE49-F238E27FC236}">
                <a16:creationId xmlns:a16="http://schemas.microsoft.com/office/drawing/2014/main" id="{83DE5C71-F353-45D2-8B5F-2A83FCE9F485}"/>
              </a:ext>
            </a:extLst>
          </p:cNvPr>
          <p:cNvSpPr>
            <a:spLocks xmlns:a="http://schemas.openxmlformats.org/drawingml/2006/main" noGrp="1"/>
          </p:cNvSpPr>
          <p:nvPr/>
        </p:nvSpPr>
        <p:spPr>
          <a:xfrm xmlns:a="http://schemas.openxmlformats.org/drawingml/2006/main">
            <a:off x="1005840" y="3193611"/>
            <a:ext cx="502920" cy="502920"/>
          </a:xfrm>
          <a:prstGeom xmlns:a="http://schemas.openxmlformats.org/drawingml/2006/main" prst="ellipse">
            <a:avLst/>
          </a:prstGeom>
          <a:solidFill xmlns:a="http://schemas.openxmlformats.org/drawingml/2006/main">
            <a:srgbClr val="F2A900"/>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lt1"/>
              </a:solidFill>
              <a:latin typeface="Calibri"/>
              <a:ea typeface="Calibri"/>
              <a:cs typeface="Calibri"/>
            </a:endParaRPr>
          </a:p>
        </p:txBody>
      </p:sp>
      <p:pic>
        <p:nvPicPr>
          <p:cNvPr id="116" name="Google Shape;116;p5">
            <a:extLst xmlns:a="http://schemas.openxmlformats.org/drawingml/2006/main">
              <a:ext uri="{FF2B5EF4-FFF2-40B4-BE49-F238E27FC236}">
                <a16:creationId xmlns:a16="http://schemas.microsoft.com/office/drawing/2014/main" id="{6AC8017B-E04C-43FA-8CC8-406F8E0F711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6bab062e13c4ddd">
            <a:alphaModFix/>
          </a:blip>
          <a:srcRect xmlns:a="http://schemas.openxmlformats.org/drawingml/2006/main" l="0" t="0" r="0" b="0"/>
          <a:stretch xmlns:a="http://schemas.openxmlformats.org/drawingml/2006/main"/>
        </p:blipFill>
        <p:spPr>
          <a:xfrm xmlns:a="http://schemas.openxmlformats.org/drawingml/2006/main">
            <a:off x="1129284" y="3317055"/>
            <a:ext cx="256032" cy="256032"/>
          </a:xfrm>
          <a:prstGeom xmlns:a="http://schemas.openxmlformats.org/drawingml/2006/main" prst="rect">
            <a:avLst/>
          </a:prstGeom>
          <a:ln xmlns:a="http://schemas.openxmlformats.org/drawingml/2006/main">
            <a:noFill/>
          </a:ln>
        </p:spPr>
      </p:pic>
      <p:sp>
        <p:nvSpPr>
          <p:cNvPr id="117" name="Google Shape;117;p5">
            <a:extLst xmlns:a="http://schemas.openxmlformats.org/drawingml/2006/main">
              <a:ext uri="{FF2B5EF4-FFF2-40B4-BE49-F238E27FC236}">
                <a16:creationId xmlns:a16="http://schemas.microsoft.com/office/drawing/2014/main" id="{BB2EFA28-355B-4BF6-8EE1-06CD80B00247}"/>
              </a:ext>
            </a:extLst>
          </p:cNvPr>
          <p:cNvSpPr>
            <a:spLocks xmlns:a="http://schemas.openxmlformats.org/drawingml/2006/main" noGrp="1"/>
          </p:cNvSpPr>
          <p:nvPr/>
        </p:nvSpPr>
        <p:spPr>
          <a:xfrm xmlns:a="http://schemas.openxmlformats.org/drawingml/2006/main">
            <a:off x="1783080" y="3065595"/>
            <a:ext cx="86868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900"/>
              <a:buFont typeface="Cambria"/>
              <a:buNone/>
            </a:pPr>
            <a:r>
              <a:rPr sz="1900" b="1">
                <a:solidFill>
                  <a:schemeClr val="lt1"/>
                </a:solidFill>
                <a:latin typeface="Cambria"/>
                <a:ea typeface="Cambria"/>
                <a:cs typeface="Cambria"/>
              </a:rPr>
              <a:t>One presenter, one thread</a:t>
            </a:r>
            <a:endParaRPr sz="1900">
              <a:solidFill>
                <a:schemeClr val="lt1"/>
              </a:solidFill>
              <a:latin typeface="Calibri"/>
              <a:ea typeface="Calibri"/>
              <a:cs typeface="Calibri"/>
            </a:endParaRPr>
          </a:p>
        </p:txBody>
      </p:sp>
      <p:sp>
        <p:nvSpPr>
          <p:cNvPr id="118" name="Google Shape;118;p5">
            <a:extLst xmlns:a="http://schemas.openxmlformats.org/drawingml/2006/main">
              <a:ext uri="{FF2B5EF4-FFF2-40B4-BE49-F238E27FC236}">
                <a16:creationId xmlns:a16="http://schemas.microsoft.com/office/drawing/2014/main" id="{6DF3E698-98FE-4D22-A9CE-FCE2044D40A6}"/>
              </a:ext>
            </a:extLst>
          </p:cNvPr>
          <p:cNvSpPr>
            <a:spLocks xmlns:a="http://schemas.openxmlformats.org/drawingml/2006/main" noGrp="1"/>
          </p:cNvSpPr>
          <p:nvPr/>
        </p:nvSpPr>
        <p:spPr>
          <a:xfrm xmlns:a="http://schemas.openxmlformats.org/drawingml/2006/main">
            <a:off x="1783080" y="3449643"/>
            <a:ext cx="93268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450"/>
              <a:buFont typeface="Calibri"/>
              <a:buNone/>
            </a:pPr>
            <a:r>
              <a:rPr sz="1450">
                <a:solidFill>
                  <a:schemeClr val="lt1"/>
                </a:solidFill>
                <a:latin typeface="Calibri"/>
                <a:ea typeface="Calibri"/>
                <a:cs typeface="Calibri"/>
              </a:rPr>
              <a:t>A single clear voice. Hand off only for the demo.</a:t>
            </a:r>
            <a:endParaRPr sz="1450">
              <a:solidFill>
                <a:schemeClr val="lt1"/>
              </a:solidFill>
              <a:latin typeface="Calibri"/>
              <a:ea typeface="Calibri"/>
              <a:cs typeface="Calibri"/>
            </a:endParaRPr>
          </a:p>
        </p:txBody>
      </p:sp>
      <p:sp>
        <p:nvSpPr>
          <p:cNvPr id="119" name="Google Shape;119;p5">
            <a:extLst xmlns:a="http://schemas.openxmlformats.org/drawingml/2006/main">
              <a:ext uri="{FF2B5EF4-FFF2-40B4-BE49-F238E27FC236}">
                <a16:creationId xmlns:a16="http://schemas.microsoft.com/office/drawing/2014/main" id="{88E6EE9C-9A90-4B7F-9DCF-832271B889A3}"/>
              </a:ext>
            </a:extLst>
          </p:cNvPr>
          <p:cNvSpPr>
            <a:spLocks xmlns:a="http://schemas.openxmlformats.org/drawingml/2006/main" noGrp="1"/>
          </p:cNvSpPr>
          <p:nvPr/>
        </p:nvSpPr>
        <p:spPr>
          <a:xfrm xmlns:a="http://schemas.openxmlformats.org/drawingml/2006/main">
            <a:off x="777240" y="4080579"/>
            <a:ext cx="10607040" cy="1051560"/>
          </a:xfrm>
          <a:prstGeom xmlns:a="http://schemas.openxmlformats.org/drawingml/2006/main" prst="roundRect">
            <a:avLst>
              <a:gd name="adj" fmla="val 6957"/>
            </a:avLst>
          </a:prstGeom>
          <a:solidFill xmlns:a="http://schemas.openxmlformats.org/drawingml/2006/main">
            <a:srgbClr val="262626"/>
          </a:solidFill>
          <a:ln xmlns:a="http://schemas.openxmlformats.org/drawingml/2006/main">
            <a:noFill/>
          </a:ln>
          <a:effectLst xmlns:a="http://schemas.openxmlformats.org/drawingml/2006/main">
            <a:outerShdw blurRad="88900" dist="25400" dir="5400000" algn="bl" rotWithShape="0">
              <a:srgbClr val="000000">
                <a:alpha val="18039"/>
              </a:srgbClr>
            </a:outerShdw>
          </a:effectLst>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lt1"/>
              </a:solidFill>
              <a:latin typeface="Calibri"/>
              <a:ea typeface="Calibri"/>
              <a:cs typeface="Calibri"/>
            </a:endParaRPr>
          </a:p>
        </p:txBody>
      </p:sp>
      <p:sp>
        <p:nvSpPr>
          <p:cNvPr id="120" name="Google Shape;120;p5">
            <a:extLst xmlns:a="http://schemas.openxmlformats.org/drawingml/2006/main">
              <a:ext uri="{FF2B5EF4-FFF2-40B4-BE49-F238E27FC236}">
                <a16:creationId xmlns:a16="http://schemas.microsoft.com/office/drawing/2014/main" id="{963CD92F-016C-4E5D-887A-B88D64419330}"/>
              </a:ext>
            </a:extLst>
          </p:cNvPr>
          <p:cNvSpPr>
            <a:spLocks xmlns:a="http://schemas.openxmlformats.org/drawingml/2006/main" noGrp="1"/>
          </p:cNvSpPr>
          <p:nvPr/>
        </p:nvSpPr>
        <p:spPr>
          <a:xfrm xmlns:a="http://schemas.openxmlformats.org/drawingml/2006/main">
            <a:off x="1005840" y="4354899"/>
            <a:ext cx="502920" cy="502920"/>
          </a:xfrm>
          <a:prstGeom xmlns:a="http://schemas.openxmlformats.org/drawingml/2006/main" prst="ellipse">
            <a:avLst/>
          </a:prstGeom>
          <a:solidFill xmlns:a="http://schemas.openxmlformats.org/drawingml/2006/main">
            <a:srgbClr val="F2A900"/>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lt1"/>
              </a:solidFill>
              <a:latin typeface="Calibri"/>
              <a:ea typeface="Calibri"/>
              <a:cs typeface="Calibri"/>
            </a:endParaRPr>
          </a:p>
        </p:txBody>
      </p:sp>
      <p:pic>
        <p:nvPicPr>
          <p:cNvPr id="121" name="Google Shape;121;p5">
            <a:extLst xmlns:a="http://schemas.openxmlformats.org/drawingml/2006/main">
              <a:ext uri="{FF2B5EF4-FFF2-40B4-BE49-F238E27FC236}">
                <a16:creationId xmlns:a16="http://schemas.microsoft.com/office/drawing/2014/main" id="{31DDABB2-8B08-4E02-B4E5-8265C6286D9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18f876a584d402d">
            <a:alphaModFix/>
          </a:blip>
          <a:srcRect xmlns:a="http://schemas.openxmlformats.org/drawingml/2006/main" l="0" t="0" r="0" b="0"/>
          <a:stretch xmlns:a="http://schemas.openxmlformats.org/drawingml/2006/main"/>
        </p:blipFill>
        <p:spPr>
          <a:xfrm xmlns:a="http://schemas.openxmlformats.org/drawingml/2006/main">
            <a:off x="1129284" y="4478343"/>
            <a:ext cx="256032" cy="256032"/>
          </a:xfrm>
          <a:prstGeom xmlns:a="http://schemas.openxmlformats.org/drawingml/2006/main" prst="rect">
            <a:avLst/>
          </a:prstGeom>
          <a:ln xmlns:a="http://schemas.openxmlformats.org/drawingml/2006/main">
            <a:noFill/>
          </a:ln>
        </p:spPr>
      </p:pic>
      <p:sp>
        <p:nvSpPr>
          <p:cNvPr id="122" name="Google Shape;122;p5">
            <a:extLst xmlns:a="http://schemas.openxmlformats.org/drawingml/2006/main">
              <a:ext uri="{FF2B5EF4-FFF2-40B4-BE49-F238E27FC236}">
                <a16:creationId xmlns:a16="http://schemas.microsoft.com/office/drawing/2014/main" id="{2C455F94-8A37-42C7-9380-49650F5805F3}"/>
              </a:ext>
            </a:extLst>
          </p:cNvPr>
          <p:cNvSpPr>
            <a:spLocks xmlns:a="http://schemas.openxmlformats.org/drawingml/2006/main" noGrp="1"/>
          </p:cNvSpPr>
          <p:nvPr/>
        </p:nvSpPr>
        <p:spPr>
          <a:xfrm xmlns:a="http://schemas.openxmlformats.org/drawingml/2006/main">
            <a:off x="1783080" y="4226883"/>
            <a:ext cx="86868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900"/>
              <a:buFont typeface="Cambria"/>
              <a:buNone/>
            </a:pPr>
            <a:r>
              <a:rPr sz="1900" b="1">
                <a:solidFill>
                  <a:schemeClr val="lt1"/>
                </a:solidFill>
                <a:latin typeface="Cambria"/>
                <a:ea typeface="Cambria"/>
                <a:cs typeface="Cambria"/>
              </a:rPr>
              <a:t>Lead with the hook</a:t>
            </a:r>
            <a:endParaRPr sz="1900">
              <a:solidFill>
                <a:schemeClr val="lt1"/>
              </a:solidFill>
              <a:latin typeface="Calibri"/>
              <a:ea typeface="Calibri"/>
              <a:cs typeface="Calibri"/>
            </a:endParaRPr>
          </a:p>
        </p:txBody>
      </p:sp>
      <p:sp>
        <p:nvSpPr>
          <p:cNvPr id="123" name="Google Shape;123;p5">
            <a:extLst xmlns:a="http://schemas.openxmlformats.org/drawingml/2006/main">
              <a:ext uri="{FF2B5EF4-FFF2-40B4-BE49-F238E27FC236}">
                <a16:creationId xmlns:a16="http://schemas.microsoft.com/office/drawing/2014/main" id="{D90F1A4F-80D7-4687-A6C4-04E0B952CE77}"/>
              </a:ext>
            </a:extLst>
          </p:cNvPr>
          <p:cNvSpPr>
            <a:spLocks xmlns:a="http://schemas.openxmlformats.org/drawingml/2006/main" noGrp="1"/>
          </p:cNvSpPr>
          <p:nvPr/>
        </p:nvSpPr>
        <p:spPr>
          <a:xfrm xmlns:a="http://schemas.openxmlformats.org/drawingml/2006/main">
            <a:off x="1783080" y="4610931"/>
            <a:ext cx="93268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450"/>
              <a:buFont typeface="Calibri"/>
              <a:buNone/>
            </a:pPr>
            <a:r>
              <a:rPr sz="1450">
                <a:solidFill>
                  <a:schemeClr val="lt1"/>
                </a:solidFill>
                <a:latin typeface="Calibri"/>
                <a:ea typeface="Calibri"/>
                <a:cs typeface="Calibri"/>
              </a:rPr>
              <a:t>First 20 seconds: the problem + your one-line answer. No slow build.</a:t>
            </a:r>
            <a:endParaRPr sz="1450">
              <a:solidFill>
                <a:schemeClr val="lt1"/>
              </a:solidFill>
              <a:latin typeface="Calibri"/>
              <a:ea typeface="Calibri"/>
              <a:cs typeface="Calibri"/>
            </a:endParaRPr>
          </a:p>
        </p:txBody>
      </p:sp>
      <p:sp>
        <p:nvSpPr>
          <p:cNvPr id="124" name="Google Shape;124;p5">
            <a:extLst xmlns:a="http://schemas.openxmlformats.org/drawingml/2006/main">
              <a:ext uri="{FF2B5EF4-FFF2-40B4-BE49-F238E27FC236}">
                <a16:creationId xmlns:a16="http://schemas.microsoft.com/office/drawing/2014/main" id="{C55227C8-C76F-4339-A104-3AD7411CA09D}"/>
              </a:ext>
            </a:extLst>
          </p:cNvPr>
          <p:cNvSpPr>
            <a:spLocks xmlns:a="http://schemas.openxmlformats.org/drawingml/2006/main" noGrp="1"/>
          </p:cNvSpPr>
          <p:nvPr/>
        </p:nvSpPr>
        <p:spPr>
          <a:xfrm xmlns:a="http://schemas.openxmlformats.org/drawingml/2006/main">
            <a:off x="777240" y="5241867"/>
            <a:ext cx="10607040" cy="1051560"/>
          </a:xfrm>
          <a:prstGeom xmlns:a="http://schemas.openxmlformats.org/drawingml/2006/main" prst="roundRect">
            <a:avLst>
              <a:gd name="adj" fmla="val 6957"/>
            </a:avLst>
          </a:prstGeom>
          <a:solidFill xmlns:a="http://schemas.openxmlformats.org/drawingml/2006/main">
            <a:srgbClr val="262626"/>
          </a:solidFill>
          <a:ln xmlns:a="http://schemas.openxmlformats.org/drawingml/2006/main">
            <a:noFill/>
          </a:ln>
          <a:effectLst xmlns:a="http://schemas.openxmlformats.org/drawingml/2006/main">
            <a:outerShdw blurRad="88900" dist="25400" dir="5400000" algn="bl" rotWithShape="0">
              <a:srgbClr val="000000">
                <a:alpha val="18039"/>
              </a:srgbClr>
            </a:outerShdw>
          </a:effectLst>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5" name="Google Shape;125;p5">
            <a:extLst xmlns:a="http://schemas.openxmlformats.org/drawingml/2006/main">
              <a:ext uri="{FF2B5EF4-FFF2-40B4-BE49-F238E27FC236}">
                <a16:creationId xmlns:a16="http://schemas.microsoft.com/office/drawing/2014/main" id="{4390D0BD-4352-4E93-A8A4-73B7312E20B5}"/>
              </a:ext>
            </a:extLst>
          </p:cNvPr>
          <p:cNvSpPr>
            <a:spLocks xmlns:a="http://schemas.openxmlformats.org/drawingml/2006/main" noGrp="1"/>
          </p:cNvSpPr>
          <p:nvPr/>
        </p:nvSpPr>
        <p:spPr>
          <a:xfrm xmlns:a="http://schemas.openxmlformats.org/drawingml/2006/main">
            <a:off x="1005840" y="5516187"/>
            <a:ext cx="502920" cy="502920"/>
          </a:xfrm>
          <a:prstGeom xmlns:a="http://schemas.openxmlformats.org/drawingml/2006/main" prst="ellipse">
            <a:avLst/>
          </a:prstGeom>
          <a:solidFill xmlns:a="http://schemas.openxmlformats.org/drawingml/2006/main">
            <a:srgbClr val="F2A900"/>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lt1"/>
              </a:solidFill>
              <a:latin typeface="Calibri"/>
              <a:ea typeface="Calibri"/>
              <a:cs typeface="Calibri"/>
            </a:endParaRPr>
          </a:p>
        </p:txBody>
      </p:sp>
      <p:pic>
        <p:nvPicPr>
          <p:cNvPr id="126" name="Google Shape;126;p5">
            <a:extLst xmlns:a="http://schemas.openxmlformats.org/drawingml/2006/main">
              <a:ext uri="{FF2B5EF4-FFF2-40B4-BE49-F238E27FC236}">
                <a16:creationId xmlns:a16="http://schemas.microsoft.com/office/drawing/2014/main" id="{2C4853A6-06D5-4236-9508-A13EDDB6DBC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9880e3bbbe7445b">
            <a:alphaModFix/>
          </a:blip>
          <a:srcRect xmlns:a="http://schemas.openxmlformats.org/drawingml/2006/main" l="0" t="0" r="0" b="0"/>
          <a:stretch xmlns:a="http://schemas.openxmlformats.org/drawingml/2006/main"/>
        </p:blipFill>
        <p:spPr>
          <a:xfrm xmlns:a="http://schemas.openxmlformats.org/drawingml/2006/main">
            <a:off x="1129284" y="5639631"/>
            <a:ext cx="256032" cy="256032"/>
          </a:xfrm>
          <a:prstGeom xmlns:a="http://schemas.openxmlformats.org/drawingml/2006/main" prst="rect">
            <a:avLst/>
          </a:prstGeom>
          <a:ln xmlns:a="http://schemas.openxmlformats.org/drawingml/2006/main">
            <a:noFill/>
          </a:ln>
        </p:spPr>
      </p:pic>
      <p:sp>
        <p:nvSpPr>
          <p:cNvPr id="127" name="Google Shape;127;p5">
            <a:extLst xmlns:a="http://schemas.openxmlformats.org/drawingml/2006/main">
              <a:ext uri="{FF2B5EF4-FFF2-40B4-BE49-F238E27FC236}">
                <a16:creationId xmlns:a16="http://schemas.microsoft.com/office/drawing/2014/main" id="{52E1A524-D704-4BF8-B128-64C4F24E6EB6}"/>
              </a:ext>
            </a:extLst>
          </p:cNvPr>
          <p:cNvSpPr>
            <a:spLocks xmlns:a="http://schemas.openxmlformats.org/drawingml/2006/main" noGrp="1"/>
          </p:cNvSpPr>
          <p:nvPr/>
        </p:nvSpPr>
        <p:spPr>
          <a:xfrm xmlns:a="http://schemas.openxmlformats.org/drawingml/2006/main">
            <a:off x="1783080" y="5388171"/>
            <a:ext cx="868680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900"/>
              <a:buFont typeface="Cambria"/>
              <a:buNone/>
            </a:pPr>
            <a:r>
              <a:rPr sz="1900" b="1">
                <a:solidFill>
                  <a:schemeClr val="lt1"/>
                </a:solidFill>
                <a:latin typeface="Cambria"/>
                <a:ea typeface="Cambria"/>
                <a:cs typeface="Cambria"/>
              </a:rPr>
              <a:t>End on the ask</a:t>
            </a:r>
            <a:endParaRPr sz="1900">
              <a:solidFill>
                <a:schemeClr val="lt1"/>
              </a:solidFill>
              <a:latin typeface="Calibri"/>
              <a:ea typeface="Calibri"/>
              <a:cs typeface="Calibri"/>
            </a:endParaRPr>
          </a:p>
        </p:txBody>
      </p:sp>
      <p:sp>
        <p:nvSpPr>
          <p:cNvPr id="128" name="Google Shape;128;p5">
            <a:extLst xmlns:a="http://schemas.openxmlformats.org/drawingml/2006/main">
              <a:ext uri="{FF2B5EF4-FFF2-40B4-BE49-F238E27FC236}">
                <a16:creationId xmlns:a16="http://schemas.microsoft.com/office/drawing/2014/main" id="{0F949AF1-64D8-4A1F-8D8D-33C6DA0EB8EE}"/>
              </a:ext>
            </a:extLst>
          </p:cNvPr>
          <p:cNvSpPr>
            <a:spLocks xmlns:a="http://schemas.openxmlformats.org/drawingml/2006/main" noGrp="1"/>
          </p:cNvSpPr>
          <p:nvPr/>
        </p:nvSpPr>
        <p:spPr>
          <a:xfrm xmlns:a="http://schemas.openxmlformats.org/drawingml/2006/main">
            <a:off x="1783080" y="5772219"/>
            <a:ext cx="93268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lt1"/>
              </a:buClr>
              <a:buSzPts val="1450"/>
              <a:buFont typeface="Calibri"/>
              <a:buNone/>
            </a:pPr>
            <a:r>
              <a:rPr sz="1450">
                <a:solidFill>
                  <a:schemeClr val="lt1"/>
                </a:solidFill>
                <a:latin typeface="Calibri"/>
                <a:ea typeface="Calibri"/>
                <a:cs typeface="Calibri"/>
              </a:rPr>
              <a:t>Close with what you want — funding, pilot, intro. Make it easy to say yes.</a:t>
            </a:r>
            <a:endParaRPr sz="1450">
              <a:solidFill>
                <a:schemeClr val="lt1"/>
              </a:solidFill>
              <a:latin typeface="Calibri"/>
              <a:ea typeface="Calibri"/>
              <a:cs typeface="Calibri"/>
            </a:endParaRPr>
          </a:p>
        </p:txBody>
      </p:sp>
    </p:spTree>
    <p:extLst>
      <p:ext uri="{BB962C8B-B14F-4D97-AF65-F5344CB8AC3E}">
        <p14:creationId xmlns:p14="http://schemas.microsoft.com/office/powerpoint/2010/main" val="165718968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34" name="Google Shape;134;p6">
            <a:extLst xmlns:a="http://schemas.openxmlformats.org/drawingml/2006/main">
              <a:ext uri="{FF2B5EF4-FFF2-40B4-BE49-F238E27FC236}">
                <a16:creationId xmlns:a16="http://schemas.microsoft.com/office/drawing/2014/main" id="{F9D45D42-A479-4C0F-A292-35172B48E840}"/>
              </a:ext>
            </a:extLst>
          </p:cNvPr>
          <p:cNvSpPr>
            <a:spLocks xmlns:a="http://schemas.openxmlformats.org/drawingml/2006/main" noGrp="1"/>
          </p:cNvSpPr>
          <p:nvPr/>
        </p:nvSpPr>
        <p:spPr>
          <a:xfrm xmlns:a="http://schemas.openxmlformats.org/drawingml/2006/main">
            <a:off x="777240" y="1859771"/>
            <a:ext cx="5212080" cy="4206240"/>
          </a:xfrm>
          <a:prstGeom xmlns:a="http://schemas.openxmlformats.org/drawingml/2006/main" prst="roundRect">
            <a:avLst>
              <a:gd name="adj" fmla="val 1739"/>
            </a:avLst>
          </a:prstGeom>
          <a:solidFill xmlns:a="http://schemas.openxmlformats.org/drawingml/2006/main">
            <a:srgbClr val="262626"/>
          </a:solidFill>
          <a:ln xmlns:a="http://schemas.openxmlformats.org/drawingml/2006/main">
            <a:noFill/>
          </a:ln>
          <a:effectLst xmlns:a="http://schemas.openxmlformats.org/drawingml/2006/main">
            <a:outerShdw blurRad="88900" dist="25400" dir="5400000" algn="bl" rotWithShape="0">
              <a:srgbClr val="000000">
                <a:alpha val="18039"/>
              </a:srgbClr>
            </a:outerShdw>
          </a:effectLst>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5" name="Google Shape;135;p6">
            <a:extLst xmlns:a="http://schemas.openxmlformats.org/drawingml/2006/main">
              <a:ext uri="{FF2B5EF4-FFF2-40B4-BE49-F238E27FC236}">
                <a16:creationId xmlns:a16="http://schemas.microsoft.com/office/drawing/2014/main" id="{9CF32E58-CA76-48C1-8BF9-F5B4D4B873CF}"/>
              </a:ext>
            </a:extLst>
          </p:cNvPr>
          <p:cNvSpPr>
            <a:spLocks xmlns:a="http://schemas.openxmlformats.org/drawingml/2006/main" noGrp="1"/>
          </p:cNvSpPr>
          <p:nvPr/>
        </p:nvSpPr>
        <p:spPr>
          <a:xfrm xmlns:a="http://schemas.openxmlformats.org/drawingml/2006/main">
            <a:off x="1051560" y="2088371"/>
            <a:ext cx="45720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rgbClr val="F2A900"/>
              </a:buClr>
              <a:buSzPts val="1900"/>
              <a:buFont typeface="Cambria"/>
              <a:buNone/>
            </a:pPr>
            <a:r>
              <a:rPr sz="1900" b="1">
                <a:solidFill>
                  <a:srgbClr val="F2A900"/>
                </a:solidFill>
                <a:latin typeface="Cambria"/>
                <a:ea typeface="Cambria"/>
                <a:cs typeface="Cambria"/>
              </a:rPr>
              <a:t>Common pitch killers</a:t>
            </a:r>
            <a:endParaRPr sz="1900">
              <a:solidFill>
                <a:schemeClr val="dk1"/>
              </a:solidFill>
              <a:latin typeface="Calibri"/>
              <a:ea typeface="Calibri"/>
              <a:cs typeface="Calibri"/>
            </a:endParaRPr>
          </a:p>
        </p:txBody>
      </p:sp>
      <p:pic>
        <p:nvPicPr>
          <p:cNvPr id="136" name="Google Shape;136;p6">
            <a:extLst xmlns:a="http://schemas.openxmlformats.org/drawingml/2006/main">
              <a:ext uri="{FF2B5EF4-FFF2-40B4-BE49-F238E27FC236}">
                <a16:creationId xmlns:a16="http://schemas.microsoft.com/office/drawing/2014/main" id="{2EBA6A5A-AC96-4540-B108-3DB8C66E089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2a07bdb68ca4963">
            <a:alphaModFix/>
          </a:blip>
          <a:srcRect xmlns:a="http://schemas.openxmlformats.org/drawingml/2006/main" l="0" t="0" r="0" b="0"/>
          <a:stretch xmlns:a="http://schemas.openxmlformats.org/drawingml/2006/main"/>
        </p:blipFill>
        <p:spPr>
          <a:xfrm xmlns:a="http://schemas.openxmlformats.org/drawingml/2006/main">
            <a:off x="1097280" y="2765027"/>
            <a:ext cx="237744" cy="237744"/>
          </a:xfrm>
          <a:prstGeom xmlns:a="http://schemas.openxmlformats.org/drawingml/2006/main" prst="rect">
            <a:avLst/>
          </a:prstGeom>
          <a:ln xmlns:a="http://schemas.openxmlformats.org/drawingml/2006/main">
            <a:noFill/>
          </a:ln>
        </p:spPr>
      </p:pic>
      <p:sp>
        <p:nvSpPr>
          <p:cNvPr id="137" name="Google Shape;137;p6">
            <a:extLst xmlns:a="http://schemas.openxmlformats.org/drawingml/2006/main">
              <a:ext uri="{FF2B5EF4-FFF2-40B4-BE49-F238E27FC236}">
                <a16:creationId xmlns:a16="http://schemas.microsoft.com/office/drawing/2014/main" id="{D1AA006A-AAEA-4C35-A69A-B41F90720330}"/>
              </a:ext>
            </a:extLst>
          </p:cNvPr>
          <p:cNvSpPr>
            <a:spLocks xmlns:a="http://schemas.openxmlformats.org/drawingml/2006/main" noGrp="1"/>
          </p:cNvSpPr>
          <p:nvPr/>
        </p:nvSpPr>
        <p:spPr>
          <a:xfrm xmlns:a="http://schemas.openxmlformats.org/drawingml/2006/main">
            <a:off x="1463040" y="2728451"/>
            <a:ext cx="429768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550"/>
              <a:buFont typeface="Calibri"/>
              <a:buNone/>
            </a:pPr>
            <a:r>
              <a:rPr sz="1550">
                <a:solidFill>
                  <a:srgbClr val="FFFFFF"/>
                </a:solidFill>
                <a:latin typeface="Calibri"/>
                <a:ea typeface="Calibri"/>
                <a:cs typeface="Calibri"/>
              </a:rPr>
              <a:t>Tech tour with no problem</a:t>
            </a:r>
            <a:endParaRPr sz="1550">
              <a:solidFill>
                <a:schemeClr val="dk1"/>
              </a:solidFill>
              <a:latin typeface="Calibri"/>
              <a:ea typeface="Calibri"/>
              <a:cs typeface="Calibri"/>
            </a:endParaRPr>
          </a:p>
        </p:txBody>
      </p:sp>
      <p:pic>
        <p:nvPicPr>
          <p:cNvPr id="138" name="Google Shape;138;p6">
            <a:extLst xmlns:a="http://schemas.openxmlformats.org/drawingml/2006/main">
              <a:ext uri="{FF2B5EF4-FFF2-40B4-BE49-F238E27FC236}">
                <a16:creationId xmlns:a16="http://schemas.microsoft.com/office/drawing/2014/main" id="{745F62BC-7CB8-4762-9478-16430743C33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2a07bdb68ca4963">
            <a:alphaModFix/>
          </a:blip>
          <a:srcRect xmlns:a="http://schemas.openxmlformats.org/drawingml/2006/main" l="0" t="0" r="0" b="0"/>
          <a:stretch xmlns:a="http://schemas.openxmlformats.org/drawingml/2006/main"/>
        </p:blipFill>
        <p:spPr>
          <a:xfrm xmlns:a="http://schemas.openxmlformats.org/drawingml/2006/main">
            <a:off x="1097280" y="3368531"/>
            <a:ext cx="237744" cy="237744"/>
          </a:xfrm>
          <a:prstGeom xmlns:a="http://schemas.openxmlformats.org/drawingml/2006/main" prst="rect">
            <a:avLst/>
          </a:prstGeom>
          <a:ln xmlns:a="http://schemas.openxmlformats.org/drawingml/2006/main">
            <a:noFill/>
          </a:ln>
        </p:spPr>
      </p:pic>
      <p:sp>
        <p:nvSpPr>
          <p:cNvPr id="139" name="Google Shape;139;p6">
            <a:extLst xmlns:a="http://schemas.openxmlformats.org/drawingml/2006/main">
              <a:ext uri="{FF2B5EF4-FFF2-40B4-BE49-F238E27FC236}">
                <a16:creationId xmlns:a16="http://schemas.microsoft.com/office/drawing/2014/main" id="{F008AEB6-F188-4C5A-9776-D9BA9D948806}"/>
              </a:ext>
            </a:extLst>
          </p:cNvPr>
          <p:cNvSpPr>
            <a:spLocks xmlns:a="http://schemas.openxmlformats.org/drawingml/2006/main" noGrp="1"/>
          </p:cNvSpPr>
          <p:nvPr/>
        </p:nvSpPr>
        <p:spPr>
          <a:xfrm xmlns:a="http://schemas.openxmlformats.org/drawingml/2006/main">
            <a:off x="1463040" y="3331955"/>
            <a:ext cx="429768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550"/>
              <a:buFont typeface="Calibri"/>
              <a:buNone/>
            </a:pPr>
            <a:r>
              <a:rPr sz="1550">
                <a:solidFill>
                  <a:srgbClr val="FFFFFF"/>
                </a:solidFill>
                <a:latin typeface="Calibri"/>
                <a:ea typeface="Calibri"/>
                <a:cs typeface="Calibri"/>
              </a:rPr>
              <a:t>Reading every slide aloud</a:t>
            </a:r>
            <a:endParaRPr sz="1550">
              <a:solidFill>
                <a:schemeClr val="dk1"/>
              </a:solidFill>
              <a:latin typeface="Calibri"/>
              <a:ea typeface="Calibri"/>
              <a:cs typeface="Calibri"/>
            </a:endParaRPr>
          </a:p>
        </p:txBody>
      </p:sp>
      <p:pic>
        <p:nvPicPr>
          <p:cNvPr id="140" name="Google Shape;140;p6">
            <a:extLst xmlns:a="http://schemas.openxmlformats.org/drawingml/2006/main">
              <a:ext uri="{FF2B5EF4-FFF2-40B4-BE49-F238E27FC236}">
                <a16:creationId xmlns:a16="http://schemas.microsoft.com/office/drawing/2014/main" id="{9BCF34E5-CC83-4E85-9338-B27E0901517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2a07bdb68ca4963">
            <a:alphaModFix/>
          </a:blip>
          <a:srcRect xmlns:a="http://schemas.openxmlformats.org/drawingml/2006/main" l="0" t="0" r="0" b="0"/>
          <a:stretch xmlns:a="http://schemas.openxmlformats.org/drawingml/2006/main"/>
        </p:blipFill>
        <p:spPr>
          <a:xfrm xmlns:a="http://schemas.openxmlformats.org/drawingml/2006/main">
            <a:off x="1097280" y="3972035"/>
            <a:ext cx="237744" cy="237744"/>
          </a:xfrm>
          <a:prstGeom xmlns:a="http://schemas.openxmlformats.org/drawingml/2006/main" prst="rect">
            <a:avLst/>
          </a:prstGeom>
          <a:ln xmlns:a="http://schemas.openxmlformats.org/drawingml/2006/main">
            <a:noFill/>
          </a:ln>
        </p:spPr>
      </p:pic>
      <p:sp>
        <p:nvSpPr>
          <p:cNvPr id="141" name="Google Shape;141;p6">
            <a:extLst xmlns:a="http://schemas.openxmlformats.org/drawingml/2006/main">
              <a:ext uri="{FF2B5EF4-FFF2-40B4-BE49-F238E27FC236}">
                <a16:creationId xmlns:a16="http://schemas.microsoft.com/office/drawing/2014/main" id="{8DC71833-6D24-4CD9-9D0B-C114EC6D07B0}"/>
              </a:ext>
            </a:extLst>
          </p:cNvPr>
          <p:cNvSpPr>
            <a:spLocks xmlns:a="http://schemas.openxmlformats.org/drawingml/2006/main" noGrp="1"/>
          </p:cNvSpPr>
          <p:nvPr/>
        </p:nvSpPr>
        <p:spPr>
          <a:xfrm xmlns:a="http://schemas.openxmlformats.org/drawingml/2006/main">
            <a:off x="1463040" y="3935459"/>
            <a:ext cx="429768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550"/>
              <a:buFont typeface="Calibri"/>
              <a:buNone/>
            </a:pPr>
            <a:r>
              <a:rPr sz="1550">
                <a:solidFill>
                  <a:srgbClr val="FFFFFF"/>
                </a:solidFill>
                <a:latin typeface="Calibri"/>
                <a:ea typeface="Calibri"/>
                <a:cs typeface="Calibri"/>
              </a:rPr>
              <a:t>No demo, no proof</a:t>
            </a:r>
            <a:endParaRPr sz="1550">
              <a:solidFill>
                <a:schemeClr val="dk1"/>
              </a:solidFill>
              <a:latin typeface="Calibri"/>
              <a:ea typeface="Calibri"/>
              <a:cs typeface="Calibri"/>
            </a:endParaRPr>
          </a:p>
        </p:txBody>
      </p:sp>
      <p:pic>
        <p:nvPicPr>
          <p:cNvPr id="142" name="Google Shape;142;p6">
            <a:extLst xmlns:a="http://schemas.openxmlformats.org/drawingml/2006/main">
              <a:ext uri="{FF2B5EF4-FFF2-40B4-BE49-F238E27FC236}">
                <a16:creationId xmlns:a16="http://schemas.microsoft.com/office/drawing/2014/main" id="{FD384087-B3D0-4113-9C97-47569EE19D3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2a07bdb68ca4963">
            <a:alphaModFix/>
          </a:blip>
          <a:srcRect xmlns:a="http://schemas.openxmlformats.org/drawingml/2006/main" l="0" t="0" r="0" b="0"/>
          <a:stretch xmlns:a="http://schemas.openxmlformats.org/drawingml/2006/main"/>
        </p:blipFill>
        <p:spPr>
          <a:xfrm xmlns:a="http://schemas.openxmlformats.org/drawingml/2006/main">
            <a:off x="1097280" y="4575539"/>
            <a:ext cx="237744" cy="237744"/>
          </a:xfrm>
          <a:prstGeom xmlns:a="http://schemas.openxmlformats.org/drawingml/2006/main" prst="rect">
            <a:avLst/>
          </a:prstGeom>
          <a:ln xmlns:a="http://schemas.openxmlformats.org/drawingml/2006/main">
            <a:noFill/>
          </a:ln>
        </p:spPr>
      </p:pic>
      <p:sp>
        <p:nvSpPr>
          <p:cNvPr id="143" name="Google Shape;143;p6">
            <a:extLst xmlns:a="http://schemas.openxmlformats.org/drawingml/2006/main">
              <a:ext uri="{FF2B5EF4-FFF2-40B4-BE49-F238E27FC236}">
                <a16:creationId xmlns:a16="http://schemas.microsoft.com/office/drawing/2014/main" id="{12C05682-1E2A-4181-A15E-B76ACB26D356}"/>
              </a:ext>
            </a:extLst>
          </p:cNvPr>
          <p:cNvSpPr>
            <a:spLocks xmlns:a="http://schemas.openxmlformats.org/drawingml/2006/main" noGrp="1"/>
          </p:cNvSpPr>
          <p:nvPr/>
        </p:nvSpPr>
        <p:spPr>
          <a:xfrm xmlns:a="http://schemas.openxmlformats.org/drawingml/2006/main">
            <a:off x="1463040" y="4538963"/>
            <a:ext cx="429768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550"/>
              <a:buFont typeface="Calibri"/>
              <a:buNone/>
            </a:pPr>
            <a:r>
              <a:rPr sz="1550">
                <a:solidFill>
                  <a:srgbClr val="FFFFFF"/>
                </a:solidFill>
                <a:latin typeface="Calibri"/>
                <a:ea typeface="Calibri"/>
                <a:cs typeface="Calibri"/>
              </a:rPr>
              <a:t>Vague or missing ask</a:t>
            </a:r>
            <a:endParaRPr sz="1550">
              <a:solidFill>
                <a:schemeClr val="dk1"/>
              </a:solidFill>
              <a:latin typeface="Calibri"/>
              <a:ea typeface="Calibri"/>
              <a:cs typeface="Calibri"/>
            </a:endParaRPr>
          </a:p>
        </p:txBody>
      </p:sp>
      <p:pic>
        <p:nvPicPr>
          <p:cNvPr id="144" name="Google Shape;144;p6">
            <a:extLst xmlns:a="http://schemas.openxmlformats.org/drawingml/2006/main">
              <a:ext uri="{FF2B5EF4-FFF2-40B4-BE49-F238E27FC236}">
                <a16:creationId xmlns:a16="http://schemas.microsoft.com/office/drawing/2014/main" id="{297ED572-0634-46BB-B26D-B63A0F8263D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2a07bdb68ca4963">
            <a:alphaModFix/>
          </a:blip>
          <a:srcRect xmlns:a="http://schemas.openxmlformats.org/drawingml/2006/main" l="0" t="0" r="0" b="0"/>
          <a:stretch xmlns:a="http://schemas.openxmlformats.org/drawingml/2006/main"/>
        </p:blipFill>
        <p:spPr>
          <a:xfrm xmlns:a="http://schemas.openxmlformats.org/drawingml/2006/main">
            <a:off x="1097280" y="5179043"/>
            <a:ext cx="237744" cy="237744"/>
          </a:xfrm>
          <a:prstGeom xmlns:a="http://schemas.openxmlformats.org/drawingml/2006/main" prst="rect">
            <a:avLst/>
          </a:prstGeom>
          <a:ln xmlns:a="http://schemas.openxmlformats.org/drawingml/2006/main">
            <a:noFill/>
          </a:ln>
        </p:spPr>
      </p:pic>
      <p:sp>
        <p:nvSpPr>
          <p:cNvPr id="145" name="Google Shape;145;p6">
            <a:extLst xmlns:a="http://schemas.openxmlformats.org/drawingml/2006/main">
              <a:ext uri="{FF2B5EF4-FFF2-40B4-BE49-F238E27FC236}">
                <a16:creationId xmlns:a16="http://schemas.microsoft.com/office/drawing/2014/main" id="{D2E6238E-0D03-4625-AE77-001637CF87A9}"/>
              </a:ext>
            </a:extLst>
          </p:cNvPr>
          <p:cNvSpPr>
            <a:spLocks xmlns:a="http://schemas.openxmlformats.org/drawingml/2006/main" noGrp="1"/>
          </p:cNvSpPr>
          <p:nvPr/>
        </p:nvSpPr>
        <p:spPr>
          <a:xfrm xmlns:a="http://schemas.openxmlformats.org/drawingml/2006/main">
            <a:off x="1463040" y="5142467"/>
            <a:ext cx="429768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1550"/>
              <a:buFont typeface="Calibri"/>
              <a:buNone/>
            </a:pPr>
            <a:r>
              <a:rPr sz="1550">
                <a:solidFill>
                  <a:srgbClr val="FFFFFF"/>
                </a:solidFill>
                <a:latin typeface="Calibri"/>
                <a:ea typeface="Calibri"/>
                <a:cs typeface="Calibri"/>
              </a:rPr>
              <a:t>Overrunning the clock</a:t>
            </a:r>
            <a:endParaRPr sz="1550">
              <a:solidFill>
                <a:schemeClr val="dk1"/>
              </a:solidFill>
              <a:latin typeface="Calibri"/>
              <a:ea typeface="Calibri"/>
              <a:cs typeface="Calibri"/>
            </a:endParaRPr>
          </a:p>
        </p:txBody>
      </p:sp>
      <p:sp>
        <p:nvSpPr>
          <p:cNvPr id="146" name="Google Shape;146;p6">
            <a:extLst xmlns:a="http://schemas.openxmlformats.org/drawingml/2006/main">
              <a:ext uri="{FF2B5EF4-FFF2-40B4-BE49-F238E27FC236}">
                <a16:creationId xmlns:a16="http://schemas.microsoft.com/office/drawing/2014/main" id="{2B68BF12-61C2-44FC-BB30-6FEA53A68374}"/>
              </a:ext>
            </a:extLst>
          </p:cNvPr>
          <p:cNvSpPr>
            <a:spLocks xmlns:a="http://schemas.openxmlformats.org/drawingml/2006/main" noGrp="1"/>
          </p:cNvSpPr>
          <p:nvPr/>
        </p:nvSpPr>
        <p:spPr>
          <a:xfrm xmlns:a="http://schemas.openxmlformats.org/drawingml/2006/main">
            <a:off x="6172200" y="1859771"/>
            <a:ext cx="5212080" cy="420624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a:noFill/>
          </a:ln>
          <a:effectLst xmlns:a="http://schemas.openxmlformats.org/drawingml/2006/main">
            <a:outerShdw blurRad="88900" dist="25400" dir="5400000" algn="bl" rotWithShape="0">
              <a:srgbClr val="000000">
                <a:alpha val="18039"/>
              </a:srgbClr>
            </a:outerShdw>
          </a:effectLst>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7" name="Google Shape;147;p6">
            <a:extLst xmlns:a="http://schemas.openxmlformats.org/drawingml/2006/main">
              <a:ext uri="{FF2B5EF4-FFF2-40B4-BE49-F238E27FC236}">
                <a16:creationId xmlns:a16="http://schemas.microsoft.com/office/drawing/2014/main" id="{0242B78E-BC2B-416B-979D-011D8046D7BB}"/>
              </a:ext>
            </a:extLst>
          </p:cNvPr>
          <p:cNvSpPr>
            <a:spLocks xmlns:a="http://schemas.openxmlformats.org/drawingml/2006/main" noGrp="1"/>
          </p:cNvSpPr>
          <p:nvPr/>
        </p:nvSpPr>
        <p:spPr>
          <a:xfrm xmlns:a="http://schemas.openxmlformats.org/drawingml/2006/main">
            <a:off x="6446520" y="2088371"/>
            <a:ext cx="45720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dk1"/>
              </a:buClr>
              <a:buSzPts val="1900"/>
              <a:buFont typeface="Cambria"/>
              <a:buNone/>
            </a:pPr>
            <a:r>
              <a:rPr sz="1900" b="1">
                <a:solidFill>
                  <a:schemeClr val="dk1"/>
                </a:solidFill>
                <a:latin typeface="Cambria"/>
                <a:ea typeface="Cambria"/>
                <a:cs typeface="Cambria"/>
              </a:rPr>
              <a:t>The one-sentence test</a:t>
            </a:r>
            <a:endParaRPr sz="1900">
              <a:solidFill>
                <a:schemeClr val="dk1"/>
              </a:solidFill>
              <a:latin typeface="Calibri"/>
              <a:ea typeface="Calibri"/>
              <a:cs typeface="Calibri"/>
            </a:endParaRPr>
          </a:p>
        </p:txBody>
      </p:sp>
      <p:sp>
        <p:nvSpPr>
          <p:cNvPr id="148" name="Google Shape;148;p6">
            <a:extLst xmlns:a="http://schemas.openxmlformats.org/drawingml/2006/main">
              <a:ext uri="{FF2B5EF4-FFF2-40B4-BE49-F238E27FC236}">
                <a16:creationId xmlns:a16="http://schemas.microsoft.com/office/drawing/2014/main" id="{616B3219-9079-4351-917B-B15566E8594C}"/>
              </a:ext>
            </a:extLst>
          </p:cNvPr>
          <p:cNvSpPr>
            <a:spLocks xmlns:a="http://schemas.openxmlformats.org/drawingml/2006/main" noGrp="1"/>
          </p:cNvSpPr>
          <p:nvPr/>
        </p:nvSpPr>
        <p:spPr>
          <a:xfrm xmlns:a="http://schemas.openxmlformats.org/drawingml/2006/main">
            <a:off x="6446520" y="2637011"/>
            <a:ext cx="46634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rgbClr val="1A2433"/>
              </a:buClr>
              <a:buSzPts val="1500"/>
              <a:buFont typeface="Calibri"/>
              <a:buNone/>
            </a:pPr>
            <a:r>
              <a:rPr sz="1500">
                <a:solidFill>
                  <a:srgbClr val="1A2433"/>
                </a:solidFill>
                <a:latin typeface="Calibri"/>
                <a:ea typeface="Calibri"/>
                <a:cs typeface="Calibri"/>
              </a:rPr>
              <a:t>If a team can't finish this line, they're not ready:</a:t>
            </a:r>
            <a:endParaRPr sz="1500">
              <a:solidFill>
                <a:schemeClr val="dk1"/>
              </a:solidFill>
              <a:latin typeface="Calibri"/>
              <a:ea typeface="Calibri"/>
              <a:cs typeface="Calibri"/>
            </a:endParaRPr>
          </a:p>
        </p:txBody>
      </p:sp>
      <p:sp>
        <p:nvSpPr>
          <p:cNvPr id="149" name="Google Shape;149;p6">
            <a:extLst xmlns:a="http://schemas.openxmlformats.org/drawingml/2006/main">
              <a:ext uri="{FF2B5EF4-FFF2-40B4-BE49-F238E27FC236}">
                <a16:creationId xmlns:a16="http://schemas.microsoft.com/office/drawing/2014/main" id="{633D3C50-C0B4-4DD0-8FFD-6B77715112FC}"/>
              </a:ext>
            </a:extLst>
          </p:cNvPr>
          <p:cNvSpPr>
            <a:spLocks xmlns:a="http://schemas.openxmlformats.org/drawingml/2006/main" noGrp="1"/>
          </p:cNvSpPr>
          <p:nvPr/>
        </p:nvSpPr>
        <p:spPr>
          <a:xfrm xmlns:a="http://schemas.openxmlformats.org/drawingml/2006/main">
            <a:off x="6446520" y="3277091"/>
            <a:ext cx="4663440" cy="1463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dk1"/>
              </a:buClr>
              <a:buSzPts val="2000"/>
              <a:buFont typeface="Cambria"/>
              <a:buNone/>
            </a:pPr>
            <a:r>
              <a:rPr sz="2000" b="1" i="1">
                <a:solidFill>
                  <a:schemeClr val="dk1"/>
                </a:solidFill>
                <a:latin typeface="Cambria"/>
                <a:ea typeface="Cambria"/>
                <a:cs typeface="Cambria"/>
              </a:rPr>
              <a:t>“We help [who] do [what] so they can [why it matters], proven by [the demo].”</a:t>
            </a:r>
            <a:endParaRPr sz="2000">
              <a:solidFill>
                <a:schemeClr val="dk1"/>
              </a:solidFill>
              <a:latin typeface="Calibri"/>
              <a:ea typeface="Calibri"/>
              <a:cs typeface="Calibri"/>
            </a:endParaRPr>
          </a:p>
        </p:txBody>
      </p:sp>
      <p:pic>
        <p:nvPicPr>
          <p:cNvPr id="150" name="Google Shape;150;p6">
            <a:extLst xmlns:a="http://schemas.openxmlformats.org/drawingml/2006/main">
              <a:ext uri="{FF2B5EF4-FFF2-40B4-BE49-F238E27FC236}">
                <a16:creationId xmlns:a16="http://schemas.microsoft.com/office/drawing/2014/main" id="{68E0543D-CA0E-463D-BBB8-EBA91E0A25B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d12c7ae283948ca">
            <a:alphaModFix/>
          </a:blip>
          <a:srcRect xmlns:a="http://schemas.openxmlformats.org/drawingml/2006/main" l="0" t="0" r="0" b="0"/>
          <a:stretch xmlns:a="http://schemas.openxmlformats.org/drawingml/2006/main"/>
        </p:blipFill>
        <p:spPr>
          <a:xfrm xmlns:a="http://schemas.openxmlformats.org/drawingml/2006/main">
            <a:off x="6446520" y="5060171"/>
            <a:ext cx="365760" cy="365760"/>
          </a:xfrm>
          <a:prstGeom xmlns:a="http://schemas.openxmlformats.org/drawingml/2006/main" prst="rect">
            <a:avLst/>
          </a:prstGeom>
          <a:ln xmlns:a="http://schemas.openxmlformats.org/drawingml/2006/main">
            <a:noFill/>
          </a:ln>
        </p:spPr>
      </p:pic>
      <p:sp>
        <p:nvSpPr>
          <p:cNvPr id="151" name="Google Shape;151;p6">
            <a:extLst xmlns:a="http://schemas.openxmlformats.org/drawingml/2006/main">
              <a:ext uri="{FF2B5EF4-FFF2-40B4-BE49-F238E27FC236}">
                <a16:creationId xmlns:a16="http://schemas.microsoft.com/office/drawing/2014/main" id="{76943C2F-CBE2-44D3-989D-009490D9005F}"/>
              </a:ext>
            </a:extLst>
          </p:cNvPr>
          <p:cNvSpPr>
            <a:spLocks xmlns:a="http://schemas.openxmlformats.org/drawingml/2006/main" noGrp="1"/>
          </p:cNvSpPr>
          <p:nvPr/>
        </p:nvSpPr>
        <p:spPr>
          <a:xfrm xmlns:a="http://schemas.openxmlformats.org/drawingml/2006/main">
            <a:off x="6903720" y="5069315"/>
            <a:ext cx="42062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Clr>
                <a:schemeClr val="dk1"/>
              </a:buClr>
              <a:buSzPts val="1500"/>
              <a:buFont typeface="Calibri"/>
              <a:buNone/>
            </a:pPr>
            <a:r>
              <a:rPr sz="1500" b="1">
                <a:solidFill>
                  <a:schemeClr val="dk1"/>
                </a:solidFill>
                <a:latin typeface="Calibri"/>
                <a:ea typeface="Calibri"/>
                <a:cs typeface="Calibri"/>
              </a:rPr>
              <a:t>Clear, proven, and easy to fund</a:t>
            </a:r>
            <a:endParaRPr sz="1500">
              <a:solidFill>
                <a:schemeClr val="dk1"/>
              </a:solidFill>
              <a:latin typeface="Calibri"/>
              <a:ea typeface="Calibri"/>
              <a:cs typeface="Calibri"/>
            </a:endParaRPr>
          </a:p>
        </p:txBody>
      </p:sp>
      <p:sp>
        <p:nvSpPr>
          <p:cNvPr id="152" name="Google Shape;152;p6">
            <a:extLst xmlns:a="http://schemas.openxmlformats.org/drawingml/2006/main">
              <a:ext uri="{FF2B5EF4-FFF2-40B4-BE49-F238E27FC236}">
                <a16:creationId xmlns:a16="http://schemas.microsoft.com/office/drawing/2014/main" id="{12183FF7-FA84-4A3C-BDA8-50E2FD7D8102}"/>
              </a:ext>
            </a:extLst>
          </p:cNvPr>
          <p:cNvSpPr>
            <a:spLocks xmlns:a="http://schemas.openxmlformats.org/drawingml/2006/main" noGrp="1"/>
          </p:cNvSpPr>
          <p:nvPr/>
        </p:nvSpPr>
        <p:spPr>
          <a:xfrm xmlns:a="http://schemas.openxmlformats.org/drawingml/2006/main">
            <a:off x="487680" y="755904"/>
            <a:ext cx="10972800" cy="85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5333" b="1">
                <a:solidFill>
                  <a:schemeClr val="dk1"/>
                </a:solidFill>
                <a:latin typeface="Calibri"/>
                <a:ea typeface="Calibri"/>
                <a:cs typeface="Calibri"/>
              </a:rPr>
              <a:t>Avoid These and Land It</a:t>
            </a:r>
            <a:endParaRPr/>
          </a:p>
        </p:txBody>
      </p:sp>
    </p:spTree>
    <p:extLst>
      <p:ext uri="{BB962C8B-B14F-4D97-AF65-F5344CB8AC3E}">
        <p14:creationId xmlns:p14="http://schemas.microsoft.com/office/powerpoint/2010/main" val="134473635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58" name="Google Shape;158;p7">
            <a:extLst xmlns:a="http://schemas.openxmlformats.org/drawingml/2006/main">
              <a:ext uri="{FF2B5EF4-FFF2-40B4-BE49-F238E27FC236}">
                <a16:creationId xmlns:a16="http://schemas.microsoft.com/office/drawing/2014/main" id="{F4033926-B150-4BF4-B2EC-787F8C5A7083}"/>
              </a:ext>
            </a:extLst>
          </p:cNvPr>
          <p:cNvSpPr>
            <a:spLocks xmlns:a="http://schemas.openxmlformats.org/drawingml/2006/main" noGrp="1"/>
          </p:cNvSpPr>
          <p:nvPr/>
        </p:nvSpPr>
        <p:spPr>
          <a:xfrm xmlns:a="http://schemas.openxmlformats.org/drawingml/2006/main">
            <a:off x="609600" y="609600"/>
            <a:ext cx="10972800" cy="12801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6933" b="1">
                <a:solidFill>
                  <a:schemeClr val="dk1"/>
                </a:solidFill>
                <a:latin typeface="Calibri"/>
                <a:ea typeface="Calibri"/>
                <a:cs typeface="Calibri"/>
              </a:rPr>
              <a:t>PITCH DECK TEMPLATE</a:t>
            </a:r>
            <a:endParaRPr sz="6933">
              <a:solidFill>
                <a:schemeClr val="dk1"/>
              </a:solidFill>
              <a:latin typeface="Calibri"/>
              <a:ea typeface="Calibri"/>
              <a:cs typeface="Calibri"/>
            </a:endParaRPr>
          </a:p>
        </p:txBody>
      </p:sp>
      <p:sp>
        <p:nvSpPr>
          <p:cNvPr id="159" name="Google Shape;159;p7">
            <a:extLst xmlns:a="http://schemas.openxmlformats.org/drawingml/2006/main">
              <a:ext uri="{FF2B5EF4-FFF2-40B4-BE49-F238E27FC236}">
                <a16:creationId xmlns:a16="http://schemas.microsoft.com/office/drawing/2014/main" id="{9600BFAD-6EE6-453A-B967-6027F09307C5}"/>
              </a:ext>
            </a:extLst>
          </p:cNvPr>
          <p:cNvSpPr>
            <a:spLocks xmlns:a="http://schemas.openxmlformats.org/drawingml/2006/main" noGrp="1"/>
          </p:cNvSpPr>
          <p:nvPr/>
        </p:nvSpPr>
        <p:spPr>
          <a:xfrm xmlns:a="http://schemas.openxmlformats.org/drawingml/2006/main">
            <a:off x="609600" y="1889760"/>
            <a:ext cx="1097280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2667" i="1">
                <a:solidFill>
                  <a:schemeClr val="dk1"/>
                </a:solidFill>
                <a:latin typeface="Calibri"/>
                <a:ea typeface="Calibri"/>
                <a:cs typeface="Calibri"/>
              </a:rPr>
              <a:t>3-Minute Pitch  |  2-Minute Q&amp;A</a:t>
            </a:r>
            <a:endParaRPr sz="2667">
              <a:solidFill>
                <a:schemeClr val="dk1"/>
              </a:solidFill>
              <a:latin typeface="Calibri"/>
              <a:ea typeface="Calibri"/>
              <a:cs typeface="Calibri"/>
            </a:endParaRPr>
          </a:p>
        </p:txBody>
      </p:sp>
      <p:sp>
        <p:nvSpPr>
          <p:cNvPr id="160" name="Google Shape;160;p7">
            <a:extLst xmlns:a="http://schemas.openxmlformats.org/drawingml/2006/main">
              <a:ext uri="{FF2B5EF4-FFF2-40B4-BE49-F238E27FC236}">
                <a16:creationId xmlns:a16="http://schemas.microsoft.com/office/drawing/2014/main" id="{01612030-BCF2-455F-84A9-ADE067573082}"/>
              </a:ext>
            </a:extLst>
          </p:cNvPr>
          <p:cNvSpPr>
            <a:spLocks xmlns:a="http://schemas.openxmlformats.org/drawingml/2006/main" noGrp="1"/>
          </p:cNvSpPr>
          <p:nvPr/>
        </p:nvSpPr>
        <p:spPr>
          <a:xfrm xmlns:a="http://schemas.openxmlformats.org/drawingml/2006/main">
            <a:off x="2438400" y="2535936"/>
            <a:ext cx="7315200" cy="48768"/>
          </a:xfrm>
          <a:prstGeom xmlns:a="http://schemas.openxmlformats.org/drawingml/2006/main" prst="rect">
            <a:avLst/>
          </a:prstGeom>
          <a:solidFill xmlns:a="http://schemas.openxmlformats.org/drawingml/2006/main">
            <a:srgbClr val="FFE600"/>
          </a:solidFill>
          <a:ln xmlns:a="http://schemas.openxmlformats.org/drawingml/2006/main" w="12700" cap="flat" cmpd="sng">
            <a:solidFill>
              <a:srgbClr val="FFE600"/>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161" name="Google Shape;161;p7">
            <a:extLst xmlns:a="http://schemas.openxmlformats.org/drawingml/2006/main">
              <a:ext uri="{FF2B5EF4-FFF2-40B4-BE49-F238E27FC236}">
                <a16:creationId xmlns:a16="http://schemas.microsoft.com/office/drawing/2014/main" id="{B5252791-C9FC-480C-A55F-A7E57D8A0ECF}"/>
              </a:ext>
            </a:extLst>
          </p:cNvPr>
          <p:cNvSpPr>
            <a:spLocks xmlns:a="http://schemas.openxmlformats.org/drawingml/2006/main" noGrp="1"/>
          </p:cNvSpPr>
          <p:nvPr/>
        </p:nvSpPr>
        <p:spPr>
          <a:xfrm xmlns:a="http://schemas.openxmlformats.org/drawingml/2006/main">
            <a:off x="374415" y="2828544"/>
            <a:ext cx="1487424" cy="1121664"/>
          </a:xfrm>
          <a:prstGeom xmlns:a="http://schemas.openxmlformats.org/drawingml/2006/main" prst="rect">
            <a:avLst/>
          </a:prstGeom>
          <a:solidFill xmlns:a="http://schemas.openxmlformats.org/drawingml/2006/main">
            <a:srgbClr val="FFE600"/>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162" name="Google Shape;162;p7">
            <a:extLst xmlns:a="http://schemas.openxmlformats.org/drawingml/2006/main">
              <a:ext uri="{FF2B5EF4-FFF2-40B4-BE49-F238E27FC236}">
                <a16:creationId xmlns:a16="http://schemas.microsoft.com/office/drawing/2014/main" id="{B3BE9A88-F14C-4806-B352-4D2AAA107883}"/>
              </a:ext>
            </a:extLst>
          </p:cNvPr>
          <p:cNvSpPr>
            <a:spLocks xmlns:a="http://schemas.openxmlformats.org/drawingml/2006/main" noGrp="1"/>
          </p:cNvSpPr>
          <p:nvPr/>
        </p:nvSpPr>
        <p:spPr>
          <a:xfrm xmlns:a="http://schemas.openxmlformats.org/drawingml/2006/main">
            <a:off x="374415" y="2852928"/>
            <a:ext cx="1487424" cy="3901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867" b="1">
                <a:solidFill>
                  <a:schemeClr val="dk1"/>
                </a:solidFill>
                <a:latin typeface="Calibri"/>
                <a:ea typeface="Calibri"/>
                <a:cs typeface="Calibri"/>
              </a:rPr>
              <a:t>01</a:t>
            </a:r>
            <a:endParaRPr sz="1867">
              <a:solidFill>
                <a:schemeClr val="dk1"/>
              </a:solidFill>
              <a:latin typeface="Calibri"/>
              <a:ea typeface="Calibri"/>
              <a:cs typeface="Calibri"/>
            </a:endParaRPr>
          </a:p>
        </p:txBody>
      </p:sp>
      <p:sp>
        <p:nvSpPr>
          <p:cNvPr id="163" name="Google Shape;163;p7">
            <a:extLst xmlns:a="http://schemas.openxmlformats.org/drawingml/2006/main">
              <a:ext uri="{FF2B5EF4-FFF2-40B4-BE49-F238E27FC236}">
                <a16:creationId xmlns:a16="http://schemas.microsoft.com/office/drawing/2014/main" id="{6295B22E-BCE0-4EE8-BE7A-1D29CCD85668}"/>
              </a:ext>
            </a:extLst>
          </p:cNvPr>
          <p:cNvSpPr>
            <a:spLocks xmlns:a="http://schemas.openxmlformats.org/drawingml/2006/main" noGrp="1"/>
          </p:cNvSpPr>
          <p:nvPr/>
        </p:nvSpPr>
        <p:spPr>
          <a:xfrm xmlns:a="http://schemas.openxmlformats.org/drawingml/2006/main">
            <a:off x="374415" y="3218688"/>
            <a:ext cx="1487424" cy="670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200" b="1">
                <a:solidFill>
                  <a:schemeClr val="dk1"/>
                </a:solidFill>
                <a:latin typeface="Calibri"/>
                <a:ea typeface="Calibri"/>
                <a:cs typeface="Calibri"/>
              </a:rPr>
              <a:t>Cover</a:t>
            </a:r>
            <a:endParaRPr sz="1200">
              <a:solidFill>
                <a:schemeClr val="dk1"/>
              </a:solidFill>
              <a:latin typeface="Calibri"/>
              <a:ea typeface="Calibri"/>
              <a:cs typeface="Calibri"/>
            </a:endParaRPr>
          </a:p>
          <a:p xmlns:a="http://schemas.openxmlformats.org/drawingml/2006/main">
            <a:pPr marL="0" marR="0" lvl="0" indent="0" algn="ctr">
              <a:spcBef>
                <a:spcPts val="0"/>
              </a:spcBef>
              <a:spcAft>
                <a:spcPts val="0"/>
              </a:spcAft>
              <a:buNone/>
            </a:pPr>
            <a:r>
              <a:rPr sz="1200" b="1">
                <a:solidFill>
                  <a:schemeClr val="dk1"/>
                </a:solidFill>
                <a:latin typeface="Calibri"/>
                <a:ea typeface="Calibri"/>
                <a:cs typeface="Calibri"/>
              </a:rPr>
              <a:t>&amp; Hook</a:t>
            </a:r>
            <a:endParaRPr sz="1200">
              <a:solidFill>
                <a:schemeClr val="dk1"/>
              </a:solidFill>
              <a:latin typeface="Calibri"/>
              <a:ea typeface="Calibri"/>
              <a:cs typeface="Calibri"/>
            </a:endParaRPr>
          </a:p>
        </p:txBody>
      </p:sp>
      <p:sp>
        <p:nvSpPr>
          <p:cNvPr id="164" name="Google Shape;164;p7">
            <a:extLst xmlns:a="http://schemas.openxmlformats.org/drawingml/2006/main">
              <a:ext uri="{FF2B5EF4-FFF2-40B4-BE49-F238E27FC236}">
                <a16:creationId xmlns:a16="http://schemas.microsoft.com/office/drawing/2014/main" id="{7C57E872-C9A5-43FB-BE26-5634CD94E101}"/>
              </a:ext>
            </a:extLst>
          </p:cNvPr>
          <p:cNvSpPr>
            <a:spLocks xmlns:a="http://schemas.openxmlformats.org/drawingml/2006/main" noGrp="1"/>
          </p:cNvSpPr>
          <p:nvPr/>
        </p:nvSpPr>
        <p:spPr>
          <a:xfrm xmlns:a="http://schemas.openxmlformats.org/drawingml/2006/main">
            <a:off x="2056911" y="2828544"/>
            <a:ext cx="1487424" cy="1121664"/>
          </a:xfrm>
          <a:prstGeom xmlns:a="http://schemas.openxmlformats.org/drawingml/2006/main" prst="rect">
            <a:avLst/>
          </a:prstGeom>
          <a:solidFill xmlns:a="http://schemas.openxmlformats.org/drawingml/2006/main">
            <a:srgbClr val="FEF2CC"/>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165" name="Google Shape;165;p7">
            <a:extLst xmlns:a="http://schemas.openxmlformats.org/drawingml/2006/main">
              <a:ext uri="{FF2B5EF4-FFF2-40B4-BE49-F238E27FC236}">
                <a16:creationId xmlns:a16="http://schemas.microsoft.com/office/drawing/2014/main" id="{C89887F3-E54A-42F8-8A50-D687CD9DF64A}"/>
              </a:ext>
            </a:extLst>
          </p:cNvPr>
          <p:cNvSpPr>
            <a:spLocks xmlns:a="http://schemas.openxmlformats.org/drawingml/2006/main" noGrp="1"/>
          </p:cNvSpPr>
          <p:nvPr/>
        </p:nvSpPr>
        <p:spPr>
          <a:xfrm xmlns:a="http://schemas.openxmlformats.org/drawingml/2006/main">
            <a:off x="2056911" y="2852928"/>
            <a:ext cx="1487424" cy="3901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867" b="1">
                <a:solidFill>
                  <a:schemeClr val="dk1"/>
                </a:solidFill>
                <a:latin typeface="Calibri"/>
                <a:ea typeface="Calibri"/>
                <a:cs typeface="Calibri"/>
              </a:rPr>
              <a:t>02</a:t>
            </a:r>
            <a:endParaRPr sz="1867">
              <a:solidFill>
                <a:schemeClr val="dk1"/>
              </a:solidFill>
              <a:latin typeface="Calibri"/>
              <a:ea typeface="Calibri"/>
              <a:cs typeface="Calibri"/>
            </a:endParaRPr>
          </a:p>
        </p:txBody>
      </p:sp>
      <p:sp>
        <p:nvSpPr>
          <p:cNvPr id="166" name="Google Shape;166;p7">
            <a:extLst xmlns:a="http://schemas.openxmlformats.org/drawingml/2006/main">
              <a:ext uri="{FF2B5EF4-FFF2-40B4-BE49-F238E27FC236}">
                <a16:creationId xmlns:a16="http://schemas.microsoft.com/office/drawing/2014/main" id="{3A443DA2-FA15-4665-B8EE-12C741F0B629}"/>
              </a:ext>
            </a:extLst>
          </p:cNvPr>
          <p:cNvSpPr>
            <a:spLocks xmlns:a="http://schemas.openxmlformats.org/drawingml/2006/main" noGrp="1"/>
          </p:cNvSpPr>
          <p:nvPr/>
        </p:nvSpPr>
        <p:spPr>
          <a:xfrm xmlns:a="http://schemas.openxmlformats.org/drawingml/2006/main">
            <a:off x="2056911" y="3218688"/>
            <a:ext cx="1487424" cy="670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200" b="1">
                <a:solidFill>
                  <a:schemeClr val="dk1"/>
                </a:solidFill>
                <a:latin typeface="Calibri"/>
                <a:ea typeface="Calibri"/>
                <a:cs typeface="Calibri"/>
              </a:rPr>
              <a:t>Team</a:t>
            </a:r>
            <a:endParaRPr sz="1200">
              <a:solidFill>
                <a:schemeClr val="dk1"/>
              </a:solidFill>
              <a:latin typeface="Calibri"/>
              <a:ea typeface="Calibri"/>
              <a:cs typeface="Calibri"/>
            </a:endParaRPr>
          </a:p>
        </p:txBody>
      </p:sp>
      <p:sp>
        <p:nvSpPr>
          <p:cNvPr id="167" name="Google Shape;167;p7">
            <a:extLst xmlns:a="http://schemas.openxmlformats.org/drawingml/2006/main">
              <a:ext uri="{FF2B5EF4-FFF2-40B4-BE49-F238E27FC236}">
                <a16:creationId xmlns:a16="http://schemas.microsoft.com/office/drawing/2014/main" id="{4F94FABC-AAA1-4AA0-8F5D-2F8995DE7427}"/>
              </a:ext>
            </a:extLst>
          </p:cNvPr>
          <p:cNvSpPr>
            <a:spLocks xmlns:a="http://schemas.openxmlformats.org/drawingml/2006/main" noGrp="1"/>
          </p:cNvSpPr>
          <p:nvPr/>
        </p:nvSpPr>
        <p:spPr>
          <a:xfrm xmlns:a="http://schemas.openxmlformats.org/drawingml/2006/main">
            <a:off x="3739407" y="2828544"/>
            <a:ext cx="1487424" cy="1121664"/>
          </a:xfrm>
          <a:prstGeom xmlns:a="http://schemas.openxmlformats.org/drawingml/2006/main" prst="rect">
            <a:avLst/>
          </a:prstGeom>
          <a:solidFill xmlns:a="http://schemas.openxmlformats.org/drawingml/2006/main">
            <a:srgbClr val="FFE4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168" name="Google Shape;168;p7">
            <a:extLst xmlns:a="http://schemas.openxmlformats.org/drawingml/2006/main">
              <a:ext uri="{FF2B5EF4-FFF2-40B4-BE49-F238E27FC236}">
                <a16:creationId xmlns:a16="http://schemas.microsoft.com/office/drawing/2014/main" id="{EC333AAC-854F-4D62-BE9E-B883D1FBEE65}"/>
              </a:ext>
            </a:extLst>
          </p:cNvPr>
          <p:cNvSpPr>
            <a:spLocks xmlns:a="http://schemas.openxmlformats.org/drawingml/2006/main" noGrp="1"/>
          </p:cNvSpPr>
          <p:nvPr/>
        </p:nvSpPr>
        <p:spPr>
          <a:xfrm xmlns:a="http://schemas.openxmlformats.org/drawingml/2006/main">
            <a:off x="3739407" y="2852928"/>
            <a:ext cx="1487424" cy="3901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867" b="1">
                <a:solidFill>
                  <a:schemeClr val="dk1"/>
                </a:solidFill>
                <a:latin typeface="Calibri"/>
                <a:ea typeface="Calibri"/>
                <a:cs typeface="Calibri"/>
              </a:rPr>
              <a:t>03</a:t>
            </a:r>
            <a:endParaRPr sz="1867">
              <a:solidFill>
                <a:schemeClr val="dk1"/>
              </a:solidFill>
              <a:latin typeface="Calibri"/>
              <a:ea typeface="Calibri"/>
              <a:cs typeface="Calibri"/>
            </a:endParaRPr>
          </a:p>
        </p:txBody>
      </p:sp>
      <p:sp>
        <p:nvSpPr>
          <p:cNvPr id="169" name="Google Shape;169;p7">
            <a:extLst xmlns:a="http://schemas.openxmlformats.org/drawingml/2006/main">
              <a:ext uri="{FF2B5EF4-FFF2-40B4-BE49-F238E27FC236}">
                <a16:creationId xmlns:a16="http://schemas.microsoft.com/office/drawing/2014/main" id="{9500BD92-9B54-4439-8F7D-5896A23C063D}"/>
              </a:ext>
            </a:extLst>
          </p:cNvPr>
          <p:cNvSpPr>
            <a:spLocks xmlns:a="http://schemas.openxmlformats.org/drawingml/2006/main" noGrp="1"/>
          </p:cNvSpPr>
          <p:nvPr/>
        </p:nvSpPr>
        <p:spPr>
          <a:xfrm xmlns:a="http://schemas.openxmlformats.org/drawingml/2006/main">
            <a:off x="3739407" y="3218688"/>
            <a:ext cx="1487424" cy="670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200" b="1">
                <a:solidFill>
                  <a:schemeClr val="dk1"/>
                </a:solidFill>
                <a:latin typeface="Calibri"/>
                <a:ea typeface="Calibri"/>
                <a:cs typeface="Calibri"/>
              </a:rPr>
              <a:t>Problem</a:t>
            </a:r>
            <a:endParaRPr sz="1200">
              <a:solidFill>
                <a:schemeClr val="dk1"/>
              </a:solidFill>
              <a:latin typeface="Calibri"/>
              <a:ea typeface="Calibri"/>
              <a:cs typeface="Calibri"/>
            </a:endParaRPr>
          </a:p>
        </p:txBody>
      </p:sp>
      <p:sp>
        <p:nvSpPr>
          <p:cNvPr id="170" name="Google Shape;170;p7">
            <a:extLst xmlns:a="http://schemas.openxmlformats.org/drawingml/2006/main">
              <a:ext uri="{FF2B5EF4-FFF2-40B4-BE49-F238E27FC236}">
                <a16:creationId xmlns:a16="http://schemas.microsoft.com/office/drawing/2014/main" id="{52A811FD-CCAD-43E7-944C-E116A5D086B7}"/>
              </a:ext>
            </a:extLst>
          </p:cNvPr>
          <p:cNvSpPr>
            <a:spLocks xmlns:a="http://schemas.openxmlformats.org/drawingml/2006/main" noGrp="1"/>
          </p:cNvSpPr>
          <p:nvPr/>
        </p:nvSpPr>
        <p:spPr>
          <a:xfrm xmlns:a="http://schemas.openxmlformats.org/drawingml/2006/main">
            <a:off x="5421903" y="2828544"/>
            <a:ext cx="1487424" cy="1121664"/>
          </a:xfrm>
          <a:prstGeom xmlns:a="http://schemas.openxmlformats.org/drawingml/2006/main" prst="rect">
            <a:avLst/>
          </a:prstGeom>
          <a:solidFill xmlns:a="http://schemas.openxmlformats.org/drawingml/2006/main">
            <a:srgbClr val="FFD865"/>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171" name="Google Shape;171;p7">
            <a:extLst xmlns:a="http://schemas.openxmlformats.org/drawingml/2006/main">
              <a:ext uri="{FF2B5EF4-FFF2-40B4-BE49-F238E27FC236}">
                <a16:creationId xmlns:a16="http://schemas.microsoft.com/office/drawing/2014/main" id="{B33F3922-1785-4825-A30F-F33FD1AD963C}"/>
              </a:ext>
            </a:extLst>
          </p:cNvPr>
          <p:cNvSpPr>
            <a:spLocks xmlns:a="http://schemas.openxmlformats.org/drawingml/2006/main" noGrp="1"/>
          </p:cNvSpPr>
          <p:nvPr/>
        </p:nvSpPr>
        <p:spPr>
          <a:xfrm xmlns:a="http://schemas.openxmlformats.org/drawingml/2006/main">
            <a:off x="5421903" y="2852928"/>
            <a:ext cx="1487424" cy="3901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867" b="1">
                <a:solidFill>
                  <a:schemeClr val="dk1"/>
                </a:solidFill>
                <a:latin typeface="Calibri"/>
                <a:ea typeface="Calibri"/>
                <a:cs typeface="Calibri"/>
              </a:rPr>
              <a:t>04</a:t>
            </a:r>
            <a:endParaRPr sz="1867">
              <a:solidFill>
                <a:schemeClr val="dk1"/>
              </a:solidFill>
              <a:latin typeface="Calibri"/>
              <a:ea typeface="Calibri"/>
              <a:cs typeface="Calibri"/>
            </a:endParaRPr>
          </a:p>
        </p:txBody>
      </p:sp>
      <p:sp>
        <p:nvSpPr>
          <p:cNvPr id="172" name="Google Shape;172;p7">
            <a:extLst xmlns:a="http://schemas.openxmlformats.org/drawingml/2006/main">
              <a:ext uri="{FF2B5EF4-FFF2-40B4-BE49-F238E27FC236}">
                <a16:creationId xmlns:a16="http://schemas.microsoft.com/office/drawing/2014/main" id="{40330219-A8A0-4137-8600-620EF3718EE1}"/>
              </a:ext>
            </a:extLst>
          </p:cNvPr>
          <p:cNvSpPr>
            <a:spLocks xmlns:a="http://schemas.openxmlformats.org/drawingml/2006/main" noGrp="1"/>
          </p:cNvSpPr>
          <p:nvPr/>
        </p:nvSpPr>
        <p:spPr>
          <a:xfrm xmlns:a="http://schemas.openxmlformats.org/drawingml/2006/main">
            <a:off x="5421903" y="3218688"/>
            <a:ext cx="1487424" cy="670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t/>
            </a:r>
            <a:endParaRPr sz="1200">
              <a:solidFill>
                <a:schemeClr val="dk1"/>
              </a:solidFill>
              <a:latin typeface="Calibri"/>
              <a:ea typeface="Calibri"/>
              <a:cs typeface="Calibri"/>
            </a:endParaRPr>
          </a:p>
        </p:txBody>
      </p:sp>
      <p:sp>
        <p:nvSpPr>
          <p:cNvPr id="173" name="Google Shape;173;p7">
            <a:extLst xmlns:a="http://schemas.openxmlformats.org/drawingml/2006/main">
              <a:ext uri="{FF2B5EF4-FFF2-40B4-BE49-F238E27FC236}">
                <a16:creationId xmlns:a16="http://schemas.microsoft.com/office/drawing/2014/main" id="{DF899851-A4F7-420C-83A8-46315D780441}"/>
              </a:ext>
            </a:extLst>
          </p:cNvPr>
          <p:cNvSpPr>
            <a:spLocks xmlns:a="http://schemas.openxmlformats.org/drawingml/2006/main" noGrp="1"/>
          </p:cNvSpPr>
          <p:nvPr/>
        </p:nvSpPr>
        <p:spPr>
          <a:xfrm xmlns:a="http://schemas.openxmlformats.org/drawingml/2006/main">
            <a:off x="7104399" y="2828544"/>
            <a:ext cx="1487424" cy="1121664"/>
          </a:xfrm>
          <a:prstGeom xmlns:a="http://schemas.openxmlformats.org/drawingml/2006/main" prst="rect">
            <a:avLst/>
          </a:prstGeom>
          <a:solidFill xmlns:a="http://schemas.openxmlformats.org/drawingml/2006/main">
            <a:srgbClr val="BF9000"/>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174" name="Google Shape;174;p7">
            <a:extLst xmlns:a="http://schemas.openxmlformats.org/drawingml/2006/main">
              <a:ext uri="{FF2B5EF4-FFF2-40B4-BE49-F238E27FC236}">
                <a16:creationId xmlns:a16="http://schemas.microsoft.com/office/drawing/2014/main" id="{7501B62C-0D27-4D0D-810A-CE49D3445808}"/>
              </a:ext>
            </a:extLst>
          </p:cNvPr>
          <p:cNvSpPr>
            <a:spLocks xmlns:a="http://schemas.openxmlformats.org/drawingml/2006/main" noGrp="1"/>
          </p:cNvSpPr>
          <p:nvPr/>
        </p:nvSpPr>
        <p:spPr>
          <a:xfrm xmlns:a="http://schemas.openxmlformats.org/drawingml/2006/main">
            <a:off x="7104399" y="2852928"/>
            <a:ext cx="1487424" cy="3901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867" b="1">
                <a:solidFill>
                  <a:schemeClr val="dk1"/>
                </a:solidFill>
                <a:latin typeface="Calibri"/>
                <a:ea typeface="Calibri"/>
                <a:cs typeface="Calibri"/>
              </a:rPr>
              <a:t>05</a:t>
            </a:r>
            <a:endParaRPr sz="1867">
              <a:solidFill>
                <a:schemeClr val="dk1"/>
              </a:solidFill>
              <a:latin typeface="Calibri"/>
              <a:ea typeface="Calibri"/>
              <a:cs typeface="Calibri"/>
            </a:endParaRPr>
          </a:p>
        </p:txBody>
      </p:sp>
      <p:sp>
        <p:nvSpPr>
          <p:cNvPr id="175" name="Google Shape;175;p7">
            <a:extLst xmlns:a="http://schemas.openxmlformats.org/drawingml/2006/main">
              <a:ext uri="{FF2B5EF4-FFF2-40B4-BE49-F238E27FC236}">
                <a16:creationId xmlns:a16="http://schemas.microsoft.com/office/drawing/2014/main" id="{2EA525EA-D3AC-4100-A9A4-D1463AC51DAD}"/>
              </a:ext>
            </a:extLst>
          </p:cNvPr>
          <p:cNvSpPr>
            <a:spLocks xmlns:a="http://schemas.openxmlformats.org/drawingml/2006/main" noGrp="1"/>
          </p:cNvSpPr>
          <p:nvPr/>
        </p:nvSpPr>
        <p:spPr>
          <a:xfrm xmlns:a="http://schemas.openxmlformats.org/drawingml/2006/main">
            <a:off x="7104399" y="3218688"/>
            <a:ext cx="1487424" cy="670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200" b="1">
                <a:solidFill>
                  <a:schemeClr val="dk1"/>
                </a:solidFill>
                <a:latin typeface="Calibri"/>
                <a:ea typeface="Calibri"/>
                <a:cs typeface="Calibri"/>
              </a:rPr>
              <a:t>Why Us</a:t>
            </a:r>
            <a:endParaRPr sz="1200">
              <a:solidFill>
                <a:schemeClr val="dk1"/>
              </a:solidFill>
              <a:latin typeface="Calibri"/>
              <a:ea typeface="Calibri"/>
              <a:cs typeface="Calibri"/>
            </a:endParaRPr>
          </a:p>
          <a:p xmlns:a="http://schemas.openxmlformats.org/drawingml/2006/main">
            <a:pPr marL="0" marR="0" lvl="0" indent="0" algn="ctr">
              <a:spcBef>
                <a:spcPts val="0"/>
              </a:spcBef>
              <a:spcAft>
                <a:spcPts val="0"/>
              </a:spcAft>
              <a:buNone/>
            </a:pPr>
            <a:r>
              <a:rPr sz="1200" b="1">
                <a:solidFill>
                  <a:schemeClr val="dk1"/>
                </a:solidFill>
                <a:latin typeface="Calibri"/>
                <a:ea typeface="Calibri"/>
                <a:cs typeface="Calibri"/>
              </a:rPr>
              <a:t>&amp; USPs</a:t>
            </a:r>
            <a:endParaRPr/>
          </a:p>
        </p:txBody>
      </p:sp>
      <p:sp>
        <p:nvSpPr>
          <p:cNvPr id="176" name="Google Shape;176;p7">
            <a:extLst xmlns:a="http://schemas.openxmlformats.org/drawingml/2006/main">
              <a:ext uri="{FF2B5EF4-FFF2-40B4-BE49-F238E27FC236}">
                <a16:creationId xmlns:a16="http://schemas.microsoft.com/office/drawing/2014/main" id="{347B98B5-1BBA-472E-9DFF-FAFBD3D81748}"/>
              </a:ext>
            </a:extLst>
          </p:cNvPr>
          <p:cNvSpPr>
            <a:spLocks xmlns:a="http://schemas.openxmlformats.org/drawingml/2006/main" noGrp="1"/>
          </p:cNvSpPr>
          <p:nvPr/>
        </p:nvSpPr>
        <p:spPr>
          <a:xfrm xmlns:a="http://schemas.openxmlformats.org/drawingml/2006/main">
            <a:off x="8786895" y="2828544"/>
            <a:ext cx="1487424" cy="1121664"/>
          </a:xfrm>
          <a:prstGeom xmlns:a="http://schemas.openxmlformats.org/drawingml/2006/main" prst="rect">
            <a:avLst/>
          </a:prstGeom>
          <a:solidFill xmlns:a="http://schemas.openxmlformats.org/drawingml/2006/main">
            <a:srgbClr val="7F6000"/>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177" name="Google Shape;177;p7">
            <a:extLst xmlns:a="http://schemas.openxmlformats.org/drawingml/2006/main">
              <a:ext uri="{FF2B5EF4-FFF2-40B4-BE49-F238E27FC236}">
                <a16:creationId xmlns:a16="http://schemas.microsoft.com/office/drawing/2014/main" id="{AC21F6AD-6AE3-4512-B464-D449EB4EB323}"/>
              </a:ext>
            </a:extLst>
          </p:cNvPr>
          <p:cNvSpPr>
            <a:spLocks xmlns:a="http://schemas.openxmlformats.org/drawingml/2006/main" noGrp="1"/>
          </p:cNvSpPr>
          <p:nvPr/>
        </p:nvSpPr>
        <p:spPr>
          <a:xfrm xmlns:a="http://schemas.openxmlformats.org/drawingml/2006/main">
            <a:off x="8786895" y="2852928"/>
            <a:ext cx="1487424" cy="3901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867" b="1">
                <a:solidFill>
                  <a:schemeClr val="dk1"/>
                </a:solidFill>
                <a:latin typeface="Calibri"/>
                <a:ea typeface="Calibri"/>
                <a:cs typeface="Calibri"/>
              </a:rPr>
              <a:t>06</a:t>
            </a:r>
            <a:endParaRPr sz="1867">
              <a:solidFill>
                <a:schemeClr val="dk1"/>
              </a:solidFill>
              <a:latin typeface="Calibri"/>
              <a:ea typeface="Calibri"/>
              <a:cs typeface="Calibri"/>
            </a:endParaRPr>
          </a:p>
        </p:txBody>
      </p:sp>
      <p:sp>
        <p:nvSpPr>
          <p:cNvPr id="178" name="Google Shape;178;p7">
            <a:extLst xmlns:a="http://schemas.openxmlformats.org/drawingml/2006/main">
              <a:ext uri="{FF2B5EF4-FFF2-40B4-BE49-F238E27FC236}">
                <a16:creationId xmlns:a16="http://schemas.microsoft.com/office/drawing/2014/main" id="{055B0B0C-D4E6-4641-80C1-D29B7038E040}"/>
              </a:ext>
            </a:extLst>
          </p:cNvPr>
          <p:cNvSpPr>
            <a:spLocks xmlns:a="http://schemas.openxmlformats.org/drawingml/2006/main" noGrp="1"/>
          </p:cNvSpPr>
          <p:nvPr/>
        </p:nvSpPr>
        <p:spPr>
          <a:xfrm xmlns:a="http://schemas.openxmlformats.org/drawingml/2006/main">
            <a:off x="8786895" y="3218688"/>
            <a:ext cx="1487424" cy="670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200" b="1">
                <a:solidFill>
                  <a:schemeClr val="dk1"/>
                </a:solidFill>
                <a:latin typeface="Calibri"/>
                <a:ea typeface="Calibri"/>
                <a:cs typeface="Calibri"/>
              </a:rPr>
              <a:t>Traction</a:t>
            </a:r>
            <a:endParaRPr sz="1200">
              <a:solidFill>
                <a:schemeClr val="dk1"/>
              </a:solidFill>
              <a:latin typeface="Calibri"/>
              <a:ea typeface="Calibri"/>
              <a:cs typeface="Calibri"/>
            </a:endParaRPr>
          </a:p>
        </p:txBody>
      </p:sp>
      <p:sp>
        <p:nvSpPr>
          <p:cNvPr id="179" name="Google Shape;179;p7">
            <a:extLst xmlns:a="http://schemas.openxmlformats.org/drawingml/2006/main">
              <a:ext uri="{FF2B5EF4-FFF2-40B4-BE49-F238E27FC236}">
                <a16:creationId xmlns:a16="http://schemas.microsoft.com/office/drawing/2014/main" id="{6D891D0E-1EE9-4530-9793-CECA9166A8AA}"/>
              </a:ext>
            </a:extLst>
          </p:cNvPr>
          <p:cNvSpPr>
            <a:spLocks xmlns:a="http://schemas.openxmlformats.org/drawingml/2006/main" noGrp="1"/>
          </p:cNvSpPr>
          <p:nvPr/>
        </p:nvSpPr>
        <p:spPr>
          <a:xfrm xmlns:a="http://schemas.openxmlformats.org/drawingml/2006/main">
            <a:off x="10469391" y="2828544"/>
            <a:ext cx="1487424" cy="1121664"/>
          </a:xfrm>
          <a:prstGeom xmlns:a="http://schemas.openxmlformats.org/drawingml/2006/main" prst="rect">
            <a:avLst/>
          </a:prstGeom>
          <a:solidFill xmlns:a="http://schemas.openxmlformats.org/drawingml/2006/main">
            <a:schemeClr val="accent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180" name="Google Shape;180;p7">
            <a:extLst xmlns:a="http://schemas.openxmlformats.org/drawingml/2006/main">
              <a:ext uri="{FF2B5EF4-FFF2-40B4-BE49-F238E27FC236}">
                <a16:creationId xmlns:a16="http://schemas.microsoft.com/office/drawing/2014/main" id="{6D8D611F-AC33-455D-B01A-73B664FA4405}"/>
              </a:ext>
            </a:extLst>
          </p:cNvPr>
          <p:cNvSpPr>
            <a:spLocks xmlns:a="http://schemas.openxmlformats.org/drawingml/2006/main" noGrp="1"/>
          </p:cNvSpPr>
          <p:nvPr/>
        </p:nvSpPr>
        <p:spPr>
          <a:xfrm xmlns:a="http://schemas.openxmlformats.org/drawingml/2006/main">
            <a:off x="10469391" y="2852928"/>
            <a:ext cx="1487424" cy="3901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867" b="1">
                <a:solidFill>
                  <a:schemeClr val="dk1"/>
                </a:solidFill>
                <a:latin typeface="Calibri"/>
                <a:ea typeface="Calibri"/>
                <a:cs typeface="Calibri"/>
              </a:rPr>
              <a:t>07</a:t>
            </a:r>
            <a:endParaRPr sz="1867">
              <a:solidFill>
                <a:schemeClr val="dk1"/>
              </a:solidFill>
              <a:latin typeface="Calibri"/>
              <a:ea typeface="Calibri"/>
              <a:cs typeface="Calibri"/>
            </a:endParaRPr>
          </a:p>
        </p:txBody>
      </p:sp>
      <p:sp>
        <p:nvSpPr>
          <p:cNvPr id="181" name="Google Shape;181;p7">
            <a:extLst xmlns:a="http://schemas.openxmlformats.org/drawingml/2006/main">
              <a:ext uri="{FF2B5EF4-FFF2-40B4-BE49-F238E27FC236}">
                <a16:creationId xmlns:a16="http://schemas.microsoft.com/office/drawing/2014/main" id="{D50A406F-8C07-4C72-9842-801F87749D85}"/>
              </a:ext>
            </a:extLst>
          </p:cNvPr>
          <p:cNvSpPr>
            <a:spLocks xmlns:a="http://schemas.openxmlformats.org/drawingml/2006/main" noGrp="1"/>
          </p:cNvSpPr>
          <p:nvPr/>
        </p:nvSpPr>
        <p:spPr>
          <a:xfrm xmlns:a="http://schemas.openxmlformats.org/drawingml/2006/main">
            <a:off x="10469391" y="3218688"/>
            <a:ext cx="1487424" cy="670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200" b="1">
                <a:solidFill>
                  <a:schemeClr val="dk1"/>
                </a:solidFill>
                <a:latin typeface="Calibri"/>
                <a:ea typeface="Calibri"/>
                <a:cs typeface="Calibri"/>
              </a:rPr>
              <a:t>Next Steps</a:t>
            </a:r>
            <a:endParaRPr sz="1200">
              <a:solidFill>
                <a:schemeClr val="dk1"/>
              </a:solidFill>
              <a:latin typeface="Calibri"/>
              <a:ea typeface="Calibri"/>
              <a:cs typeface="Calibri"/>
            </a:endParaRPr>
          </a:p>
          <a:p xmlns:a="http://schemas.openxmlformats.org/drawingml/2006/main">
            <a:pPr marL="0" marR="0" lvl="0" indent="0" algn="ctr">
              <a:spcBef>
                <a:spcPts val="0"/>
              </a:spcBef>
              <a:spcAft>
                <a:spcPts val="0"/>
              </a:spcAft>
              <a:buNone/>
            </a:pPr>
            <a:r>
              <a:rPr sz="1200" b="1">
                <a:solidFill>
                  <a:schemeClr val="dk1"/>
                </a:solidFill>
                <a:latin typeface="Calibri"/>
                <a:ea typeface="Calibri"/>
                <a:cs typeface="Calibri"/>
              </a:rPr>
              <a:t>&amp; Ask</a:t>
            </a:r>
            <a:endParaRPr sz="1200">
              <a:solidFill>
                <a:schemeClr val="dk1"/>
              </a:solidFill>
              <a:latin typeface="Calibri"/>
              <a:ea typeface="Calibri"/>
              <a:cs typeface="Calibri"/>
            </a:endParaRPr>
          </a:p>
        </p:txBody>
      </p:sp>
      <p:sp>
        <p:nvSpPr>
          <p:cNvPr id="182" name="Google Shape;182;p7">
            <a:extLst xmlns:a="http://schemas.openxmlformats.org/drawingml/2006/main">
              <a:ext uri="{FF2B5EF4-FFF2-40B4-BE49-F238E27FC236}">
                <a16:creationId xmlns:a16="http://schemas.microsoft.com/office/drawing/2014/main" id="{29CE57C4-6238-4092-A86B-0029092A526C}"/>
              </a:ext>
            </a:extLst>
          </p:cNvPr>
          <p:cNvSpPr>
            <a:spLocks xmlns:a="http://schemas.openxmlformats.org/drawingml/2006/main" noGrp="1"/>
          </p:cNvSpPr>
          <p:nvPr/>
        </p:nvSpPr>
        <p:spPr>
          <a:xfrm xmlns:a="http://schemas.openxmlformats.org/drawingml/2006/main">
            <a:off x="487680" y="4120896"/>
            <a:ext cx="11216640" cy="512064"/>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lt1"/>
              </a:solidFill>
              <a:latin typeface="Calibri"/>
              <a:ea typeface="Calibri"/>
              <a:cs typeface="Calibri"/>
            </a:endParaRPr>
          </a:p>
        </p:txBody>
      </p:sp>
      <p:cxnSp>
        <p:nvCxnSpPr>
          <p:cNvPr id="183" name="Google Shape;183;p7">
            <a:extLst xmlns:a="http://schemas.openxmlformats.org/drawingml/2006/main">
              <a:ext uri="{FF2B5EF4-FFF2-40B4-BE49-F238E27FC236}">
                <a16:creationId xmlns:a16="http://schemas.microsoft.com/office/drawing/2014/main" id="{1C150277-EF3F-47DB-B2DC-7FB45AA94CF8}"/>
              </a:ext>
            </a:extLst>
          </p:cNvPr>
          <p:cNvCxnSpPr/>
          <p:nvPr/>
        </p:nvCxnSpPr>
        <p:spPr>
          <a:xfrm xmlns:a="http://schemas.openxmlformats.org/drawingml/2006/main">
            <a:off x="776751" y="4242816"/>
            <a:ext cx="0" cy="121920"/>
          </a:xfrm>
          <a:prstGeom xmlns:a="http://schemas.openxmlformats.org/drawingml/2006/main" prst="straightConnector1">
            <a:avLst/>
          </a:prstGeom>
          <a:ln xmlns:a="http://schemas.openxmlformats.org/drawingml/2006/main">
            <a:noFill/>
          </a:ln>
        </p:spPr>
      </p:cxnSp>
      <p:cxnSp>
        <p:nvCxnSpPr>
          <p:cNvPr id="184" name="Google Shape;184;p7">
            <a:extLst xmlns:a="http://schemas.openxmlformats.org/drawingml/2006/main">
              <a:ext uri="{FF2B5EF4-FFF2-40B4-BE49-F238E27FC236}">
                <a16:creationId xmlns:a16="http://schemas.microsoft.com/office/drawing/2014/main" id="{31FAB6D5-5920-4933-AD79-6E837B859DB7}"/>
              </a:ext>
            </a:extLst>
          </p:cNvPr>
          <p:cNvCxnSpPr/>
          <p:nvPr/>
        </p:nvCxnSpPr>
        <p:spPr>
          <a:xfrm xmlns:a="http://schemas.openxmlformats.org/drawingml/2006/main">
            <a:off x="776751" y="4364736"/>
            <a:ext cx="97536" cy="0"/>
          </a:xfrm>
          <a:prstGeom xmlns:a="http://schemas.openxmlformats.org/drawingml/2006/main" prst="straightConnector1">
            <a:avLst/>
          </a:prstGeom>
          <a:ln xmlns:a="http://schemas.openxmlformats.org/drawingml/2006/main">
            <a:noFill/>
          </a:ln>
        </p:spPr>
      </p:cxnSp>
      <p:sp>
        <p:nvSpPr>
          <p:cNvPr id="185" name="Google Shape;185;p7">
            <a:extLst xmlns:a="http://schemas.openxmlformats.org/drawingml/2006/main">
              <a:ext uri="{FF2B5EF4-FFF2-40B4-BE49-F238E27FC236}">
                <a16:creationId xmlns:a16="http://schemas.microsoft.com/office/drawing/2014/main" id="{8BE8E177-8E48-4C71-B6D0-3381BF918A4F}"/>
              </a:ext>
            </a:extLst>
          </p:cNvPr>
          <p:cNvSpPr>
            <a:spLocks xmlns:a="http://schemas.openxmlformats.org/drawingml/2006/main" noGrp="1"/>
          </p:cNvSpPr>
          <p:nvPr/>
        </p:nvSpPr>
        <p:spPr>
          <a:xfrm xmlns:a="http://schemas.openxmlformats.org/drawingml/2006/main">
            <a:off x="1219200" y="4145280"/>
            <a:ext cx="10241280" cy="4632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67" b="1">
                <a:solidFill>
                  <a:schemeClr val="lt1"/>
                </a:solidFill>
                <a:latin typeface="Calibri"/>
                <a:ea typeface="Calibri"/>
                <a:cs typeface="Calibri"/>
              </a:rPr>
              <a:t>Total speaking time: 3 min  |  ~25 sec per slide  |  Do NOT read the slides aloud</a:t>
            </a:r>
            <a:endParaRPr sz="1467">
              <a:solidFill>
                <a:schemeClr val="lt1"/>
              </a:solidFill>
              <a:latin typeface="Calibri"/>
              <a:ea typeface="Calibri"/>
              <a:cs typeface="Calibri"/>
            </a:endParaRPr>
          </a:p>
        </p:txBody>
      </p:sp>
      <p:sp>
        <p:nvSpPr>
          <p:cNvPr id="186" name="Google Shape;186;p7">
            <a:extLst xmlns:a="http://schemas.openxmlformats.org/drawingml/2006/main">
              <a:ext uri="{FF2B5EF4-FFF2-40B4-BE49-F238E27FC236}">
                <a16:creationId xmlns:a16="http://schemas.microsoft.com/office/drawing/2014/main" id="{916E5A4E-640B-4E67-A3CB-D42DD7C7A6DF}"/>
              </a:ext>
            </a:extLst>
          </p:cNvPr>
          <p:cNvSpPr>
            <a:spLocks xmlns:a="http://schemas.openxmlformats.org/drawingml/2006/main" noGrp="1"/>
          </p:cNvSpPr>
          <p:nvPr/>
        </p:nvSpPr>
        <p:spPr>
          <a:xfrm xmlns:a="http://schemas.openxmlformats.org/drawingml/2006/main">
            <a:off x="768096" y="4949952"/>
            <a:ext cx="219456" cy="219456"/>
          </a:xfrm>
          <a:prstGeom xmlns:a="http://schemas.openxmlformats.org/drawingml/2006/main" prst="ellipse">
            <a:avLst/>
          </a:prstGeom>
          <a:solidFill xmlns:a="http://schemas.openxmlformats.org/drawingml/2006/main">
            <a:srgbClr val="FFE600"/>
          </a:solidFill>
          <a:ln xmlns:a="http://schemas.openxmlformats.org/drawingml/2006/main" w="12700" cap="flat" cmpd="sng">
            <a:solidFill>
              <a:srgbClr val="FFE600"/>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187" name="Google Shape;187;p7">
            <a:extLst xmlns:a="http://schemas.openxmlformats.org/drawingml/2006/main">
              <a:ext uri="{FF2B5EF4-FFF2-40B4-BE49-F238E27FC236}">
                <a16:creationId xmlns:a16="http://schemas.microsoft.com/office/drawing/2014/main" id="{66F3546C-9579-4069-9F96-1DAA226ABC5F}"/>
              </a:ext>
            </a:extLst>
          </p:cNvPr>
          <p:cNvSpPr>
            <a:spLocks xmlns:a="http://schemas.openxmlformats.org/drawingml/2006/main" noGrp="1"/>
          </p:cNvSpPr>
          <p:nvPr/>
        </p:nvSpPr>
        <p:spPr>
          <a:xfrm xmlns:a="http://schemas.openxmlformats.org/drawingml/2006/main">
            <a:off x="1072896" y="4937760"/>
            <a:ext cx="106070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333">
                <a:solidFill>
                  <a:schemeClr val="dk1"/>
                </a:solidFill>
                <a:latin typeface="Calibri"/>
                <a:ea typeface="Calibri"/>
                <a:cs typeface="Calibri"/>
              </a:rPr>
              <a:t>ONE message per slide - if you need to explain the slide, redesign it</a:t>
            </a:r>
            <a:endParaRPr sz="1333">
              <a:solidFill>
                <a:schemeClr val="dk1"/>
              </a:solidFill>
              <a:latin typeface="Calibri"/>
              <a:ea typeface="Calibri"/>
              <a:cs typeface="Calibri"/>
            </a:endParaRPr>
          </a:p>
        </p:txBody>
      </p:sp>
      <p:sp>
        <p:nvSpPr>
          <p:cNvPr id="188" name="Google Shape;188;p7">
            <a:extLst xmlns:a="http://schemas.openxmlformats.org/drawingml/2006/main">
              <a:ext uri="{FF2B5EF4-FFF2-40B4-BE49-F238E27FC236}">
                <a16:creationId xmlns:a16="http://schemas.microsoft.com/office/drawing/2014/main" id="{42226468-89A3-41C1-A8D5-B77A530694A0}"/>
              </a:ext>
            </a:extLst>
          </p:cNvPr>
          <p:cNvSpPr>
            <a:spLocks xmlns:a="http://schemas.openxmlformats.org/drawingml/2006/main" noGrp="1"/>
          </p:cNvSpPr>
          <p:nvPr/>
        </p:nvSpPr>
        <p:spPr>
          <a:xfrm xmlns:a="http://schemas.openxmlformats.org/drawingml/2006/main">
            <a:off x="768096" y="5364480"/>
            <a:ext cx="219456" cy="219456"/>
          </a:xfrm>
          <a:prstGeom xmlns:a="http://schemas.openxmlformats.org/drawingml/2006/main" prst="ellipse">
            <a:avLst/>
          </a:prstGeom>
          <a:solidFill xmlns:a="http://schemas.openxmlformats.org/drawingml/2006/main">
            <a:srgbClr val="FFE600"/>
          </a:solidFill>
          <a:ln xmlns:a="http://schemas.openxmlformats.org/drawingml/2006/main" w="12700" cap="flat" cmpd="sng">
            <a:solidFill>
              <a:srgbClr val="FFE600"/>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189" name="Google Shape;189;p7">
            <a:extLst xmlns:a="http://schemas.openxmlformats.org/drawingml/2006/main">
              <a:ext uri="{FF2B5EF4-FFF2-40B4-BE49-F238E27FC236}">
                <a16:creationId xmlns:a16="http://schemas.microsoft.com/office/drawing/2014/main" id="{4B1D962C-AD25-4212-A08D-2F586A14DCD1}"/>
              </a:ext>
            </a:extLst>
          </p:cNvPr>
          <p:cNvSpPr>
            <a:spLocks xmlns:a="http://schemas.openxmlformats.org/drawingml/2006/main" noGrp="1"/>
          </p:cNvSpPr>
          <p:nvPr/>
        </p:nvSpPr>
        <p:spPr>
          <a:xfrm xmlns:a="http://schemas.openxmlformats.org/drawingml/2006/main">
            <a:off x="1072896" y="5352288"/>
            <a:ext cx="106070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333">
                <a:solidFill>
                  <a:schemeClr val="dk1"/>
                </a:solidFill>
                <a:latin typeface="Calibri"/>
                <a:ea typeface="Calibri"/>
                <a:cs typeface="Calibri"/>
              </a:rPr>
              <a:t>The problem slide is more important than the solution slide - do not rush it</a:t>
            </a:r>
            <a:endParaRPr sz="1333">
              <a:solidFill>
                <a:schemeClr val="dk1"/>
              </a:solidFill>
              <a:latin typeface="Calibri"/>
              <a:ea typeface="Calibri"/>
              <a:cs typeface="Calibri"/>
            </a:endParaRPr>
          </a:p>
        </p:txBody>
      </p:sp>
      <p:sp>
        <p:nvSpPr>
          <p:cNvPr id="190" name="Google Shape;190;p7">
            <a:extLst xmlns:a="http://schemas.openxmlformats.org/drawingml/2006/main">
              <a:ext uri="{FF2B5EF4-FFF2-40B4-BE49-F238E27FC236}">
                <a16:creationId xmlns:a16="http://schemas.microsoft.com/office/drawing/2014/main" id="{68FEFAF3-13B3-4D29-9C46-6F529A0E340A}"/>
              </a:ext>
            </a:extLst>
          </p:cNvPr>
          <p:cNvSpPr>
            <a:spLocks xmlns:a="http://schemas.openxmlformats.org/drawingml/2006/main" noGrp="1"/>
          </p:cNvSpPr>
          <p:nvPr/>
        </p:nvSpPr>
        <p:spPr>
          <a:xfrm xmlns:a="http://schemas.openxmlformats.org/drawingml/2006/main">
            <a:off x="768096" y="5779008"/>
            <a:ext cx="219456" cy="219456"/>
          </a:xfrm>
          <a:prstGeom xmlns:a="http://schemas.openxmlformats.org/drawingml/2006/main" prst="ellipse">
            <a:avLst/>
          </a:prstGeom>
          <a:solidFill xmlns:a="http://schemas.openxmlformats.org/drawingml/2006/main">
            <a:srgbClr val="FFE600"/>
          </a:solidFill>
          <a:ln xmlns:a="http://schemas.openxmlformats.org/drawingml/2006/main" w="12700" cap="flat" cmpd="sng">
            <a:solidFill>
              <a:srgbClr val="FFE600"/>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191" name="Google Shape;191;p7">
            <a:extLst xmlns:a="http://schemas.openxmlformats.org/drawingml/2006/main">
              <a:ext uri="{FF2B5EF4-FFF2-40B4-BE49-F238E27FC236}">
                <a16:creationId xmlns:a16="http://schemas.microsoft.com/office/drawing/2014/main" id="{1967AB90-B11F-4EC1-B61F-ABF4AD50BAE8}"/>
              </a:ext>
            </a:extLst>
          </p:cNvPr>
          <p:cNvSpPr>
            <a:spLocks xmlns:a="http://schemas.openxmlformats.org/drawingml/2006/main" noGrp="1"/>
          </p:cNvSpPr>
          <p:nvPr/>
        </p:nvSpPr>
        <p:spPr>
          <a:xfrm xmlns:a="http://schemas.openxmlformats.org/drawingml/2006/main">
            <a:off x="1072896" y="5766816"/>
            <a:ext cx="106070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333">
                <a:solidFill>
                  <a:schemeClr val="dk1"/>
                </a:solidFill>
                <a:latin typeface="Calibri"/>
                <a:ea typeface="Calibri"/>
                <a:cs typeface="Calibri"/>
              </a:rPr>
              <a:t>The Ask must be specific: amount, use of funds, timeline - not 'we are looking for investors'</a:t>
            </a:r>
            <a:endParaRPr sz="1333">
              <a:solidFill>
                <a:schemeClr val="dk1"/>
              </a:solidFill>
              <a:latin typeface="Calibri"/>
              <a:ea typeface="Calibri"/>
              <a:cs typeface="Calibri"/>
            </a:endParaRPr>
          </a:p>
        </p:txBody>
      </p:sp>
      <p:sp>
        <p:nvSpPr>
          <p:cNvPr id="192" name="Google Shape;192;p7">
            <a:extLst xmlns:a="http://schemas.openxmlformats.org/drawingml/2006/main">
              <a:ext uri="{FF2B5EF4-FFF2-40B4-BE49-F238E27FC236}">
                <a16:creationId xmlns:a16="http://schemas.microsoft.com/office/drawing/2014/main" id="{2E87519F-9422-44D0-93D2-2E3143C3F025}"/>
              </a:ext>
            </a:extLst>
          </p:cNvPr>
          <p:cNvSpPr>
            <a:spLocks xmlns:a="http://schemas.openxmlformats.org/drawingml/2006/main" noGrp="1"/>
          </p:cNvSpPr>
          <p:nvPr/>
        </p:nvSpPr>
        <p:spPr>
          <a:xfrm xmlns:a="http://schemas.openxmlformats.org/drawingml/2006/main">
            <a:off x="5421903" y="3221638"/>
            <a:ext cx="1487424" cy="670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200" b="1">
                <a:solidFill>
                  <a:schemeClr val="dk1"/>
                </a:solidFill>
                <a:latin typeface="Calibri"/>
                <a:ea typeface="Calibri"/>
                <a:cs typeface="Calibri"/>
              </a:rPr>
              <a:t>Solution</a:t>
            </a:r>
            <a:endParaRPr sz="1200">
              <a:solidFill>
                <a:schemeClr val="dk1"/>
              </a:solidFill>
              <a:latin typeface="Calibri"/>
              <a:ea typeface="Calibri"/>
              <a:cs typeface="Calibri"/>
            </a:endParaRPr>
          </a:p>
        </p:txBody>
      </p:sp>
    </p:spTree>
    <p:extLst>
      <p:ext uri="{BB962C8B-B14F-4D97-AF65-F5344CB8AC3E}">
        <p14:creationId xmlns:p14="http://schemas.microsoft.com/office/powerpoint/2010/main" val="43339579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98" name="Google Shape;198;p8">
            <a:extLst xmlns:a="http://schemas.openxmlformats.org/drawingml/2006/main">
              <a:ext uri="{FF2B5EF4-FFF2-40B4-BE49-F238E27FC236}">
                <a16:creationId xmlns:a16="http://schemas.microsoft.com/office/drawing/2014/main" id="{BB1DCDF9-67B7-481B-948D-B8C2640B608F}"/>
              </a:ext>
            </a:extLst>
          </p:cNvPr>
          <p:cNvSpPr>
            <a:spLocks xmlns:a="http://schemas.openxmlformats.org/drawingml/2006/main" noGrp="1"/>
          </p:cNvSpPr>
          <p:nvPr/>
        </p:nvSpPr>
        <p:spPr>
          <a:xfrm xmlns:a="http://schemas.openxmlformats.org/drawingml/2006/main">
            <a:off x="426720" y="268224"/>
            <a:ext cx="2194560" cy="365760"/>
          </a:xfrm>
          <a:prstGeom xmlns:a="http://schemas.openxmlformats.org/drawingml/2006/main" prst="roundRect">
            <a:avLst>
              <a:gd name="adj" fmla="val 50000"/>
            </a:avLst>
          </a:prstGeom>
          <a:solidFill xmlns:a="http://schemas.openxmlformats.org/drawingml/2006/main">
            <a:srgbClr val="FFE600"/>
          </a:solidFill>
          <a:ln xmlns:a="http://schemas.openxmlformats.org/drawingml/2006/main" w="12700" cap="flat" cmpd="sng">
            <a:solidFill>
              <a:srgbClr val="FFE600"/>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199" name="Google Shape;199;p8">
            <a:extLst xmlns:a="http://schemas.openxmlformats.org/drawingml/2006/main">
              <a:ext uri="{FF2B5EF4-FFF2-40B4-BE49-F238E27FC236}">
                <a16:creationId xmlns:a16="http://schemas.microsoft.com/office/drawing/2014/main" id="{422CBF03-0628-4D41-A734-6664C0736CED}"/>
              </a:ext>
            </a:extLst>
          </p:cNvPr>
          <p:cNvSpPr>
            <a:spLocks xmlns:a="http://schemas.openxmlformats.org/drawingml/2006/main" noGrp="1"/>
          </p:cNvSpPr>
          <p:nvPr/>
        </p:nvSpPr>
        <p:spPr>
          <a:xfrm xmlns:a="http://schemas.openxmlformats.org/drawingml/2006/main">
            <a:off x="426720" y="268224"/>
            <a:ext cx="21945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133" b="1">
                <a:solidFill>
                  <a:schemeClr val="dk1"/>
                </a:solidFill>
                <a:latin typeface="Calibri"/>
                <a:ea typeface="Calibri"/>
                <a:cs typeface="Calibri"/>
              </a:rPr>
              <a:t>SLIDE 01  |  ~15 sec</a:t>
            </a:r>
            <a:endParaRPr sz="1133">
              <a:solidFill>
                <a:schemeClr val="dk1"/>
              </a:solidFill>
              <a:latin typeface="Calibri"/>
              <a:ea typeface="Calibri"/>
              <a:cs typeface="Calibri"/>
            </a:endParaRPr>
          </a:p>
        </p:txBody>
      </p:sp>
      <p:sp>
        <p:nvSpPr>
          <p:cNvPr id="200" name="Google Shape;200;p8">
            <a:extLst xmlns:a="http://schemas.openxmlformats.org/drawingml/2006/main">
              <a:ext uri="{FF2B5EF4-FFF2-40B4-BE49-F238E27FC236}">
                <a16:creationId xmlns:a16="http://schemas.microsoft.com/office/drawing/2014/main" id="{20D35B55-95E8-4C05-ABE5-FECDD4511A61}"/>
              </a:ext>
            </a:extLst>
          </p:cNvPr>
          <p:cNvSpPr>
            <a:spLocks xmlns:a="http://schemas.openxmlformats.org/drawingml/2006/main" noGrp="1"/>
          </p:cNvSpPr>
          <p:nvPr/>
        </p:nvSpPr>
        <p:spPr>
          <a:xfrm xmlns:a="http://schemas.openxmlformats.org/drawingml/2006/main">
            <a:off x="487680" y="829056"/>
            <a:ext cx="6705600" cy="121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6133" b="1">
                <a:solidFill>
                  <a:schemeClr val="dk1"/>
                </a:solidFill>
                <a:latin typeface="Calibri"/>
                <a:ea typeface="Calibri"/>
                <a:cs typeface="Calibri"/>
              </a:rPr>
              <a:t>OpsMap</a:t>
            </a:r>
            <a:endParaRPr sz="6133">
              <a:solidFill>
                <a:schemeClr val="dk1"/>
              </a:solidFill>
              <a:latin typeface="Calibri"/>
              <a:ea typeface="Calibri"/>
              <a:cs typeface="Calibri"/>
            </a:endParaRPr>
          </a:p>
        </p:txBody>
      </p:sp>
      <p:sp>
        <p:nvSpPr>
          <p:cNvPr id="201" name="Google Shape;201;p8">
            <a:extLst xmlns:a="http://schemas.openxmlformats.org/drawingml/2006/main">
              <a:ext uri="{FF2B5EF4-FFF2-40B4-BE49-F238E27FC236}">
                <a16:creationId xmlns:a16="http://schemas.microsoft.com/office/drawing/2014/main" id="{FCB8BE97-D6C2-4281-824F-7CFF9CEF443E}"/>
              </a:ext>
            </a:extLst>
          </p:cNvPr>
          <p:cNvSpPr>
            <a:spLocks xmlns:a="http://schemas.openxmlformats.org/drawingml/2006/main" noGrp="1"/>
          </p:cNvSpPr>
          <p:nvPr/>
        </p:nvSpPr>
        <p:spPr>
          <a:xfrm xmlns:a="http://schemas.openxmlformats.org/drawingml/2006/main">
            <a:off x="487680" y="2023872"/>
            <a:ext cx="6705600" cy="5120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2400" i="1">
                <a:solidFill>
                  <a:schemeClr val="dk1"/>
                </a:solidFill>
                <a:latin typeface="Calibri"/>
                <a:ea typeface="Calibri"/>
                <a:cs typeface="Calibri"/>
              </a:rPr>
              <a:t>AI-assisted recovery for the Dover corridor</a:t>
            </a:r>
            <a:endParaRPr sz="2400">
              <a:solidFill>
                <a:schemeClr val="dk1"/>
              </a:solidFill>
              <a:latin typeface="Calibri"/>
              <a:ea typeface="Calibri"/>
              <a:cs typeface="Calibri"/>
            </a:endParaRPr>
          </a:p>
        </p:txBody>
      </p:sp>
      <p:sp>
        <p:nvSpPr>
          <p:cNvPr id="202" name="Google Shape;202;p8">
            <a:extLst xmlns:a="http://schemas.openxmlformats.org/drawingml/2006/main">
              <a:ext uri="{FF2B5EF4-FFF2-40B4-BE49-F238E27FC236}">
                <a16:creationId xmlns:a16="http://schemas.microsoft.com/office/drawing/2014/main" id="{BCC054BF-C746-4F5F-8EAB-6A377F67A869}"/>
              </a:ext>
            </a:extLst>
          </p:cNvPr>
          <p:cNvSpPr>
            <a:spLocks xmlns:a="http://schemas.openxmlformats.org/drawingml/2006/main" noGrp="1"/>
          </p:cNvSpPr>
          <p:nvPr/>
        </p:nvSpPr>
        <p:spPr>
          <a:xfrm xmlns:a="http://schemas.openxmlformats.org/drawingml/2006/main">
            <a:off x="487680" y="2828544"/>
            <a:ext cx="6461760" cy="1853184"/>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cxnSp>
        <p:nvCxnSpPr>
          <p:cNvPr id="203" name="Google Shape;203;p8">
            <a:extLst xmlns:a="http://schemas.openxmlformats.org/drawingml/2006/main">
              <a:ext uri="{FF2B5EF4-FFF2-40B4-BE49-F238E27FC236}">
                <a16:creationId xmlns:a16="http://schemas.microsoft.com/office/drawing/2014/main" id="{F68C9E11-364F-4D75-AA7A-70A91CD0687F}"/>
              </a:ext>
            </a:extLst>
          </p:cNvPr>
          <p:cNvCxnSpPr/>
          <p:nvPr/>
        </p:nvCxnSpPr>
        <p:spPr>
          <a:xfrm xmlns:a="http://schemas.openxmlformats.org/drawingml/2006/main">
            <a:off x="914400" y="3608832"/>
            <a:ext cx="195072" cy="0"/>
          </a:xfrm>
          <a:prstGeom xmlns:a="http://schemas.openxmlformats.org/drawingml/2006/main" prst="straightConnector1">
            <a:avLst/>
          </a:prstGeom>
          <a:ln xmlns:a="http://schemas.openxmlformats.org/drawingml/2006/main" w="25400" cap="flat">
            <a:solidFill>
              <a:srgbClr val="FFE600"/>
            </a:solidFill>
            <a:prstDash val="solid"/>
            <a:round/>
            <a:headEnd type="none" w="sm" len="sm"/>
            <a:tailEnd type="none" w="sm" len="sm"/>
          </a:ln>
        </p:spPr>
      </p:cxnSp>
      <p:sp>
        <p:nvSpPr>
          <p:cNvPr id="204" name="Google Shape;204;p8">
            <a:extLst xmlns:a="http://schemas.openxmlformats.org/drawingml/2006/main">
              <a:ext uri="{FF2B5EF4-FFF2-40B4-BE49-F238E27FC236}">
                <a16:creationId xmlns:a16="http://schemas.microsoft.com/office/drawing/2014/main" id="{03791CEE-9581-4283-8D7C-4D27B5884BB4}"/>
              </a:ext>
            </a:extLst>
          </p:cNvPr>
          <p:cNvSpPr>
            <a:spLocks xmlns:a="http://schemas.openxmlformats.org/drawingml/2006/main" noGrp="1"/>
          </p:cNvSpPr>
          <p:nvPr/>
        </p:nvSpPr>
        <p:spPr>
          <a:xfrm xmlns:a="http://schemas.openxmlformats.org/drawingml/2006/main">
            <a:off x="841248" y="2926080"/>
            <a:ext cx="5547360" cy="3413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333" b="1">
                <a:solidFill>
                  <a:srgbClr val="FFE600"/>
                </a:solidFill>
                <a:latin typeface="Calibri"/>
                <a:ea typeface="Calibri"/>
                <a:cs typeface="Calibri"/>
              </a:rPr>
              <a:t>IF DOVER CLOSES TONIGHT</a:t>
            </a:r>
            <a:endParaRPr sz="1333">
              <a:solidFill>
                <a:schemeClr val="dk1"/>
              </a:solidFill>
              <a:latin typeface="Calibri"/>
              <a:ea typeface="Calibri"/>
              <a:cs typeface="Calibri"/>
            </a:endParaRPr>
          </a:p>
        </p:txBody>
      </p:sp>
      <p:sp>
        <p:nvSpPr>
          <p:cNvPr id="205" name="Google Shape;205;p8">
            <a:extLst xmlns:a="http://schemas.openxmlformats.org/drawingml/2006/main">
              <a:ext uri="{FF2B5EF4-FFF2-40B4-BE49-F238E27FC236}">
                <a16:creationId xmlns:a16="http://schemas.microsoft.com/office/drawing/2014/main" id="{C12713B9-88D5-4D94-8E8C-924F56D76920}"/>
              </a:ext>
            </a:extLst>
          </p:cNvPr>
          <p:cNvSpPr>
            <a:spLocks xmlns:a="http://schemas.openxmlformats.org/drawingml/2006/main" noGrp="1"/>
          </p:cNvSpPr>
          <p:nvPr/>
        </p:nvSpPr>
        <p:spPr>
          <a:xfrm xmlns:a="http://schemas.openxmlformats.org/drawingml/2006/main">
            <a:off x="670560" y="3340608"/>
            <a:ext cx="6096000" cy="1243584"/>
          </a:xfrm>
          <a:prstGeom xmlns:a="http://schemas.openxmlformats.org/drawingml/2006/main" prst="rect">
            <a:avLst/>
          </a:prstGeom>
          <a:solidFill xmlns:a="http://schemas.openxmlformats.org/drawingml/2006/main">
            <a:srgbClr val="2D2D2D"/>
          </a:solidFill>
          <a:ln xmlns:a="http://schemas.openxmlformats.org/drawingml/2006/main" w="15225" cap="flat" cmpd="sng">
            <a:solidFill>
              <a:srgbClr val="FFE600"/>
            </a:solidFill>
            <a:prstDash val="dash"/>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06" name="Google Shape;206;p8">
            <a:extLst xmlns:a="http://schemas.openxmlformats.org/drawingml/2006/main">
              <a:ext uri="{FF2B5EF4-FFF2-40B4-BE49-F238E27FC236}">
                <a16:creationId xmlns:a16="http://schemas.microsoft.com/office/drawing/2014/main" id="{EC53B5B5-4270-4BF7-BF84-1CCF41A8AC58}"/>
              </a:ext>
            </a:extLst>
          </p:cNvPr>
          <p:cNvSpPr>
            <a:spLocks xmlns:a="http://schemas.openxmlformats.org/drawingml/2006/main" noGrp="1"/>
          </p:cNvSpPr>
          <p:nvPr/>
        </p:nvSpPr>
        <p:spPr>
          <a:xfrm xmlns:a="http://schemas.openxmlformats.org/drawingml/2006/main">
            <a:off x="841248" y="3462528"/>
            <a:ext cx="5754624" cy="9997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r>
              <a:rPr sz="1200" i="0">
                <a:solidFill>
                  <a:srgbClr val="FFFFFF"/>
                </a:solidFill>
                <a:latin typeface="Calibri"/>
                <a:ea typeface="Calibri"/>
                <a:cs typeface="Calibri"/>
              </a:rPr>
              <a:t>Which essential services lose support next?</a:t>
            </a:r>
          </a:p>
          <a:p xmlns:a="http://schemas.openxmlformats.org/drawingml/2006/main">
            <a:r>
              <a:rPr sz="1200" i="0">
                <a:solidFill>
                  <a:srgbClr val="FFFFFF"/>
                </a:solidFill>
                <a:latin typeface="Calibri"/>
                <a:ea typeface="Calibri"/>
                <a:cs typeface="Calibri"/>
              </a:rPr>
              <a:t/>
            </a:r>
          </a:p>
          <a:p xmlns:a="http://schemas.openxmlformats.org/drawingml/2006/main">
            <a:r>
              <a:rPr sz="1200" i="0">
                <a:solidFill>
                  <a:srgbClr val="FFFFFF"/>
                </a:solidFill>
                <a:latin typeface="Calibri"/>
                <a:ea typeface="Calibri"/>
                <a:cs typeface="Calibri"/>
              </a:rPr>
              <a:t>OpsMap maps the cascade. The planned recovery agent will compare ways to restore service.</a:t>
            </a:r>
          </a:p>
        </p:txBody>
      </p:sp>
      <p:sp>
        <p:nvSpPr>
          <p:cNvPr id="207" name="Google Shape;207;p8">
            <a:extLst xmlns:a="http://schemas.openxmlformats.org/drawingml/2006/main">
              <a:ext uri="{FF2B5EF4-FFF2-40B4-BE49-F238E27FC236}">
                <a16:creationId xmlns:a16="http://schemas.microsoft.com/office/drawing/2014/main" id="{2D8F5A2B-A878-4674-A28A-EA196C9A8076}"/>
              </a:ext>
            </a:extLst>
          </p:cNvPr>
          <p:cNvSpPr>
            <a:spLocks xmlns:a="http://schemas.openxmlformats.org/drawingml/2006/main" noGrp="1"/>
          </p:cNvSpPr>
          <p:nvPr/>
        </p:nvSpPr>
        <p:spPr>
          <a:xfrm xmlns:a="http://schemas.openxmlformats.org/drawingml/2006/main">
            <a:off x="7376160" y="755904"/>
            <a:ext cx="4328160" cy="3877056"/>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08" name="Google Shape;208;p8">
            <a:extLst xmlns:a="http://schemas.openxmlformats.org/drawingml/2006/main">
              <a:ext uri="{FF2B5EF4-FFF2-40B4-BE49-F238E27FC236}">
                <a16:creationId xmlns:a16="http://schemas.microsoft.com/office/drawing/2014/main" id="{D6D75A46-A683-4F1C-A558-10A067075898}"/>
              </a:ext>
            </a:extLst>
          </p:cNvPr>
          <p:cNvSpPr>
            <a:spLocks xmlns:a="http://schemas.openxmlformats.org/drawingml/2006/main" noGrp="1"/>
          </p:cNvSpPr>
          <p:nvPr/>
        </p:nvSpPr>
        <p:spPr>
          <a:xfrm xmlns:a="http://schemas.openxmlformats.org/drawingml/2006/main">
            <a:off x="7559040" y="877824"/>
            <a:ext cx="39624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467" b="1">
                <a:solidFill>
                  <a:srgbClr val="FFE600"/>
                </a:solidFill>
                <a:latin typeface="Calibri"/>
                <a:ea typeface="Calibri"/>
                <a:cs typeface="Calibri"/>
              </a:rPr>
              <a:t>Three focused exercises</a:t>
            </a:r>
            <a:endParaRPr sz="1467">
              <a:solidFill>
                <a:schemeClr val="dk1"/>
              </a:solidFill>
              <a:latin typeface="Calibri"/>
              <a:ea typeface="Calibri"/>
              <a:cs typeface="Calibri"/>
            </a:endParaRPr>
          </a:p>
        </p:txBody>
      </p:sp>
      <p:sp>
        <p:nvSpPr>
          <p:cNvPr id="209" name="Google Shape;209;p8">
            <a:extLst xmlns:a="http://schemas.openxmlformats.org/drawingml/2006/main">
              <a:ext uri="{FF2B5EF4-FFF2-40B4-BE49-F238E27FC236}">
                <a16:creationId xmlns:a16="http://schemas.microsoft.com/office/drawing/2014/main" id="{FB542722-B922-44D0-9810-D594961A10DD}"/>
              </a:ext>
            </a:extLst>
          </p:cNvPr>
          <p:cNvSpPr>
            <a:spLocks xmlns:a="http://schemas.openxmlformats.org/drawingml/2006/main" noGrp="1"/>
          </p:cNvSpPr>
          <p:nvPr/>
        </p:nvSpPr>
        <p:spPr>
          <a:xfrm xmlns:a="http://schemas.openxmlformats.org/drawingml/2006/main">
            <a:off x="8071104" y="1316736"/>
            <a:ext cx="3474720" cy="5364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333">
                <a:solidFill>
                  <a:srgbClr val="FFFFFF"/>
                </a:solidFill>
                <a:latin typeface="Calibri"/>
                <a:ea typeface="Calibri"/>
                <a:cs typeface="Calibri"/>
              </a:rPr>
              <a:t>Dover Strait closure</a:t>
            </a:r>
            <a:endParaRPr sz="1333">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rPr sz="1333">
                <a:solidFill>
                  <a:srgbClr val="FFFFFF"/>
                </a:solidFill>
                <a:latin typeface="Calibri"/>
                <a:ea typeface="Calibri"/>
                <a:cs typeface="Calibri"/>
              </a:rPr>
              <a:t>72-hour maritime disruption</a:t>
            </a:r>
          </a:p>
        </p:txBody>
      </p:sp>
      <p:sp>
        <p:nvSpPr>
          <p:cNvPr id="210" name="Google Shape;210;p8">
            <a:extLst xmlns:a="http://schemas.openxmlformats.org/drawingml/2006/main">
              <a:ext uri="{FF2B5EF4-FFF2-40B4-BE49-F238E27FC236}">
                <a16:creationId xmlns:a16="http://schemas.microsoft.com/office/drawing/2014/main" id="{99C6CC98-715C-45B2-8C8F-85BD12C4F4BE}"/>
              </a:ext>
            </a:extLst>
          </p:cNvPr>
          <p:cNvSpPr>
            <a:spLocks xmlns:a="http://schemas.openxmlformats.org/drawingml/2006/main" noGrp="1"/>
          </p:cNvSpPr>
          <p:nvPr/>
        </p:nvSpPr>
        <p:spPr>
          <a:xfrm xmlns:a="http://schemas.openxmlformats.org/drawingml/2006/main">
            <a:off x="8071104" y="1950720"/>
            <a:ext cx="3474720" cy="5364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333">
                <a:solidFill>
                  <a:srgbClr val="FFFFFF"/>
                </a:solidFill>
                <a:latin typeface="Calibri"/>
                <a:ea typeface="Calibri"/>
                <a:cs typeface="Calibri"/>
              </a:rPr>
              <a:t>Kent blackout</a:t>
            </a:r>
            <a:endParaRPr sz="1333">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rPr sz="1333">
                <a:solidFill>
                  <a:srgbClr val="FFFFFF"/>
                </a:solidFill>
                <a:latin typeface="Calibri"/>
                <a:ea typeface="Calibri"/>
                <a:cs typeface="Calibri"/>
              </a:rPr>
              <a:t>48-hour power outage</a:t>
            </a:r>
          </a:p>
        </p:txBody>
      </p:sp>
      <p:sp>
        <p:nvSpPr>
          <p:cNvPr id="211" name="Google Shape;211;p8">
            <a:extLst xmlns:a="http://schemas.openxmlformats.org/drawingml/2006/main">
              <a:ext uri="{FF2B5EF4-FFF2-40B4-BE49-F238E27FC236}">
                <a16:creationId xmlns:a16="http://schemas.microsoft.com/office/drawing/2014/main" id="{6476CF4B-2507-475F-8CEA-C0E1422A2C60}"/>
              </a:ext>
            </a:extLst>
          </p:cNvPr>
          <p:cNvSpPr>
            <a:spLocks xmlns:a="http://schemas.openxmlformats.org/drawingml/2006/main" noGrp="1"/>
          </p:cNvSpPr>
          <p:nvPr/>
        </p:nvSpPr>
        <p:spPr>
          <a:xfrm xmlns:a="http://schemas.openxmlformats.org/drawingml/2006/main">
            <a:off x="8071104" y="2584704"/>
            <a:ext cx="3474720" cy="5364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333">
                <a:solidFill>
                  <a:srgbClr val="FFFFFF"/>
                </a:solidFill>
                <a:latin typeface="Calibri"/>
                <a:ea typeface="Calibri"/>
                <a:cs typeface="Calibri"/>
              </a:rPr>
              <a:t>London infrastructure loss</a:t>
            </a:r>
            <a:endParaRPr sz="1333">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rPr sz="1333">
                <a:solidFill>
                  <a:srgbClr val="FFFFFF"/>
                </a:solidFill>
                <a:latin typeface="Calibri"/>
                <a:ea typeface="Calibri"/>
                <a:cs typeface="Calibri"/>
              </a:rPr>
              <a:t>168-hour regional disruption</a:t>
            </a:r>
          </a:p>
        </p:txBody>
      </p:sp>
      <p:sp>
        <p:nvSpPr>
          <p:cNvPr id="212" name="Google Shape;212;p8">
            <a:extLst xmlns:a="http://schemas.openxmlformats.org/drawingml/2006/main">
              <a:ext uri="{FF2B5EF4-FFF2-40B4-BE49-F238E27FC236}">
                <a16:creationId xmlns:a16="http://schemas.microsoft.com/office/drawing/2014/main" id="{DFD7953F-2760-4CBF-AF9F-3E0966279B08}"/>
              </a:ext>
            </a:extLst>
          </p:cNvPr>
          <p:cNvSpPr>
            <a:spLocks xmlns:a="http://schemas.openxmlformats.org/drawingml/2006/main" noGrp="1"/>
          </p:cNvSpPr>
          <p:nvPr/>
        </p:nvSpPr>
        <p:spPr>
          <a:xfrm xmlns:a="http://schemas.openxmlformats.org/drawingml/2006/main">
            <a:off x="8071104" y="3218688"/>
            <a:ext cx="3474720" cy="5364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333">
                <a:solidFill>
                  <a:srgbClr val="FFFFFF"/>
                </a:solidFill>
                <a:latin typeface="Calibri"/>
                <a:ea typeface="Calibri"/>
                <a:cs typeface="Calibri"/>
              </a:rPr>
              <a:t>London to Paris</a:t>
            </a:r>
            <a:endParaRPr sz="1333">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rPr sz="1333">
                <a:solidFill>
                  <a:srgbClr val="FFFFFF"/>
                </a:solidFill>
                <a:latin typeface="Calibri"/>
                <a:ea typeface="Calibri"/>
                <a:cs typeface="Calibri"/>
              </a:rPr>
              <a:t>Synthetic defence-resilience data</a:t>
            </a:r>
          </a:p>
        </p:txBody>
      </p:sp>
      <p:sp>
        <p:nvSpPr>
          <p:cNvPr id="213" name="Google Shape;213;p8">
            <a:extLst xmlns:a="http://schemas.openxmlformats.org/drawingml/2006/main">
              <a:ext uri="{FF2B5EF4-FFF2-40B4-BE49-F238E27FC236}">
                <a16:creationId xmlns:a16="http://schemas.microsoft.com/office/drawing/2014/main" id="{110D2C2B-4F25-4BC3-B3EF-A0F3966B321C}"/>
              </a:ext>
            </a:extLst>
          </p:cNvPr>
          <p:cNvSpPr>
            <a:spLocks xmlns:a="http://schemas.openxmlformats.org/drawingml/2006/main" noGrp="1"/>
          </p:cNvSpPr>
          <p:nvPr/>
        </p:nvSpPr>
        <p:spPr>
          <a:xfrm xmlns:a="http://schemas.openxmlformats.org/drawingml/2006/main">
            <a:off x="487680" y="4779264"/>
            <a:ext cx="11155680" cy="463296"/>
          </a:xfrm>
          <a:prstGeom xmlns:a="http://schemas.openxmlformats.org/drawingml/2006/main" prst="rect">
            <a:avLst/>
          </a:prstGeom>
          <a:solidFill xmlns:a="http://schemas.openxmlformats.org/drawingml/2006/main">
            <a:srgbClr val="3A3A3A"/>
          </a:solidFill>
          <a:ln xmlns:a="http://schemas.openxmlformats.org/drawingml/2006/main" w="12700" cap="flat" cmpd="sng">
            <a:solidFill>
              <a:srgbClr val="3A3A3A"/>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14" name="Google Shape;214;p8">
            <a:extLst xmlns:a="http://schemas.openxmlformats.org/drawingml/2006/main">
              <a:ext uri="{FF2B5EF4-FFF2-40B4-BE49-F238E27FC236}">
                <a16:creationId xmlns:a16="http://schemas.microsoft.com/office/drawing/2014/main" id="{5E742096-90B4-4DD5-80FB-32BEAED9786A}"/>
              </a:ext>
            </a:extLst>
          </p:cNvPr>
          <p:cNvSpPr>
            <a:spLocks xmlns:a="http://schemas.openxmlformats.org/drawingml/2006/main" noGrp="1"/>
          </p:cNvSpPr>
          <p:nvPr/>
        </p:nvSpPr>
        <p:spPr>
          <a:xfrm xmlns:a="http://schemas.openxmlformats.org/drawingml/2006/main">
            <a:off x="731520" y="4828032"/>
            <a:ext cx="1078992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i="1">
                <a:solidFill>
                  <a:schemeClr val="lt1"/>
                </a:solidFill>
                <a:latin typeface="Calibri"/>
                <a:ea typeface="Calibri"/>
                <a:cs typeface="Calibri"/>
              </a:rPr>
              <a:t>Working today: the regional graph and impact map. Recovery planning is in development.</a:t>
            </a:r>
            <a:endParaRPr sz="1200">
              <a:solidFill>
                <a:schemeClr val="lt1"/>
              </a:solidFill>
              <a:latin typeface="Calibri"/>
              <a:ea typeface="Calibri"/>
              <a:cs typeface="Calibri"/>
            </a:endParaRPr>
          </a:p>
        </p:txBody>
      </p:sp>
      <p:sp>
        <p:nvSpPr>
          <p:cNvPr id="215" name="Google Shape;215;p8">
            <a:extLst xmlns:a="http://schemas.openxmlformats.org/drawingml/2006/main">
              <a:ext uri="{FF2B5EF4-FFF2-40B4-BE49-F238E27FC236}">
                <a16:creationId xmlns:a16="http://schemas.microsoft.com/office/drawing/2014/main" id="{67637ECD-97C2-4A86-874D-1201FEC78748}"/>
              </a:ext>
            </a:extLst>
          </p:cNvPr>
          <p:cNvSpPr>
            <a:spLocks xmlns:a="http://schemas.openxmlformats.org/drawingml/2006/main" noGrp="1"/>
          </p:cNvSpPr>
          <p:nvPr/>
        </p:nvSpPr>
        <p:spPr>
          <a:xfrm xmlns:a="http://schemas.openxmlformats.org/drawingml/2006/main">
            <a:off x="426720" y="6486144"/>
            <a:ext cx="11338560" cy="268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000">
                <a:solidFill>
                  <a:srgbClr val="AAAAAA"/>
                </a:solidFill>
                <a:latin typeface="Calibri"/>
                <a:ea typeface="Calibri"/>
                <a:cs typeface="Calibri"/>
              </a:rPr>
              <a:t>OpsMap pitch</a:t>
            </a:r>
            <a:endParaRPr sz="1000">
              <a:solidFill>
                <a:schemeClr val="dk1"/>
              </a:solidFill>
              <a:latin typeface="Calibri"/>
              <a:ea typeface="Calibri"/>
              <a:cs typeface="Calibri"/>
            </a:endParaRPr>
          </a:p>
          <a:p xmlns:a="http://schemas.openxmlformats.org/drawingml/2006/main">
            <a:pPr marL="0" marR="0" lvl="0" indent="0" algn="ctr">
              <a:spcBef>
                <a:spcPts val="0"/>
              </a:spcBef>
              <a:spcAft>
                <a:spcPts val="0"/>
              </a:spcAft>
              <a:buNone/>
            </a:pPr>
            <a:r>
              <a:rPr sz="1000">
                <a:solidFill>
                  <a:srgbClr val="AAAAAA"/>
                </a:solidFill>
                <a:latin typeface="Calibri"/>
                <a:ea typeface="Calibri"/>
                <a:cs typeface="Calibri"/>
              </a:rPr>
              <a:t>Synthetic demonstration dataset</a:t>
            </a:r>
          </a:p>
        </p:txBody>
      </p:sp>
    </p:spTree>
    <p:extLst>
      <p:ext uri="{BB962C8B-B14F-4D97-AF65-F5344CB8AC3E}">
        <p14:creationId xmlns:p14="http://schemas.microsoft.com/office/powerpoint/2010/main" val="23200807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21" name="Google Shape;221;p9">
            <a:extLst xmlns:a="http://schemas.openxmlformats.org/drawingml/2006/main">
              <a:ext uri="{FF2B5EF4-FFF2-40B4-BE49-F238E27FC236}">
                <a16:creationId xmlns:a16="http://schemas.microsoft.com/office/drawing/2014/main" id="{144E03D0-EE84-459F-AF65-A84073AB04B5}"/>
              </a:ext>
            </a:extLst>
          </p:cNvPr>
          <p:cNvSpPr>
            <a:spLocks xmlns:a="http://schemas.openxmlformats.org/drawingml/2006/main" noGrp="1"/>
          </p:cNvSpPr>
          <p:nvPr/>
        </p:nvSpPr>
        <p:spPr>
          <a:xfrm xmlns:a="http://schemas.openxmlformats.org/drawingml/2006/main">
            <a:off x="426720" y="268224"/>
            <a:ext cx="2194560" cy="365760"/>
          </a:xfrm>
          <a:prstGeom xmlns:a="http://schemas.openxmlformats.org/drawingml/2006/main" prst="roundRect">
            <a:avLst>
              <a:gd name="adj" fmla="val 50000"/>
            </a:avLst>
          </a:prstGeom>
          <a:solidFill xmlns:a="http://schemas.openxmlformats.org/drawingml/2006/main">
            <a:srgbClr val="FEF2CC"/>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22" name="Google Shape;222;p9">
            <a:extLst xmlns:a="http://schemas.openxmlformats.org/drawingml/2006/main">
              <a:ext uri="{FF2B5EF4-FFF2-40B4-BE49-F238E27FC236}">
                <a16:creationId xmlns:a16="http://schemas.microsoft.com/office/drawing/2014/main" id="{F5C4D972-C771-4220-9DC5-AF13482EC584}"/>
              </a:ext>
            </a:extLst>
          </p:cNvPr>
          <p:cNvSpPr>
            <a:spLocks xmlns:a="http://schemas.openxmlformats.org/drawingml/2006/main" noGrp="1"/>
          </p:cNvSpPr>
          <p:nvPr/>
        </p:nvSpPr>
        <p:spPr>
          <a:xfrm xmlns:a="http://schemas.openxmlformats.org/drawingml/2006/main">
            <a:off x="426720" y="268224"/>
            <a:ext cx="21945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133" b="1">
                <a:solidFill>
                  <a:srgbClr val="1A1A1A"/>
                </a:solidFill>
                <a:latin typeface="Calibri"/>
                <a:ea typeface="Calibri"/>
                <a:cs typeface="Calibri"/>
              </a:rPr>
              <a:t>SLIDE 02  |  ~20 sec</a:t>
            </a:r>
            <a:endParaRPr sz="1133">
              <a:solidFill>
                <a:schemeClr val="dk1"/>
              </a:solidFill>
              <a:latin typeface="Calibri"/>
              <a:ea typeface="Calibri"/>
              <a:cs typeface="Calibri"/>
            </a:endParaRPr>
          </a:p>
        </p:txBody>
      </p:sp>
      <p:sp>
        <p:nvSpPr>
          <p:cNvPr id="223" name="Google Shape;223;p9">
            <a:extLst xmlns:a="http://schemas.openxmlformats.org/drawingml/2006/main">
              <a:ext uri="{FF2B5EF4-FFF2-40B4-BE49-F238E27FC236}">
                <a16:creationId xmlns:a16="http://schemas.microsoft.com/office/drawing/2014/main" id="{C6E82D3F-19C2-4CCA-80BE-9FD2F3CE154B}"/>
              </a:ext>
            </a:extLst>
          </p:cNvPr>
          <p:cNvSpPr>
            <a:spLocks xmlns:a="http://schemas.openxmlformats.org/drawingml/2006/main" noGrp="1"/>
          </p:cNvSpPr>
          <p:nvPr/>
        </p:nvSpPr>
        <p:spPr>
          <a:xfrm xmlns:a="http://schemas.openxmlformats.org/drawingml/2006/main">
            <a:off x="487680" y="755904"/>
            <a:ext cx="10972800" cy="85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5333" b="1">
                <a:solidFill>
                  <a:schemeClr val="dk1"/>
                </a:solidFill>
                <a:latin typeface="Calibri"/>
                <a:ea typeface="Calibri"/>
                <a:cs typeface="Calibri"/>
              </a:rPr>
              <a:t>The Team</a:t>
            </a:r>
            <a:endParaRPr sz="5333">
              <a:solidFill>
                <a:schemeClr val="dk1"/>
              </a:solidFill>
              <a:latin typeface="Calibri"/>
              <a:ea typeface="Calibri"/>
              <a:cs typeface="Calibri"/>
            </a:endParaRPr>
          </a:p>
        </p:txBody>
      </p:sp>
      <p:sp>
        <p:nvSpPr>
          <p:cNvPr id="224" name="Google Shape;224;p9">
            <a:extLst xmlns:a="http://schemas.openxmlformats.org/drawingml/2006/main">
              <a:ext uri="{FF2B5EF4-FFF2-40B4-BE49-F238E27FC236}">
                <a16:creationId xmlns:a16="http://schemas.microsoft.com/office/drawing/2014/main" id="{18B43099-F41C-4E46-8720-322209FB9AE4}"/>
              </a:ext>
            </a:extLst>
          </p:cNvPr>
          <p:cNvSpPr>
            <a:spLocks xmlns:a="http://schemas.openxmlformats.org/drawingml/2006/main" noGrp="1"/>
          </p:cNvSpPr>
          <p:nvPr/>
        </p:nvSpPr>
        <p:spPr>
          <a:xfrm xmlns:a="http://schemas.openxmlformats.org/drawingml/2006/main">
            <a:off x="487680" y="1560576"/>
            <a:ext cx="109728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733" i="1">
                <a:solidFill>
                  <a:srgbClr val="AAAAAA"/>
                </a:solidFill>
                <a:latin typeface="Calibri"/>
                <a:ea typeface="Calibri"/>
                <a:cs typeface="Calibri"/>
              </a:rPr>
              <a:t>Why you are the right people to solve this problem</a:t>
            </a:r>
            <a:endParaRPr sz="1733">
              <a:solidFill>
                <a:schemeClr val="dk1"/>
              </a:solidFill>
              <a:latin typeface="Calibri"/>
              <a:ea typeface="Calibri"/>
              <a:cs typeface="Calibri"/>
            </a:endParaRPr>
          </a:p>
        </p:txBody>
      </p:sp>
      <p:sp>
        <p:nvSpPr>
          <p:cNvPr id="225" name="Google Shape;225;p9">
            <a:extLst xmlns:a="http://schemas.openxmlformats.org/drawingml/2006/main">
              <a:ext uri="{FF2B5EF4-FFF2-40B4-BE49-F238E27FC236}">
                <a16:creationId xmlns:a16="http://schemas.microsoft.com/office/drawing/2014/main" id="{C1867572-03BD-4BC8-9501-1C0C09B1B241}"/>
              </a:ext>
            </a:extLst>
          </p:cNvPr>
          <p:cNvSpPr>
            <a:spLocks xmlns:a="http://schemas.openxmlformats.org/drawingml/2006/main" noGrp="1"/>
          </p:cNvSpPr>
          <p:nvPr/>
        </p:nvSpPr>
        <p:spPr>
          <a:xfrm xmlns:a="http://schemas.openxmlformats.org/drawingml/2006/main">
            <a:off x="426720" y="2097024"/>
            <a:ext cx="3535680" cy="4328160"/>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26" name="Google Shape;226;p9">
            <a:extLst xmlns:a="http://schemas.openxmlformats.org/drawingml/2006/main">
              <a:ext uri="{FF2B5EF4-FFF2-40B4-BE49-F238E27FC236}">
                <a16:creationId xmlns:a16="http://schemas.microsoft.com/office/drawing/2014/main" id="{8C2EFABF-829D-48A0-876B-C6870ACB22C8}"/>
              </a:ext>
            </a:extLst>
          </p:cNvPr>
          <p:cNvSpPr>
            <a:spLocks xmlns:a="http://schemas.openxmlformats.org/drawingml/2006/main" noGrp="1"/>
          </p:cNvSpPr>
          <p:nvPr/>
        </p:nvSpPr>
        <p:spPr>
          <a:xfrm xmlns:a="http://schemas.openxmlformats.org/drawingml/2006/main">
            <a:off x="1584960" y="2218944"/>
            <a:ext cx="1219200" cy="1219200"/>
          </a:xfrm>
          <a:prstGeom xmlns:a="http://schemas.openxmlformats.org/drawingml/2006/main" prst="ellipse">
            <a:avLst/>
          </a:prstGeom>
          <a:solidFill xmlns:a="http://schemas.openxmlformats.org/drawingml/2006/main">
            <a:srgbClr val="FEF2CC"/>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27" name="Google Shape;227;p9">
            <a:extLst xmlns:a="http://schemas.openxmlformats.org/drawingml/2006/main">
              <a:ext uri="{FF2B5EF4-FFF2-40B4-BE49-F238E27FC236}">
                <a16:creationId xmlns:a16="http://schemas.microsoft.com/office/drawing/2014/main" id="{69CE2050-B2EB-49E9-A6D8-9C071F29758D}"/>
              </a:ext>
            </a:extLst>
          </p:cNvPr>
          <p:cNvSpPr>
            <a:spLocks xmlns:a="http://schemas.openxmlformats.org/drawingml/2006/main" noGrp="1"/>
          </p:cNvSpPr>
          <p:nvPr/>
        </p:nvSpPr>
        <p:spPr>
          <a:xfrm xmlns:a="http://schemas.openxmlformats.org/drawingml/2006/main">
            <a:off x="1426464" y="3486912"/>
            <a:ext cx="1536192"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067" i="1">
                <a:solidFill>
                  <a:srgbClr val="AAAAAA"/>
                </a:solidFill>
                <a:latin typeface="Calibri"/>
                <a:ea typeface="Calibri"/>
                <a:cs typeface="Calibri"/>
              </a:rPr>
              <a:t>[Add Photo]</a:t>
            </a:r>
            <a:endParaRPr sz="1067">
              <a:solidFill>
                <a:schemeClr val="dk1"/>
              </a:solidFill>
              <a:latin typeface="Calibri"/>
              <a:ea typeface="Calibri"/>
              <a:cs typeface="Calibri"/>
            </a:endParaRPr>
          </a:p>
        </p:txBody>
      </p:sp>
      <p:sp>
        <p:nvSpPr>
          <p:cNvPr id="228" name="Google Shape;228;p9">
            <a:extLst xmlns:a="http://schemas.openxmlformats.org/drawingml/2006/main">
              <a:ext uri="{FF2B5EF4-FFF2-40B4-BE49-F238E27FC236}">
                <a16:creationId xmlns:a16="http://schemas.microsoft.com/office/drawing/2014/main" id="{40684702-8516-4EB8-9D9A-F6F1EE383472}"/>
              </a:ext>
            </a:extLst>
          </p:cNvPr>
          <p:cNvSpPr>
            <a:spLocks xmlns:a="http://schemas.openxmlformats.org/drawingml/2006/main" noGrp="1"/>
          </p:cNvSpPr>
          <p:nvPr/>
        </p:nvSpPr>
        <p:spPr>
          <a:xfrm xmlns:a="http://schemas.openxmlformats.org/drawingml/2006/main">
            <a:off x="548640" y="4085107"/>
            <a:ext cx="3291840" cy="2048256"/>
          </a:xfrm>
          <a:prstGeom xmlns:a="http://schemas.openxmlformats.org/drawingml/2006/main" prst="rect">
            <a:avLst/>
          </a:prstGeom>
          <a:solidFill xmlns:a="http://schemas.openxmlformats.org/drawingml/2006/main">
            <a:srgbClr val="2D2D2D"/>
          </a:solidFill>
          <a:ln xmlns:a="http://schemas.openxmlformats.org/drawingml/2006/main" w="15225" cap="flat" cmpd="sng">
            <a:solidFill>
              <a:srgbClr val="FFE600"/>
            </a:solidFill>
            <a:prstDash val="dash"/>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29" name="Google Shape;229;p9">
            <a:extLst xmlns:a="http://schemas.openxmlformats.org/drawingml/2006/main">
              <a:ext uri="{FF2B5EF4-FFF2-40B4-BE49-F238E27FC236}">
                <a16:creationId xmlns:a16="http://schemas.microsoft.com/office/drawing/2014/main" id="{B36D451B-2CFC-4E15-B1D0-3F8A36E823E8}"/>
              </a:ext>
            </a:extLst>
          </p:cNvPr>
          <p:cNvSpPr>
            <a:spLocks xmlns:a="http://schemas.openxmlformats.org/drawingml/2006/main" noGrp="1"/>
          </p:cNvSpPr>
          <p:nvPr/>
        </p:nvSpPr>
        <p:spPr>
          <a:xfrm xmlns:a="http://schemas.openxmlformats.org/drawingml/2006/main">
            <a:off x="719328" y="4207027"/>
            <a:ext cx="2950464" cy="18044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200" i="1">
                <a:solidFill>
                  <a:srgbClr val="AAAAAA"/>
                </a:solidFill>
                <a:latin typeface="Calibri"/>
                <a:ea typeface="Calibri"/>
                <a:cs typeface="Calibri"/>
              </a:rPr>
              <a:t>[Full Name]</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rPr sz="1200" i="1">
                <a:solidFill>
                  <a:srgbClr val="AAAAAA"/>
                </a:solidFill>
                <a:latin typeface="Calibri"/>
                <a:ea typeface="Calibri"/>
                <a:cs typeface="Calibri"/>
              </a:rPr>
              <a:t>One line: what makes them right for this specific problem?</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rPr sz="1200" i="1">
                <a:solidFill>
                  <a:srgbClr val="AAAAAA"/>
                </a:solidFill>
                <a:latin typeface="Calibri"/>
                <a:ea typeface="Calibri"/>
                <a:cs typeface="Calibri"/>
              </a:rPr>
              <a:t>Example:</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rPr sz="1200" i="1">
                <a:solidFill>
                  <a:srgbClr val="AAAAAA"/>
                </a:solidFill>
                <a:latin typeface="Calibri"/>
                <a:ea typeface="Calibri"/>
                <a:cs typeface="Calibri"/>
              </a:rPr>
              <a:t>'10 years in EU defence procurement, ex-EY, closed 50M in government contracts'</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rPr sz="1200" i="1">
                <a:solidFill>
                  <a:srgbClr val="AAAAAA"/>
                </a:solidFill>
                <a:latin typeface="Calibri"/>
                <a:ea typeface="Calibri"/>
                <a:cs typeface="Calibri"/>
              </a:rPr>
              <a:t>LinkedIn or key credential</a:t>
            </a:r>
            <a:endParaRPr sz="1200">
              <a:solidFill>
                <a:schemeClr val="dk1"/>
              </a:solidFill>
              <a:latin typeface="Calibri"/>
              <a:ea typeface="Calibri"/>
              <a:cs typeface="Calibri"/>
            </a:endParaRPr>
          </a:p>
        </p:txBody>
      </p:sp>
      <p:sp>
        <p:nvSpPr>
          <p:cNvPr id="230" name="Google Shape;230;p9">
            <a:extLst xmlns:a="http://schemas.openxmlformats.org/drawingml/2006/main">
              <a:ext uri="{FF2B5EF4-FFF2-40B4-BE49-F238E27FC236}">
                <a16:creationId xmlns:a16="http://schemas.microsoft.com/office/drawing/2014/main" id="{349652B6-A103-4554-A754-B34E72C944AC}"/>
              </a:ext>
            </a:extLst>
          </p:cNvPr>
          <p:cNvSpPr>
            <a:spLocks xmlns:a="http://schemas.openxmlformats.org/drawingml/2006/main" noGrp="1"/>
          </p:cNvSpPr>
          <p:nvPr/>
        </p:nvSpPr>
        <p:spPr>
          <a:xfrm xmlns:a="http://schemas.openxmlformats.org/drawingml/2006/main">
            <a:off x="4206240" y="2097024"/>
            <a:ext cx="3535680" cy="4328160"/>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31" name="Google Shape;231;p9">
            <a:extLst xmlns:a="http://schemas.openxmlformats.org/drawingml/2006/main">
              <a:ext uri="{FF2B5EF4-FFF2-40B4-BE49-F238E27FC236}">
                <a16:creationId xmlns:a16="http://schemas.microsoft.com/office/drawing/2014/main" id="{FC93B6F8-4672-45AE-985D-7CAFF5D3CFCB}"/>
              </a:ext>
            </a:extLst>
          </p:cNvPr>
          <p:cNvSpPr>
            <a:spLocks xmlns:a="http://schemas.openxmlformats.org/drawingml/2006/main" noGrp="1"/>
          </p:cNvSpPr>
          <p:nvPr/>
        </p:nvSpPr>
        <p:spPr>
          <a:xfrm xmlns:a="http://schemas.openxmlformats.org/drawingml/2006/main">
            <a:off x="5364480" y="2218944"/>
            <a:ext cx="1219200" cy="1219200"/>
          </a:xfrm>
          <a:prstGeom xmlns:a="http://schemas.openxmlformats.org/drawingml/2006/main" prst="ellipse">
            <a:avLst/>
          </a:prstGeom>
          <a:solidFill xmlns:a="http://schemas.openxmlformats.org/drawingml/2006/main">
            <a:srgbClr val="FEF2CC"/>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32" name="Google Shape;232;p9">
            <a:extLst xmlns:a="http://schemas.openxmlformats.org/drawingml/2006/main">
              <a:ext uri="{FF2B5EF4-FFF2-40B4-BE49-F238E27FC236}">
                <a16:creationId xmlns:a16="http://schemas.microsoft.com/office/drawing/2014/main" id="{CB7B1A14-2A9D-48DF-BE7B-4CE80D4EF643}"/>
              </a:ext>
            </a:extLst>
          </p:cNvPr>
          <p:cNvSpPr>
            <a:spLocks xmlns:a="http://schemas.openxmlformats.org/drawingml/2006/main" noGrp="1"/>
          </p:cNvSpPr>
          <p:nvPr/>
        </p:nvSpPr>
        <p:spPr>
          <a:xfrm xmlns:a="http://schemas.openxmlformats.org/drawingml/2006/main">
            <a:off x="5205984" y="3486912"/>
            <a:ext cx="1536192"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067" i="1">
                <a:solidFill>
                  <a:srgbClr val="AAAAAA"/>
                </a:solidFill>
                <a:latin typeface="Calibri"/>
                <a:ea typeface="Calibri"/>
                <a:cs typeface="Calibri"/>
              </a:rPr>
              <a:t>[Add Photo]</a:t>
            </a:r>
            <a:endParaRPr sz="1067">
              <a:solidFill>
                <a:schemeClr val="dk1"/>
              </a:solidFill>
              <a:latin typeface="Calibri"/>
              <a:ea typeface="Calibri"/>
              <a:cs typeface="Calibri"/>
            </a:endParaRPr>
          </a:p>
        </p:txBody>
      </p:sp>
      <p:sp>
        <p:nvSpPr>
          <p:cNvPr id="233" name="Google Shape;233;p9">
            <a:extLst xmlns:a="http://schemas.openxmlformats.org/drawingml/2006/main">
              <a:ext uri="{FF2B5EF4-FFF2-40B4-BE49-F238E27FC236}">
                <a16:creationId xmlns:a16="http://schemas.microsoft.com/office/drawing/2014/main" id="{9DD071AD-748A-46B6-9878-9A7F8A22203F}"/>
              </a:ext>
            </a:extLst>
          </p:cNvPr>
          <p:cNvSpPr>
            <a:spLocks xmlns:a="http://schemas.openxmlformats.org/drawingml/2006/main" noGrp="1"/>
          </p:cNvSpPr>
          <p:nvPr/>
        </p:nvSpPr>
        <p:spPr>
          <a:xfrm xmlns:a="http://schemas.openxmlformats.org/drawingml/2006/main">
            <a:off x="4328160" y="4085107"/>
            <a:ext cx="3291840" cy="2048256"/>
          </a:xfrm>
          <a:prstGeom xmlns:a="http://schemas.openxmlformats.org/drawingml/2006/main" prst="rect">
            <a:avLst/>
          </a:prstGeom>
          <a:solidFill xmlns:a="http://schemas.openxmlformats.org/drawingml/2006/main">
            <a:srgbClr val="2D2D2D"/>
          </a:solidFill>
          <a:ln xmlns:a="http://schemas.openxmlformats.org/drawingml/2006/main" w="15225" cap="flat" cmpd="sng">
            <a:solidFill>
              <a:srgbClr val="FFE600"/>
            </a:solidFill>
            <a:prstDash val="dash"/>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34" name="Google Shape;234;p9">
            <a:extLst xmlns:a="http://schemas.openxmlformats.org/drawingml/2006/main">
              <a:ext uri="{FF2B5EF4-FFF2-40B4-BE49-F238E27FC236}">
                <a16:creationId xmlns:a16="http://schemas.microsoft.com/office/drawing/2014/main" id="{CC1727CF-62AC-4172-99E8-D3C1E02BE281}"/>
              </a:ext>
            </a:extLst>
          </p:cNvPr>
          <p:cNvSpPr>
            <a:spLocks xmlns:a="http://schemas.openxmlformats.org/drawingml/2006/main" noGrp="1"/>
          </p:cNvSpPr>
          <p:nvPr/>
        </p:nvSpPr>
        <p:spPr>
          <a:xfrm xmlns:a="http://schemas.openxmlformats.org/drawingml/2006/main">
            <a:off x="4498848" y="4207027"/>
            <a:ext cx="2950464" cy="18044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200" i="1">
                <a:solidFill>
                  <a:srgbClr val="AAAAAA"/>
                </a:solidFill>
                <a:latin typeface="Calibri"/>
                <a:ea typeface="Calibri"/>
                <a:cs typeface="Calibri"/>
              </a:rPr>
              <a:t>[Full Name]</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rPr sz="1200" i="1">
                <a:solidFill>
                  <a:srgbClr val="AAAAAA"/>
                </a:solidFill>
                <a:latin typeface="Calibri"/>
                <a:ea typeface="Calibri"/>
                <a:cs typeface="Calibri"/>
              </a:rPr>
              <a:t>One line: their specific superpower.</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rPr sz="1200" i="1">
                <a:solidFill>
                  <a:srgbClr val="AAAAAA"/>
                </a:solidFill>
                <a:latin typeface="Calibri"/>
                <a:ea typeface="Calibri"/>
                <a:cs typeface="Calibri"/>
              </a:rPr>
              <a:t>Example:</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rPr sz="1200" i="1">
                <a:solidFill>
                  <a:srgbClr val="AAAAAA"/>
                </a:solidFill>
                <a:latin typeface="Calibri"/>
                <a:ea typeface="Calibri"/>
                <a:cs typeface="Calibri"/>
              </a:rPr>
              <a:t>'Former NATO intelligence analyst, built 3 SaaS products, 2 exits'</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rPr sz="1200" i="1">
                <a:solidFill>
                  <a:srgbClr val="AAAAAA"/>
                </a:solidFill>
                <a:latin typeface="Calibri"/>
                <a:ea typeface="Calibri"/>
                <a:cs typeface="Calibri"/>
              </a:rPr>
              <a:t>Remove this card if solo founder - do not invent a co-founder</a:t>
            </a:r>
            <a:endParaRPr sz="1200">
              <a:solidFill>
                <a:schemeClr val="dk1"/>
              </a:solidFill>
              <a:latin typeface="Calibri"/>
              <a:ea typeface="Calibri"/>
              <a:cs typeface="Calibri"/>
            </a:endParaRPr>
          </a:p>
        </p:txBody>
      </p:sp>
      <p:sp>
        <p:nvSpPr>
          <p:cNvPr id="235" name="Google Shape;235;p9">
            <a:extLst xmlns:a="http://schemas.openxmlformats.org/drawingml/2006/main">
              <a:ext uri="{FF2B5EF4-FFF2-40B4-BE49-F238E27FC236}">
                <a16:creationId xmlns:a16="http://schemas.microsoft.com/office/drawing/2014/main" id="{25889DB1-26D0-4EA5-8532-0CB496FF15D1}"/>
              </a:ext>
            </a:extLst>
          </p:cNvPr>
          <p:cNvSpPr>
            <a:spLocks xmlns:a="http://schemas.openxmlformats.org/drawingml/2006/main" noGrp="1"/>
          </p:cNvSpPr>
          <p:nvPr/>
        </p:nvSpPr>
        <p:spPr>
          <a:xfrm xmlns:a="http://schemas.openxmlformats.org/drawingml/2006/main">
            <a:off x="7985760" y="2097024"/>
            <a:ext cx="3535680" cy="4328160"/>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36" name="Google Shape;236;p9">
            <a:extLst xmlns:a="http://schemas.openxmlformats.org/drawingml/2006/main">
              <a:ext uri="{FF2B5EF4-FFF2-40B4-BE49-F238E27FC236}">
                <a16:creationId xmlns:a16="http://schemas.microsoft.com/office/drawing/2014/main" id="{C3B11C0E-023C-4E4D-A729-585B15A2BFB5}"/>
              </a:ext>
            </a:extLst>
          </p:cNvPr>
          <p:cNvSpPr>
            <a:spLocks xmlns:a="http://schemas.openxmlformats.org/drawingml/2006/main" noGrp="1"/>
          </p:cNvSpPr>
          <p:nvPr/>
        </p:nvSpPr>
        <p:spPr>
          <a:xfrm xmlns:a="http://schemas.openxmlformats.org/drawingml/2006/main">
            <a:off x="9144000" y="2218944"/>
            <a:ext cx="1219200" cy="1219200"/>
          </a:xfrm>
          <a:prstGeom xmlns:a="http://schemas.openxmlformats.org/drawingml/2006/main" prst="ellipse">
            <a:avLst/>
          </a:prstGeom>
          <a:solidFill xmlns:a="http://schemas.openxmlformats.org/drawingml/2006/main">
            <a:srgbClr val="FEF2CC"/>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37" name="Google Shape;237;p9">
            <a:extLst xmlns:a="http://schemas.openxmlformats.org/drawingml/2006/main">
              <a:ext uri="{FF2B5EF4-FFF2-40B4-BE49-F238E27FC236}">
                <a16:creationId xmlns:a16="http://schemas.microsoft.com/office/drawing/2014/main" id="{08AFA5A4-8E0B-4177-BA00-9FCA732BC03E}"/>
              </a:ext>
            </a:extLst>
          </p:cNvPr>
          <p:cNvSpPr>
            <a:spLocks xmlns:a="http://schemas.openxmlformats.org/drawingml/2006/main" noGrp="1"/>
          </p:cNvSpPr>
          <p:nvPr/>
        </p:nvSpPr>
        <p:spPr>
          <a:xfrm xmlns:a="http://schemas.openxmlformats.org/drawingml/2006/main">
            <a:off x="8985504" y="3486912"/>
            <a:ext cx="1536192"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067" i="1">
                <a:solidFill>
                  <a:srgbClr val="AAAAAA"/>
                </a:solidFill>
                <a:latin typeface="Calibri"/>
                <a:ea typeface="Calibri"/>
                <a:cs typeface="Calibri"/>
              </a:rPr>
              <a:t>[Add Photo]</a:t>
            </a:r>
            <a:endParaRPr sz="1067">
              <a:solidFill>
                <a:schemeClr val="dk1"/>
              </a:solidFill>
              <a:latin typeface="Calibri"/>
              <a:ea typeface="Calibri"/>
              <a:cs typeface="Calibri"/>
            </a:endParaRPr>
          </a:p>
        </p:txBody>
      </p:sp>
      <p:sp>
        <p:nvSpPr>
          <p:cNvPr id="238" name="Google Shape;238;p9">
            <a:extLst xmlns:a="http://schemas.openxmlformats.org/drawingml/2006/main">
              <a:ext uri="{FF2B5EF4-FFF2-40B4-BE49-F238E27FC236}">
                <a16:creationId xmlns:a16="http://schemas.microsoft.com/office/drawing/2014/main" id="{BFF27283-0CF5-46EE-AE8A-69D2AFF223D3}"/>
              </a:ext>
            </a:extLst>
          </p:cNvPr>
          <p:cNvSpPr>
            <a:spLocks xmlns:a="http://schemas.openxmlformats.org/drawingml/2006/main" noGrp="1"/>
          </p:cNvSpPr>
          <p:nvPr/>
        </p:nvSpPr>
        <p:spPr>
          <a:xfrm xmlns:a="http://schemas.openxmlformats.org/drawingml/2006/main">
            <a:off x="8107680" y="4085107"/>
            <a:ext cx="3291840" cy="2048256"/>
          </a:xfrm>
          <a:prstGeom xmlns:a="http://schemas.openxmlformats.org/drawingml/2006/main" prst="rect">
            <a:avLst/>
          </a:prstGeom>
          <a:solidFill xmlns:a="http://schemas.openxmlformats.org/drawingml/2006/main">
            <a:srgbClr val="2D2D2D"/>
          </a:solidFill>
          <a:ln xmlns:a="http://schemas.openxmlformats.org/drawingml/2006/main" w="15225" cap="flat" cmpd="sng">
            <a:solidFill>
              <a:srgbClr val="FFE600"/>
            </a:solidFill>
            <a:prstDash val="dash"/>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39" name="Google Shape;239;p9">
            <a:extLst xmlns:a="http://schemas.openxmlformats.org/drawingml/2006/main">
              <a:ext uri="{FF2B5EF4-FFF2-40B4-BE49-F238E27FC236}">
                <a16:creationId xmlns:a16="http://schemas.microsoft.com/office/drawing/2014/main" id="{D684ECBE-57B0-4049-9940-6BF4A11F75C3}"/>
              </a:ext>
            </a:extLst>
          </p:cNvPr>
          <p:cNvSpPr>
            <a:spLocks xmlns:a="http://schemas.openxmlformats.org/drawingml/2006/main" noGrp="1"/>
          </p:cNvSpPr>
          <p:nvPr/>
        </p:nvSpPr>
        <p:spPr>
          <a:xfrm xmlns:a="http://schemas.openxmlformats.org/drawingml/2006/main">
            <a:off x="8278368" y="4207027"/>
            <a:ext cx="2950464" cy="18044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200" i="1">
                <a:solidFill>
                  <a:srgbClr val="AAAAAA"/>
                </a:solidFill>
                <a:latin typeface="Calibri"/>
                <a:ea typeface="Calibri"/>
                <a:cs typeface="Calibri"/>
              </a:rPr>
              <a:t>[Full Name]</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rPr sz="1200" i="1">
                <a:solidFill>
                  <a:srgbClr val="AAAAAA"/>
                </a:solidFill>
                <a:latin typeface="Calibri"/>
                <a:ea typeface="Calibri"/>
                <a:cs typeface="Calibri"/>
              </a:rPr>
              <a:t>Why does this advisor add credibility?</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rPr sz="1200" i="1">
                <a:solidFill>
                  <a:srgbClr val="AAAAAA"/>
                </a:solidFill>
                <a:latin typeface="Calibri"/>
                <a:ea typeface="Calibri"/>
                <a:cs typeface="Calibri"/>
              </a:rPr>
              <a:t>Example:</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rPr sz="1200" i="1">
                <a:solidFill>
                  <a:srgbClr val="AAAAAA"/>
                </a:solidFill>
                <a:latin typeface="Calibri"/>
                <a:ea typeface="Calibri"/>
                <a:cs typeface="Calibri"/>
              </a:rPr>
              <a:t>'Former CTO of [Prime Contractor], advisor to NATO DIANA programme'</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rPr sz="1200" i="1">
                <a:solidFill>
                  <a:srgbClr val="AAAAAA"/>
                </a:solidFill>
                <a:latin typeface="Calibri"/>
                <a:ea typeface="Calibri"/>
                <a:cs typeface="Calibri"/>
              </a:rPr>
              <a:t>Remove if you do not have a strong advisor - empty is worse than absent</a:t>
            </a:r>
            <a:endParaRPr sz="1200">
              <a:solidFill>
                <a:schemeClr val="dk1"/>
              </a:solidFill>
              <a:latin typeface="Calibri"/>
              <a:ea typeface="Calibri"/>
              <a:cs typeface="Calibri"/>
            </a:endParaRPr>
          </a:p>
        </p:txBody>
      </p:sp>
      <p:sp>
        <p:nvSpPr>
          <p:cNvPr id="240" name="Google Shape;240;p9">
            <a:extLst xmlns:a="http://schemas.openxmlformats.org/drawingml/2006/main">
              <a:ext uri="{FF2B5EF4-FFF2-40B4-BE49-F238E27FC236}">
                <a16:creationId xmlns:a16="http://schemas.microsoft.com/office/drawing/2014/main" id="{283C7770-B487-4346-A24B-80260DB1F62B}"/>
              </a:ext>
            </a:extLst>
          </p:cNvPr>
          <p:cNvSpPr>
            <a:spLocks xmlns:a="http://schemas.openxmlformats.org/drawingml/2006/main" noGrp="1"/>
          </p:cNvSpPr>
          <p:nvPr/>
        </p:nvSpPr>
        <p:spPr>
          <a:xfrm xmlns:a="http://schemas.openxmlformats.org/drawingml/2006/main">
            <a:off x="670560" y="6473952"/>
            <a:ext cx="10911840" cy="268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133" i="1">
                <a:solidFill>
                  <a:schemeClr val="dk1"/>
                </a:solidFill>
                <a:latin typeface="Calibri"/>
                <a:ea typeface="Calibri"/>
                <a:cs typeface="Calibri"/>
              </a:rPr>
              <a:t>Presenter note: 20 seconds max here. One sentence per person. Credibility, not biography.</a:t>
            </a:r>
            <a:endParaRPr sz="1133">
              <a:solidFill>
                <a:schemeClr val="dk1"/>
              </a:solidFill>
              <a:latin typeface="Calibri"/>
              <a:ea typeface="Calibri"/>
              <a:cs typeface="Calibri"/>
            </a:endParaRPr>
          </a:p>
        </p:txBody>
      </p:sp>
    </p:spTree>
    <p:extLst>
      <p:ext uri="{BB962C8B-B14F-4D97-AF65-F5344CB8AC3E}">
        <p14:creationId xmlns:p14="http://schemas.microsoft.com/office/powerpoint/2010/main" val="121271314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46" name="Google Shape;246;p10">
            <a:extLst xmlns:a="http://schemas.openxmlformats.org/drawingml/2006/main">
              <a:ext uri="{FF2B5EF4-FFF2-40B4-BE49-F238E27FC236}">
                <a16:creationId xmlns:a16="http://schemas.microsoft.com/office/drawing/2014/main" id="{CC65D90D-9CCE-4BA9-916A-43235A881B07}"/>
              </a:ext>
            </a:extLst>
          </p:cNvPr>
          <p:cNvSpPr>
            <a:spLocks xmlns:a="http://schemas.openxmlformats.org/drawingml/2006/main" noGrp="1"/>
          </p:cNvSpPr>
          <p:nvPr/>
        </p:nvSpPr>
        <p:spPr>
          <a:xfrm xmlns:a="http://schemas.openxmlformats.org/drawingml/2006/main">
            <a:off x="426720" y="268224"/>
            <a:ext cx="2194560" cy="36576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47" name="Google Shape;247;p10">
            <a:extLst xmlns:a="http://schemas.openxmlformats.org/drawingml/2006/main">
              <a:ext uri="{FF2B5EF4-FFF2-40B4-BE49-F238E27FC236}">
                <a16:creationId xmlns:a16="http://schemas.microsoft.com/office/drawing/2014/main" id="{295E4ED3-91C4-406F-B615-5581CA2AEC77}"/>
              </a:ext>
            </a:extLst>
          </p:cNvPr>
          <p:cNvSpPr>
            <a:spLocks xmlns:a="http://schemas.openxmlformats.org/drawingml/2006/main" noGrp="1"/>
          </p:cNvSpPr>
          <p:nvPr/>
        </p:nvSpPr>
        <p:spPr>
          <a:xfrm xmlns:a="http://schemas.openxmlformats.org/drawingml/2006/main">
            <a:off x="426720" y="268224"/>
            <a:ext cx="2194560" cy="365760"/>
          </a:xfrm>
          <a:prstGeom xmlns:a="http://schemas.openxmlformats.org/drawingml/2006/main" prst="rect">
            <a:avLst/>
          </a:prstGeom>
          <a:solidFill xmlns:a="http://schemas.openxmlformats.org/drawingml/2006/main">
            <a:srgbClr val="FFE499"/>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133" b="1">
                <a:solidFill>
                  <a:srgbClr val="1A1A1A"/>
                </a:solidFill>
                <a:latin typeface="Calibri"/>
                <a:ea typeface="Calibri"/>
                <a:cs typeface="Calibri"/>
              </a:rPr>
              <a:t>SLIDE 03  |  ~30 sec</a:t>
            </a:r>
            <a:endParaRPr sz="1133">
              <a:solidFill>
                <a:schemeClr val="dk1"/>
              </a:solidFill>
              <a:latin typeface="Calibri"/>
              <a:ea typeface="Calibri"/>
              <a:cs typeface="Calibri"/>
            </a:endParaRPr>
          </a:p>
        </p:txBody>
      </p:sp>
      <p:sp>
        <p:nvSpPr>
          <p:cNvPr id="248" name="Google Shape;248;p10">
            <a:extLst xmlns:a="http://schemas.openxmlformats.org/drawingml/2006/main">
              <a:ext uri="{FF2B5EF4-FFF2-40B4-BE49-F238E27FC236}">
                <a16:creationId xmlns:a16="http://schemas.microsoft.com/office/drawing/2014/main" id="{10A6A9F6-C44B-4593-AA3D-F2AC2D3E1395}"/>
              </a:ext>
            </a:extLst>
          </p:cNvPr>
          <p:cNvSpPr>
            <a:spLocks xmlns:a="http://schemas.openxmlformats.org/drawingml/2006/main" noGrp="1"/>
          </p:cNvSpPr>
          <p:nvPr/>
        </p:nvSpPr>
        <p:spPr>
          <a:xfrm xmlns:a="http://schemas.openxmlformats.org/drawingml/2006/main">
            <a:off x="487680" y="755904"/>
            <a:ext cx="10972800" cy="85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5333" b="1">
                <a:solidFill>
                  <a:schemeClr val="dk1"/>
                </a:solidFill>
                <a:latin typeface="Calibri"/>
                <a:ea typeface="Calibri"/>
                <a:cs typeface="Calibri"/>
              </a:rPr>
              <a:t>The Problem</a:t>
            </a:r>
            <a:endParaRPr sz="5333">
              <a:solidFill>
                <a:schemeClr val="dk1"/>
              </a:solidFill>
              <a:latin typeface="Calibri"/>
              <a:ea typeface="Calibri"/>
              <a:cs typeface="Calibri"/>
            </a:endParaRPr>
          </a:p>
        </p:txBody>
      </p:sp>
      <p:sp>
        <p:nvSpPr>
          <p:cNvPr id="249" name="Google Shape;249;p10">
            <a:extLst xmlns:a="http://schemas.openxmlformats.org/drawingml/2006/main">
              <a:ext uri="{FF2B5EF4-FFF2-40B4-BE49-F238E27FC236}">
                <a16:creationId xmlns:a16="http://schemas.microsoft.com/office/drawing/2014/main" id="{554E714D-20CC-497C-A754-644FCD5EFF20}"/>
              </a:ext>
            </a:extLst>
          </p:cNvPr>
          <p:cNvSpPr>
            <a:spLocks xmlns:a="http://schemas.openxmlformats.org/drawingml/2006/main" noGrp="1"/>
          </p:cNvSpPr>
          <p:nvPr/>
        </p:nvSpPr>
        <p:spPr>
          <a:xfrm xmlns:a="http://schemas.openxmlformats.org/drawingml/2006/main">
            <a:off x="487680" y="1560576"/>
            <a:ext cx="109728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733" i="1">
                <a:solidFill>
                  <a:schemeClr val="dk1"/>
                </a:solidFill>
                <a:latin typeface="Calibri"/>
                <a:ea typeface="Calibri"/>
                <a:cs typeface="Calibri"/>
              </a:rPr>
              <a:t>One disruption can cross several supply and service dependencies</a:t>
            </a:r>
            <a:endParaRPr sz="1733">
              <a:solidFill>
                <a:schemeClr val="dk1"/>
              </a:solidFill>
              <a:latin typeface="Calibri"/>
              <a:ea typeface="Calibri"/>
              <a:cs typeface="Calibri"/>
            </a:endParaRPr>
          </a:p>
        </p:txBody>
      </p:sp>
      <p:sp>
        <p:nvSpPr>
          <p:cNvPr id="250" name="Google Shape;250;p10">
            <a:extLst xmlns:a="http://schemas.openxmlformats.org/drawingml/2006/main">
              <a:ext uri="{FF2B5EF4-FFF2-40B4-BE49-F238E27FC236}">
                <a16:creationId xmlns:a16="http://schemas.microsoft.com/office/drawing/2014/main" id="{A386E3B4-494B-4B70-8784-EC553825249F}"/>
              </a:ext>
            </a:extLst>
          </p:cNvPr>
          <p:cNvSpPr>
            <a:spLocks xmlns:a="http://schemas.openxmlformats.org/drawingml/2006/main" noGrp="1"/>
          </p:cNvSpPr>
          <p:nvPr/>
        </p:nvSpPr>
        <p:spPr>
          <a:xfrm xmlns:a="http://schemas.openxmlformats.org/drawingml/2006/main">
            <a:off x="426720" y="2097024"/>
            <a:ext cx="3535680" cy="3511296"/>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51" name="Google Shape;251;p10">
            <a:extLst xmlns:a="http://schemas.openxmlformats.org/drawingml/2006/main">
              <a:ext uri="{FF2B5EF4-FFF2-40B4-BE49-F238E27FC236}">
                <a16:creationId xmlns:a16="http://schemas.microsoft.com/office/drawing/2014/main" id="{B12BA23B-0DB4-4384-A8B6-7EEF2FCF7A91}"/>
              </a:ext>
            </a:extLst>
          </p:cNvPr>
          <p:cNvSpPr>
            <a:spLocks xmlns:a="http://schemas.openxmlformats.org/drawingml/2006/main" noGrp="1"/>
          </p:cNvSpPr>
          <p:nvPr/>
        </p:nvSpPr>
        <p:spPr>
          <a:xfrm xmlns:a="http://schemas.openxmlformats.org/drawingml/2006/main">
            <a:off x="426720" y="2097024"/>
            <a:ext cx="3535680" cy="121920"/>
          </a:xfrm>
          <a:prstGeom xmlns:a="http://schemas.openxmlformats.org/drawingml/2006/main" prst="rect">
            <a:avLst/>
          </a:prstGeom>
          <a:solidFill xmlns:a="http://schemas.openxmlformats.org/drawingml/2006/main">
            <a:srgbClr val="FFE4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52" name="Google Shape;252;p10">
            <a:extLst xmlns:a="http://schemas.openxmlformats.org/drawingml/2006/main">
              <a:ext uri="{FF2B5EF4-FFF2-40B4-BE49-F238E27FC236}">
                <a16:creationId xmlns:a16="http://schemas.microsoft.com/office/drawing/2014/main" id="{4E6A44CF-E30D-44CD-87D8-89673DFADAAA}"/>
              </a:ext>
            </a:extLst>
          </p:cNvPr>
          <p:cNvSpPr>
            <a:spLocks xmlns:a="http://schemas.openxmlformats.org/drawingml/2006/main" noGrp="1"/>
          </p:cNvSpPr>
          <p:nvPr/>
        </p:nvSpPr>
        <p:spPr>
          <a:xfrm xmlns:a="http://schemas.openxmlformats.org/drawingml/2006/main">
            <a:off x="548640" y="2928045"/>
            <a:ext cx="3291840" cy="3413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467" b="1">
                <a:solidFill>
                  <a:schemeClr val="lt1"/>
                </a:solidFill>
                <a:latin typeface="Calibri"/>
                <a:ea typeface="Calibri"/>
                <a:cs typeface="Calibri"/>
              </a:rPr>
              <a:t>SITUATION</a:t>
            </a:r>
            <a:endParaRPr sz="1467">
              <a:solidFill>
                <a:schemeClr val="lt1"/>
              </a:solidFill>
              <a:latin typeface="Calibri"/>
              <a:ea typeface="Calibri"/>
              <a:cs typeface="Calibri"/>
            </a:endParaRPr>
          </a:p>
        </p:txBody>
      </p:sp>
      <p:sp>
        <p:nvSpPr>
          <p:cNvPr id="253" name="Google Shape;253;p10">
            <a:extLst xmlns:a="http://schemas.openxmlformats.org/drawingml/2006/main">
              <a:ext uri="{FF2B5EF4-FFF2-40B4-BE49-F238E27FC236}">
                <a16:creationId xmlns:a16="http://schemas.microsoft.com/office/drawing/2014/main" id="{54D4D519-001A-497A-95F9-8EDA5C72BDDA}"/>
              </a:ext>
            </a:extLst>
          </p:cNvPr>
          <p:cNvSpPr>
            <a:spLocks xmlns:a="http://schemas.openxmlformats.org/drawingml/2006/main" noGrp="1"/>
          </p:cNvSpPr>
          <p:nvPr/>
        </p:nvSpPr>
        <p:spPr>
          <a:xfrm xmlns:a="http://schemas.openxmlformats.org/drawingml/2006/main">
            <a:off x="548640" y="3706368"/>
            <a:ext cx="3291840" cy="1804416"/>
          </a:xfrm>
          <a:prstGeom xmlns:a="http://schemas.openxmlformats.org/drawingml/2006/main" prst="rect">
            <a:avLst/>
          </a:prstGeom>
          <a:solidFill xmlns:a="http://schemas.openxmlformats.org/drawingml/2006/main">
            <a:srgbClr val="2D2D2D"/>
          </a:solidFill>
          <a:ln xmlns:a="http://schemas.openxmlformats.org/drawingml/2006/main" w="15225" cap="flat" cmpd="sng">
            <a:solidFill>
              <a:srgbClr val="FFE600"/>
            </a:solidFill>
            <a:prstDash val="dash"/>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54" name="Google Shape;254;p10">
            <a:extLst xmlns:a="http://schemas.openxmlformats.org/drawingml/2006/main">
              <a:ext uri="{FF2B5EF4-FFF2-40B4-BE49-F238E27FC236}">
                <a16:creationId xmlns:a16="http://schemas.microsoft.com/office/drawing/2014/main" id="{F8D89B10-4A41-4606-8232-0160995BA313}"/>
              </a:ext>
            </a:extLst>
          </p:cNvPr>
          <p:cNvSpPr>
            <a:spLocks xmlns:a="http://schemas.openxmlformats.org/drawingml/2006/main" noGrp="1"/>
          </p:cNvSpPr>
          <p:nvPr/>
        </p:nvSpPr>
        <p:spPr>
          <a:xfrm xmlns:a="http://schemas.openxmlformats.org/drawingml/2006/main">
            <a:off x="719328" y="3828288"/>
            <a:ext cx="2950464" cy="15605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r>
              <a:rPr sz="1200" i="0">
                <a:solidFill>
                  <a:srgbClr val="FFFFFF"/>
                </a:solidFill>
                <a:latin typeface="Calibri"/>
                <a:ea typeface="Calibri"/>
                <a:cs typeface="Calibri"/>
              </a:rPr>
              <a:t>Essential services depend on power, freight and local suppliers.</a:t>
            </a:r>
          </a:p>
          <a:p xmlns:a="http://schemas.openxmlformats.org/drawingml/2006/main">
            <a:r>
              <a:rPr sz="1200" i="0">
                <a:solidFill>
                  <a:srgbClr val="FFFFFF"/>
                </a:solidFill>
                <a:latin typeface="Calibri"/>
                <a:ea typeface="Calibri"/>
                <a:cs typeface="Calibri"/>
              </a:rPr>
              <a:t/>
            </a:r>
          </a:p>
          <a:p xmlns:a="http://schemas.openxmlformats.org/drawingml/2006/main">
            <a:r>
              <a:rPr sz="1200" i="0">
                <a:solidFill>
                  <a:srgbClr val="FFFFFF"/>
                </a:solidFill>
                <a:latin typeface="Calibri"/>
                <a:ea typeface="Calibri"/>
                <a:cs typeface="Calibri"/>
              </a:rPr>
              <a:t>Our synthetic corridor connects London, Kent and northern France through Dover.</a:t>
            </a:r>
          </a:p>
        </p:txBody>
      </p:sp>
      <p:sp>
        <p:nvSpPr>
          <p:cNvPr id="255" name="Google Shape;255;p10">
            <a:extLst xmlns:a="http://schemas.openxmlformats.org/drawingml/2006/main">
              <a:ext uri="{FF2B5EF4-FFF2-40B4-BE49-F238E27FC236}">
                <a16:creationId xmlns:a16="http://schemas.microsoft.com/office/drawing/2014/main" id="{2FAFF785-60DC-4EBB-BDB0-A9B40C80952C}"/>
              </a:ext>
            </a:extLst>
          </p:cNvPr>
          <p:cNvSpPr>
            <a:spLocks xmlns:a="http://schemas.openxmlformats.org/drawingml/2006/main" noGrp="1"/>
          </p:cNvSpPr>
          <p:nvPr/>
        </p:nvSpPr>
        <p:spPr>
          <a:xfrm xmlns:a="http://schemas.openxmlformats.org/drawingml/2006/main">
            <a:off x="4206240" y="2097024"/>
            <a:ext cx="3535680" cy="3511296"/>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56" name="Google Shape;256;p10">
            <a:extLst xmlns:a="http://schemas.openxmlformats.org/drawingml/2006/main">
              <a:ext uri="{FF2B5EF4-FFF2-40B4-BE49-F238E27FC236}">
                <a16:creationId xmlns:a16="http://schemas.microsoft.com/office/drawing/2014/main" id="{4E3EAC7A-EA3E-4437-9941-E3796A60021D}"/>
              </a:ext>
            </a:extLst>
          </p:cNvPr>
          <p:cNvSpPr>
            <a:spLocks xmlns:a="http://schemas.openxmlformats.org/drawingml/2006/main" noGrp="1"/>
          </p:cNvSpPr>
          <p:nvPr/>
        </p:nvSpPr>
        <p:spPr>
          <a:xfrm xmlns:a="http://schemas.openxmlformats.org/drawingml/2006/main">
            <a:off x="4206240" y="2097024"/>
            <a:ext cx="3535680" cy="121920"/>
          </a:xfrm>
          <a:prstGeom xmlns:a="http://schemas.openxmlformats.org/drawingml/2006/main" prst="rect">
            <a:avLst/>
          </a:prstGeom>
          <a:solidFill xmlns:a="http://schemas.openxmlformats.org/drawingml/2006/main">
            <a:srgbClr val="FFE4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57" name="Google Shape;257;p10">
            <a:extLst xmlns:a="http://schemas.openxmlformats.org/drawingml/2006/main">
              <a:ext uri="{FF2B5EF4-FFF2-40B4-BE49-F238E27FC236}">
                <a16:creationId xmlns:a16="http://schemas.microsoft.com/office/drawing/2014/main" id="{0568ECE9-436A-4ED1-BAA6-8412C3DF5675}"/>
              </a:ext>
            </a:extLst>
          </p:cNvPr>
          <p:cNvSpPr>
            <a:spLocks xmlns:a="http://schemas.openxmlformats.org/drawingml/2006/main" noGrp="1"/>
          </p:cNvSpPr>
          <p:nvPr/>
        </p:nvSpPr>
        <p:spPr>
          <a:xfrm xmlns:a="http://schemas.openxmlformats.org/drawingml/2006/main">
            <a:off x="4328160" y="2928045"/>
            <a:ext cx="3291840" cy="3413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467" b="1">
                <a:solidFill>
                  <a:schemeClr val="lt1"/>
                </a:solidFill>
                <a:latin typeface="Calibri"/>
                <a:ea typeface="Calibri"/>
                <a:cs typeface="Calibri"/>
              </a:rPr>
              <a:t>PROBLEM</a:t>
            </a:r>
            <a:endParaRPr sz="1467">
              <a:solidFill>
                <a:schemeClr val="lt1"/>
              </a:solidFill>
              <a:latin typeface="Calibri"/>
              <a:ea typeface="Calibri"/>
              <a:cs typeface="Calibri"/>
            </a:endParaRPr>
          </a:p>
        </p:txBody>
      </p:sp>
      <p:sp>
        <p:nvSpPr>
          <p:cNvPr id="258" name="Google Shape;258;p10">
            <a:extLst xmlns:a="http://schemas.openxmlformats.org/drawingml/2006/main">
              <a:ext uri="{FF2B5EF4-FFF2-40B4-BE49-F238E27FC236}">
                <a16:creationId xmlns:a16="http://schemas.microsoft.com/office/drawing/2014/main" id="{F7C6F00E-27B8-4369-A629-04FD73D72089}"/>
              </a:ext>
            </a:extLst>
          </p:cNvPr>
          <p:cNvSpPr>
            <a:spLocks xmlns:a="http://schemas.openxmlformats.org/drawingml/2006/main" noGrp="1"/>
          </p:cNvSpPr>
          <p:nvPr/>
        </p:nvSpPr>
        <p:spPr>
          <a:xfrm xmlns:a="http://schemas.openxmlformats.org/drawingml/2006/main">
            <a:off x="4328160" y="3706368"/>
            <a:ext cx="3291840" cy="1804416"/>
          </a:xfrm>
          <a:prstGeom xmlns:a="http://schemas.openxmlformats.org/drawingml/2006/main" prst="rect">
            <a:avLst/>
          </a:prstGeom>
          <a:solidFill xmlns:a="http://schemas.openxmlformats.org/drawingml/2006/main">
            <a:srgbClr val="2D2D2D"/>
          </a:solidFill>
          <a:ln xmlns:a="http://schemas.openxmlformats.org/drawingml/2006/main" w="15225" cap="flat" cmpd="sng">
            <a:solidFill>
              <a:srgbClr val="FFE600"/>
            </a:solidFill>
            <a:prstDash val="dash"/>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59" name="Google Shape;259;p10">
            <a:extLst xmlns:a="http://schemas.openxmlformats.org/drawingml/2006/main">
              <a:ext uri="{FF2B5EF4-FFF2-40B4-BE49-F238E27FC236}">
                <a16:creationId xmlns:a16="http://schemas.microsoft.com/office/drawing/2014/main" id="{75C3DC39-8921-4319-AC28-5E8BA1DBC9EF}"/>
              </a:ext>
            </a:extLst>
          </p:cNvPr>
          <p:cNvSpPr>
            <a:spLocks xmlns:a="http://schemas.openxmlformats.org/drawingml/2006/main" noGrp="1"/>
          </p:cNvSpPr>
          <p:nvPr/>
        </p:nvSpPr>
        <p:spPr>
          <a:xfrm xmlns:a="http://schemas.openxmlformats.org/drawingml/2006/main">
            <a:off x="4498848" y="3828288"/>
            <a:ext cx="2950464" cy="15605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r>
              <a:rPr sz="1200" i="0">
                <a:solidFill>
                  <a:srgbClr val="FFFFFF"/>
                </a:solidFill>
                <a:latin typeface="Calibri"/>
                <a:ea typeface="Calibri"/>
                <a:cs typeface="Calibri"/>
              </a:rPr>
              <a:t>A closed crossing can interrupt deliveries far beyond the port.</a:t>
            </a:r>
          </a:p>
          <a:p xmlns:a="http://schemas.openxmlformats.org/drawingml/2006/main">
            <a:r>
              <a:rPr sz="1200" i="0">
                <a:solidFill>
                  <a:srgbClr val="FFFFFF"/>
                </a:solidFill>
                <a:latin typeface="Calibri"/>
                <a:ea typeface="Calibri"/>
                <a:cs typeface="Calibri"/>
              </a:rPr>
              <a:t/>
            </a:r>
          </a:p>
          <a:p xmlns:a="http://schemas.openxmlformats.org/drawingml/2006/main">
            <a:r>
              <a:rPr sz="1200" i="0">
                <a:solidFill>
                  <a:srgbClr val="FFFFFF"/>
                </a:solidFill>
                <a:latin typeface="Calibri"/>
                <a:ea typeface="Calibri"/>
                <a:cs typeface="Calibri"/>
              </a:rPr>
              <a:t>An alternative route also needs available aircraft, crews and onward transport.</a:t>
            </a:r>
          </a:p>
        </p:txBody>
      </p:sp>
      <p:sp>
        <p:nvSpPr>
          <p:cNvPr id="260" name="Google Shape;260;p10">
            <a:extLst xmlns:a="http://schemas.openxmlformats.org/drawingml/2006/main">
              <a:ext uri="{FF2B5EF4-FFF2-40B4-BE49-F238E27FC236}">
                <a16:creationId xmlns:a16="http://schemas.microsoft.com/office/drawing/2014/main" id="{6253735D-F32E-486D-8430-1C4405236566}"/>
              </a:ext>
            </a:extLst>
          </p:cNvPr>
          <p:cNvSpPr>
            <a:spLocks xmlns:a="http://schemas.openxmlformats.org/drawingml/2006/main" noGrp="1"/>
          </p:cNvSpPr>
          <p:nvPr/>
        </p:nvSpPr>
        <p:spPr>
          <a:xfrm xmlns:a="http://schemas.openxmlformats.org/drawingml/2006/main">
            <a:off x="7985760" y="2097024"/>
            <a:ext cx="3535680" cy="3511296"/>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61" name="Google Shape;261;p10">
            <a:extLst xmlns:a="http://schemas.openxmlformats.org/drawingml/2006/main">
              <a:ext uri="{FF2B5EF4-FFF2-40B4-BE49-F238E27FC236}">
                <a16:creationId xmlns:a16="http://schemas.microsoft.com/office/drawing/2014/main" id="{F48FDE1A-371F-4E27-BDE2-80392693B268}"/>
              </a:ext>
            </a:extLst>
          </p:cNvPr>
          <p:cNvSpPr>
            <a:spLocks xmlns:a="http://schemas.openxmlformats.org/drawingml/2006/main" noGrp="1"/>
          </p:cNvSpPr>
          <p:nvPr/>
        </p:nvSpPr>
        <p:spPr>
          <a:xfrm xmlns:a="http://schemas.openxmlformats.org/drawingml/2006/main">
            <a:off x="7985760" y="2097024"/>
            <a:ext cx="3535680" cy="121920"/>
          </a:xfrm>
          <a:prstGeom xmlns:a="http://schemas.openxmlformats.org/drawingml/2006/main" prst="rect">
            <a:avLst/>
          </a:prstGeom>
          <a:solidFill xmlns:a="http://schemas.openxmlformats.org/drawingml/2006/main">
            <a:srgbClr val="FFE4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62" name="Google Shape;262;p10">
            <a:extLst xmlns:a="http://schemas.openxmlformats.org/drawingml/2006/main">
              <a:ext uri="{FF2B5EF4-FFF2-40B4-BE49-F238E27FC236}">
                <a16:creationId xmlns:a16="http://schemas.microsoft.com/office/drawing/2014/main" id="{B44ED293-2DAF-4160-A27B-A0D8CE33CF87}"/>
              </a:ext>
            </a:extLst>
          </p:cNvPr>
          <p:cNvSpPr>
            <a:spLocks xmlns:a="http://schemas.openxmlformats.org/drawingml/2006/main" noGrp="1"/>
          </p:cNvSpPr>
          <p:nvPr/>
        </p:nvSpPr>
        <p:spPr>
          <a:xfrm xmlns:a="http://schemas.openxmlformats.org/drawingml/2006/main">
            <a:off x="8107680" y="2928045"/>
            <a:ext cx="3291840" cy="3413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467" b="1">
                <a:solidFill>
                  <a:schemeClr val="lt1"/>
                </a:solidFill>
                <a:latin typeface="Calibri"/>
                <a:ea typeface="Calibri"/>
                <a:cs typeface="Calibri"/>
              </a:rPr>
              <a:t>IMPACT</a:t>
            </a:r>
            <a:endParaRPr sz="1467">
              <a:solidFill>
                <a:schemeClr val="lt1"/>
              </a:solidFill>
              <a:latin typeface="Calibri"/>
              <a:ea typeface="Calibri"/>
              <a:cs typeface="Calibri"/>
            </a:endParaRPr>
          </a:p>
        </p:txBody>
      </p:sp>
      <p:sp>
        <p:nvSpPr>
          <p:cNvPr id="263" name="Google Shape;263;p10">
            <a:extLst xmlns:a="http://schemas.openxmlformats.org/drawingml/2006/main">
              <a:ext uri="{FF2B5EF4-FFF2-40B4-BE49-F238E27FC236}">
                <a16:creationId xmlns:a16="http://schemas.microsoft.com/office/drawing/2014/main" id="{7E590C63-0ECC-43BB-8C24-F2E13659A607}"/>
              </a:ext>
            </a:extLst>
          </p:cNvPr>
          <p:cNvSpPr>
            <a:spLocks xmlns:a="http://schemas.openxmlformats.org/drawingml/2006/main" noGrp="1"/>
          </p:cNvSpPr>
          <p:nvPr/>
        </p:nvSpPr>
        <p:spPr>
          <a:xfrm xmlns:a="http://schemas.openxmlformats.org/drawingml/2006/main">
            <a:off x="8107680" y="3706368"/>
            <a:ext cx="3291840" cy="1804416"/>
          </a:xfrm>
          <a:prstGeom xmlns:a="http://schemas.openxmlformats.org/drawingml/2006/main" prst="rect">
            <a:avLst/>
          </a:prstGeom>
          <a:solidFill xmlns:a="http://schemas.openxmlformats.org/drawingml/2006/main">
            <a:srgbClr val="2D2D2D"/>
          </a:solidFill>
          <a:ln xmlns:a="http://schemas.openxmlformats.org/drawingml/2006/main" w="15225" cap="flat" cmpd="sng">
            <a:solidFill>
              <a:srgbClr val="FFE600"/>
            </a:solidFill>
            <a:prstDash val="dash"/>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64" name="Google Shape;264;p10">
            <a:extLst xmlns:a="http://schemas.openxmlformats.org/drawingml/2006/main">
              <a:ext uri="{FF2B5EF4-FFF2-40B4-BE49-F238E27FC236}">
                <a16:creationId xmlns:a16="http://schemas.microsoft.com/office/drawing/2014/main" id="{A7EC2762-17AE-4332-A683-188DB8DBFD02}"/>
              </a:ext>
            </a:extLst>
          </p:cNvPr>
          <p:cNvSpPr>
            <a:spLocks xmlns:a="http://schemas.openxmlformats.org/drawingml/2006/main" noGrp="1"/>
          </p:cNvSpPr>
          <p:nvPr/>
        </p:nvSpPr>
        <p:spPr>
          <a:xfrm xmlns:a="http://schemas.openxmlformats.org/drawingml/2006/main">
            <a:off x="8278368" y="3828288"/>
            <a:ext cx="2950464" cy="15605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r>
              <a:rPr sz="1200" i="0">
                <a:solidFill>
                  <a:srgbClr val="FFFFFF"/>
                </a:solidFill>
                <a:latin typeface="Calibri"/>
                <a:ea typeface="Calibri"/>
                <a:cs typeface="Calibri"/>
              </a:rPr>
              <a:t>A late delivery can affect production, then medical support or operational readiness.</a:t>
            </a:r>
          </a:p>
          <a:p xmlns:a="http://schemas.openxmlformats.org/drawingml/2006/main">
            <a:r>
              <a:rPr sz="1200" i="0">
                <a:solidFill>
                  <a:srgbClr val="FFFFFF"/>
                </a:solidFill>
                <a:latin typeface="Calibri"/>
                <a:ea typeface="Calibri"/>
                <a:cs typeface="Calibri"/>
              </a:rPr>
              <a:t/>
            </a:r>
          </a:p>
          <a:p xmlns:a="http://schemas.openxmlformats.org/drawingml/2006/main">
            <a:r>
              <a:rPr sz="1200" i="0">
                <a:solidFill>
                  <a:srgbClr val="FFFFFF"/>
                </a:solidFill>
                <a:latin typeface="Calibri"/>
                <a:ea typeface="Calibri"/>
                <a:cs typeface="Calibri"/>
              </a:rPr>
              <a:t>Recovery choices compete for the same finite resources.</a:t>
            </a:r>
          </a:p>
        </p:txBody>
      </p:sp>
      <p:sp>
        <p:nvSpPr>
          <p:cNvPr id="265" name="Google Shape;265;p10">
            <a:extLst xmlns:a="http://schemas.openxmlformats.org/drawingml/2006/main">
              <a:ext uri="{FF2B5EF4-FFF2-40B4-BE49-F238E27FC236}">
                <a16:creationId xmlns:a16="http://schemas.microsoft.com/office/drawing/2014/main" id="{11D76448-AAFA-47B0-A58E-098D700AF5D9}"/>
              </a:ext>
            </a:extLst>
          </p:cNvPr>
          <p:cNvSpPr>
            <a:spLocks xmlns:a="http://schemas.openxmlformats.org/drawingml/2006/main" noGrp="1"/>
          </p:cNvSpPr>
          <p:nvPr/>
        </p:nvSpPr>
        <p:spPr>
          <a:xfrm xmlns:a="http://schemas.openxmlformats.org/drawingml/2006/main">
            <a:off x="426720" y="5754624"/>
            <a:ext cx="11338560" cy="438912"/>
          </a:xfrm>
          <a:prstGeom xmlns:a="http://schemas.openxmlformats.org/drawingml/2006/main" prst="rect">
            <a:avLst/>
          </a:prstGeom>
          <a:solidFill xmlns:a="http://schemas.openxmlformats.org/drawingml/2006/main">
            <a:srgbClr val="3A3A3A"/>
          </a:solidFill>
          <a:ln xmlns:a="http://schemas.openxmlformats.org/drawingml/2006/main" w="12700" cap="flat" cmpd="sng">
            <a:solidFill>
              <a:srgbClr val="3A3A3A"/>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lt1"/>
              </a:solidFill>
              <a:latin typeface="Calibri"/>
              <a:ea typeface="Calibri"/>
              <a:cs typeface="Calibri"/>
            </a:endParaRPr>
          </a:p>
        </p:txBody>
      </p:sp>
      <p:sp>
        <p:nvSpPr>
          <p:cNvPr id="266" name="Google Shape;266;p10">
            <a:extLst xmlns:a="http://schemas.openxmlformats.org/drawingml/2006/main">
              <a:ext uri="{FF2B5EF4-FFF2-40B4-BE49-F238E27FC236}">
                <a16:creationId xmlns:a16="http://schemas.microsoft.com/office/drawing/2014/main" id="{5A69D6A1-9B0D-436E-BB26-C5094EBAF71C}"/>
              </a:ext>
            </a:extLst>
          </p:cNvPr>
          <p:cNvSpPr>
            <a:spLocks xmlns:a="http://schemas.openxmlformats.org/drawingml/2006/main" noGrp="1"/>
          </p:cNvSpPr>
          <p:nvPr/>
        </p:nvSpPr>
        <p:spPr>
          <a:xfrm xmlns:a="http://schemas.openxmlformats.org/drawingml/2006/main">
            <a:off x="670560" y="5803392"/>
            <a:ext cx="10911840" cy="3413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i="1">
                <a:solidFill>
                  <a:schemeClr val="lt1"/>
                </a:solidFill>
                <a:latin typeface="Calibri"/>
                <a:ea typeface="Calibri"/>
                <a:cs typeface="Calibri"/>
              </a:rPr>
              <a:t>Demo question: which services need help first, and which recovery options remain feasible?</a:t>
            </a:r>
            <a:endParaRPr sz="1200">
              <a:solidFill>
                <a:schemeClr val="lt1"/>
              </a:solidFill>
              <a:latin typeface="Calibri"/>
              <a:ea typeface="Calibri"/>
              <a:cs typeface="Calibri"/>
            </a:endParaRPr>
          </a:p>
        </p:txBody>
      </p:sp>
    </p:spTree>
    <p:extLst>
      <p:ext uri="{BB962C8B-B14F-4D97-AF65-F5344CB8AC3E}">
        <p14:creationId xmlns:p14="http://schemas.microsoft.com/office/powerpoint/2010/main" val="94612786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72" name="Google Shape;272;p11">
            <a:extLst xmlns:a="http://schemas.openxmlformats.org/drawingml/2006/main">
              <a:ext uri="{FF2B5EF4-FFF2-40B4-BE49-F238E27FC236}">
                <a16:creationId xmlns:a16="http://schemas.microsoft.com/office/drawing/2014/main" id="{CBB87EB6-4C58-4CF1-9526-EF1C6E3C30CF}"/>
              </a:ext>
            </a:extLst>
          </p:cNvPr>
          <p:cNvSpPr>
            <a:spLocks xmlns:a="http://schemas.openxmlformats.org/drawingml/2006/main" noGrp="1"/>
          </p:cNvSpPr>
          <p:nvPr/>
        </p:nvSpPr>
        <p:spPr>
          <a:xfrm xmlns:a="http://schemas.openxmlformats.org/drawingml/2006/main">
            <a:off x="426720" y="268224"/>
            <a:ext cx="2194560" cy="365760"/>
          </a:xfrm>
          <a:prstGeom xmlns:a="http://schemas.openxmlformats.org/drawingml/2006/main" prst="roundRect">
            <a:avLst>
              <a:gd name="adj" fmla="val 50000"/>
            </a:avLst>
          </a:prstGeom>
          <a:solidFill xmlns:a="http://schemas.openxmlformats.org/drawingml/2006/main">
            <a:srgbClr val="FFD865"/>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73" name="Google Shape;273;p11">
            <a:extLst xmlns:a="http://schemas.openxmlformats.org/drawingml/2006/main">
              <a:ext uri="{FF2B5EF4-FFF2-40B4-BE49-F238E27FC236}">
                <a16:creationId xmlns:a16="http://schemas.microsoft.com/office/drawing/2014/main" id="{02CCA637-D153-4EE5-B8EB-1BADD5716C3A}"/>
              </a:ext>
            </a:extLst>
          </p:cNvPr>
          <p:cNvSpPr>
            <a:spLocks xmlns:a="http://schemas.openxmlformats.org/drawingml/2006/main" noGrp="1"/>
          </p:cNvSpPr>
          <p:nvPr/>
        </p:nvSpPr>
        <p:spPr>
          <a:xfrm xmlns:a="http://schemas.openxmlformats.org/drawingml/2006/main">
            <a:off x="426720" y="268224"/>
            <a:ext cx="21945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133" b="1">
                <a:solidFill>
                  <a:srgbClr val="1A1A1A"/>
                </a:solidFill>
                <a:latin typeface="Calibri"/>
                <a:ea typeface="Calibri"/>
                <a:cs typeface="Calibri"/>
              </a:rPr>
              <a:t>SLIDE 04  |  ~30 sec</a:t>
            </a:r>
            <a:endParaRPr sz="1133">
              <a:solidFill>
                <a:schemeClr val="dk1"/>
              </a:solidFill>
              <a:latin typeface="Calibri"/>
              <a:ea typeface="Calibri"/>
              <a:cs typeface="Calibri"/>
            </a:endParaRPr>
          </a:p>
        </p:txBody>
      </p:sp>
      <p:sp>
        <p:nvSpPr>
          <p:cNvPr id="274" name="Google Shape;274;p11">
            <a:extLst xmlns:a="http://schemas.openxmlformats.org/drawingml/2006/main">
              <a:ext uri="{FF2B5EF4-FFF2-40B4-BE49-F238E27FC236}">
                <a16:creationId xmlns:a16="http://schemas.microsoft.com/office/drawing/2014/main" id="{0D014DF7-D7AF-4E2C-8A3B-BA220EC3E535}"/>
              </a:ext>
            </a:extLst>
          </p:cNvPr>
          <p:cNvSpPr>
            <a:spLocks xmlns:a="http://schemas.openxmlformats.org/drawingml/2006/main" noGrp="1"/>
          </p:cNvSpPr>
          <p:nvPr/>
        </p:nvSpPr>
        <p:spPr>
          <a:xfrm xmlns:a="http://schemas.openxmlformats.org/drawingml/2006/main">
            <a:off x="487680" y="755904"/>
            <a:ext cx="10972800" cy="85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5333" b="1">
                <a:solidFill>
                  <a:schemeClr val="dk1"/>
                </a:solidFill>
                <a:latin typeface="Calibri"/>
                <a:ea typeface="Calibri"/>
                <a:cs typeface="Calibri"/>
              </a:rPr>
              <a:t>The Solution</a:t>
            </a:r>
            <a:endParaRPr sz="5333">
              <a:solidFill>
                <a:schemeClr val="dk1"/>
              </a:solidFill>
              <a:latin typeface="Calibri"/>
              <a:ea typeface="Calibri"/>
              <a:cs typeface="Calibri"/>
            </a:endParaRPr>
          </a:p>
        </p:txBody>
      </p:sp>
      <p:sp>
        <p:nvSpPr>
          <p:cNvPr id="275" name="Google Shape;275;p11">
            <a:extLst xmlns:a="http://schemas.openxmlformats.org/drawingml/2006/main">
              <a:ext uri="{FF2B5EF4-FFF2-40B4-BE49-F238E27FC236}">
                <a16:creationId xmlns:a16="http://schemas.microsoft.com/office/drawing/2014/main" id="{D2BED10B-5B23-4D4C-9BB7-AFA2C3744640}"/>
              </a:ext>
            </a:extLst>
          </p:cNvPr>
          <p:cNvSpPr>
            <a:spLocks xmlns:a="http://schemas.openxmlformats.org/drawingml/2006/main" noGrp="1"/>
          </p:cNvSpPr>
          <p:nvPr/>
        </p:nvSpPr>
        <p:spPr>
          <a:xfrm xmlns:a="http://schemas.openxmlformats.org/drawingml/2006/main">
            <a:off x="487680" y="1767840"/>
            <a:ext cx="11216640" cy="1072896"/>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76" name="Google Shape;276;p11">
            <a:extLst xmlns:a="http://schemas.openxmlformats.org/drawingml/2006/main">
              <a:ext uri="{FF2B5EF4-FFF2-40B4-BE49-F238E27FC236}">
                <a16:creationId xmlns:a16="http://schemas.microsoft.com/office/drawing/2014/main" id="{742F03AD-D6D8-45FF-B113-38E8F2B0B7F8}"/>
              </a:ext>
            </a:extLst>
          </p:cNvPr>
          <p:cNvSpPr>
            <a:spLocks xmlns:a="http://schemas.openxmlformats.org/drawingml/2006/main" noGrp="1"/>
          </p:cNvSpPr>
          <p:nvPr/>
        </p:nvSpPr>
        <p:spPr>
          <a:xfrm xmlns:a="http://schemas.openxmlformats.org/drawingml/2006/main">
            <a:off x="755904" y="1853184"/>
            <a:ext cx="2682240" cy="3169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1">
                <a:solidFill>
                  <a:schemeClr val="lt1"/>
                </a:solidFill>
                <a:latin typeface="Calibri"/>
                <a:ea typeface="Calibri"/>
                <a:cs typeface="Calibri"/>
              </a:rPr>
              <a:t>AI-ASSISTED RECOVERY</a:t>
            </a:r>
            <a:endParaRPr sz="1200">
              <a:solidFill>
                <a:schemeClr val="lt1"/>
              </a:solidFill>
              <a:latin typeface="Calibri"/>
              <a:ea typeface="Calibri"/>
              <a:cs typeface="Calibri"/>
            </a:endParaRPr>
          </a:p>
        </p:txBody>
      </p:sp>
      <p:sp>
        <p:nvSpPr>
          <p:cNvPr id="277" name="Google Shape;277;p11">
            <a:extLst xmlns:a="http://schemas.openxmlformats.org/drawingml/2006/main">
              <a:ext uri="{FF2B5EF4-FFF2-40B4-BE49-F238E27FC236}">
                <a16:creationId xmlns:a16="http://schemas.microsoft.com/office/drawing/2014/main" id="{F9DE751A-4AE5-4434-A252-2E4E4F587EB0}"/>
              </a:ext>
            </a:extLst>
          </p:cNvPr>
          <p:cNvSpPr>
            <a:spLocks xmlns:a="http://schemas.openxmlformats.org/drawingml/2006/main" noGrp="1"/>
          </p:cNvSpPr>
          <p:nvPr/>
        </p:nvSpPr>
        <p:spPr>
          <a:xfrm xmlns:a="http://schemas.openxmlformats.org/drawingml/2006/main">
            <a:off x="755904" y="2194560"/>
            <a:ext cx="10728960" cy="560832"/>
          </a:xfrm>
          <a:prstGeom xmlns:a="http://schemas.openxmlformats.org/drawingml/2006/main" prst="rect">
            <a:avLst/>
          </a:prstGeom>
          <a:solidFill xmlns:a="http://schemas.openxmlformats.org/drawingml/2006/main">
            <a:srgbClr val="2D2D2D"/>
          </a:solidFill>
          <a:ln xmlns:a="http://schemas.openxmlformats.org/drawingml/2006/main" w="15225" cap="flat" cmpd="sng">
            <a:solidFill>
              <a:srgbClr val="FFE600"/>
            </a:solidFill>
            <a:prstDash val="dash"/>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78" name="Google Shape;278;p11">
            <a:extLst xmlns:a="http://schemas.openxmlformats.org/drawingml/2006/main">
              <a:ext uri="{FF2B5EF4-FFF2-40B4-BE49-F238E27FC236}">
                <a16:creationId xmlns:a16="http://schemas.microsoft.com/office/drawing/2014/main" id="{565AE955-DCCF-43FF-B567-EA46A96D8302}"/>
              </a:ext>
            </a:extLst>
          </p:cNvPr>
          <p:cNvSpPr>
            <a:spLocks xmlns:a="http://schemas.openxmlformats.org/drawingml/2006/main" noGrp="1"/>
          </p:cNvSpPr>
          <p:nvPr/>
        </p:nvSpPr>
        <p:spPr>
          <a:xfrm xmlns:a="http://schemas.openxmlformats.org/drawingml/2006/main">
            <a:off x="926592" y="2316480"/>
            <a:ext cx="10387584" cy="3169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r>
              <a:rPr sz="1200" i="0">
                <a:solidFill>
                  <a:srgbClr val="FFFFFF"/>
                </a:solidFill>
                <a:latin typeface="Calibri"/>
                <a:ea typeface="Calibri"/>
                <a:cs typeface="Calibri"/>
              </a:rPr>
              <a:t>OpsMap shows how disruption spreads and is developing an agent to compare recovery plans.</a:t>
            </a:r>
          </a:p>
        </p:txBody>
      </p:sp>
      <p:sp>
        <p:nvSpPr>
          <p:cNvPr id="279" name="Google Shape;279;p11">
            <a:extLst xmlns:a="http://schemas.openxmlformats.org/drawingml/2006/main">
              <a:ext uri="{FF2B5EF4-FFF2-40B4-BE49-F238E27FC236}">
                <a16:creationId xmlns:a16="http://schemas.microsoft.com/office/drawing/2014/main" id="{308AB0AE-8D58-4391-8071-BC14C8751450}"/>
              </a:ext>
            </a:extLst>
          </p:cNvPr>
          <p:cNvSpPr>
            <a:spLocks xmlns:a="http://schemas.openxmlformats.org/drawingml/2006/main" noGrp="1"/>
          </p:cNvSpPr>
          <p:nvPr/>
        </p:nvSpPr>
        <p:spPr>
          <a:xfrm xmlns:a="http://schemas.openxmlformats.org/drawingml/2006/main">
            <a:off x="487680" y="2999232"/>
            <a:ext cx="10972800" cy="3413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333" b="1">
                <a:solidFill>
                  <a:schemeClr val="dk1"/>
                </a:solidFill>
                <a:latin typeface="Calibri"/>
                <a:ea typeface="Calibri"/>
                <a:cs typeface="Calibri"/>
              </a:rPr>
              <a:t>DEMO WORKFLOW AND PLANNED RECOVERY</a:t>
            </a:r>
            <a:endParaRPr sz="1333">
              <a:solidFill>
                <a:schemeClr val="dk1"/>
              </a:solidFill>
              <a:latin typeface="Calibri"/>
              <a:ea typeface="Calibri"/>
              <a:cs typeface="Calibri"/>
            </a:endParaRPr>
          </a:p>
        </p:txBody>
      </p:sp>
      <p:sp>
        <p:nvSpPr>
          <p:cNvPr id="280" name="Google Shape;280;p11">
            <a:extLst xmlns:a="http://schemas.openxmlformats.org/drawingml/2006/main">
              <a:ext uri="{FF2B5EF4-FFF2-40B4-BE49-F238E27FC236}">
                <a16:creationId xmlns:a16="http://schemas.microsoft.com/office/drawing/2014/main" id="{6C3228DA-5C51-49AA-88C9-B96D2D7FF85B}"/>
              </a:ext>
            </a:extLst>
          </p:cNvPr>
          <p:cNvSpPr>
            <a:spLocks xmlns:a="http://schemas.openxmlformats.org/drawingml/2006/main" noGrp="1"/>
          </p:cNvSpPr>
          <p:nvPr/>
        </p:nvSpPr>
        <p:spPr>
          <a:xfrm xmlns:a="http://schemas.openxmlformats.org/drawingml/2006/main">
            <a:off x="426720" y="3438144"/>
            <a:ext cx="3535680" cy="2657856"/>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81" name="Google Shape;281;p11">
            <a:extLst xmlns:a="http://schemas.openxmlformats.org/drawingml/2006/main">
              <a:ext uri="{FF2B5EF4-FFF2-40B4-BE49-F238E27FC236}">
                <a16:creationId xmlns:a16="http://schemas.microsoft.com/office/drawing/2014/main" id="{1C014F6D-784B-467C-8CB3-5993DB43D493}"/>
              </a:ext>
            </a:extLst>
          </p:cNvPr>
          <p:cNvSpPr>
            <a:spLocks xmlns:a="http://schemas.openxmlformats.org/drawingml/2006/main" noGrp="1"/>
          </p:cNvSpPr>
          <p:nvPr/>
        </p:nvSpPr>
        <p:spPr>
          <a:xfrm xmlns:a="http://schemas.openxmlformats.org/drawingml/2006/main">
            <a:off x="1743456" y="3511296"/>
            <a:ext cx="902208" cy="902208"/>
          </a:xfrm>
          <a:prstGeom xmlns:a="http://schemas.openxmlformats.org/drawingml/2006/main" prst="ellipse">
            <a:avLst/>
          </a:prstGeom>
          <a:solidFill xmlns:a="http://schemas.openxmlformats.org/drawingml/2006/main">
            <a:srgbClr val="FFE4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82" name="Google Shape;282;p11">
            <a:extLst xmlns:a="http://schemas.openxmlformats.org/drawingml/2006/main">
              <a:ext uri="{FF2B5EF4-FFF2-40B4-BE49-F238E27FC236}">
                <a16:creationId xmlns:a16="http://schemas.microsoft.com/office/drawing/2014/main" id="{4E3BF246-1B2A-4646-B83B-57FC2DE6807A}"/>
              </a:ext>
            </a:extLst>
          </p:cNvPr>
          <p:cNvSpPr>
            <a:spLocks xmlns:a="http://schemas.openxmlformats.org/drawingml/2006/main" noGrp="1"/>
          </p:cNvSpPr>
          <p:nvPr/>
        </p:nvSpPr>
        <p:spPr>
          <a:xfrm xmlns:a="http://schemas.openxmlformats.org/drawingml/2006/main">
            <a:off x="1743456" y="3511296"/>
            <a:ext cx="902208" cy="9022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3467" b="1">
                <a:solidFill>
                  <a:srgbClr val="1A1A1A"/>
                </a:solidFill>
                <a:latin typeface="Calibri"/>
                <a:ea typeface="Calibri"/>
                <a:cs typeface="Calibri"/>
              </a:rPr>
              <a:t>1</a:t>
            </a:r>
            <a:endParaRPr sz="3467">
              <a:solidFill>
                <a:schemeClr val="dk1"/>
              </a:solidFill>
              <a:latin typeface="Calibri"/>
              <a:ea typeface="Calibri"/>
              <a:cs typeface="Calibri"/>
            </a:endParaRPr>
          </a:p>
        </p:txBody>
      </p:sp>
      <p:sp>
        <p:nvSpPr>
          <p:cNvPr id="283" name="Google Shape;283;p11">
            <a:extLst xmlns:a="http://schemas.openxmlformats.org/drawingml/2006/main">
              <a:ext uri="{FF2B5EF4-FFF2-40B4-BE49-F238E27FC236}">
                <a16:creationId xmlns:a16="http://schemas.microsoft.com/office/drawing/2014/main" id="{7DD857F8-07A4-4891-8998-B7EE006F6B23}"/>
              </a:ext>
            </a:extLst>
          </p:cNvPr>
          <p:cNvSpPr>
            <a:spLocks xmlns:a="http://schemas.openxmlformats.org/drawingml/2006/main" noGrp="1"/>
          </p:cNvSpPr>
          <p:nvPr/>
        </p:nvSpPr>
        <p:spPr>
          <a:xfrm xmlns:a="http://schemas.openxmlformats.org/drawingml/2006/main">
            <a:off x="548640" y="4462272"/>
            <a:ext cx="329184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333" b="1">
                <a:solidFill>
                  <a:schemeClr val="lt1"/>
                </a:solidFill>
                <a:latin typeface="Calibri"/>
                <a:ea typeface="Calibri"/>
                <a:cs typeface="Calibri"/>
              </a:rPr>
              <a:t>CHOOSE AN EXERCISE</a:t>
            </a:r>
            <a:endParaRPr sz="1333">
              <a:solidFill>
                <a:schemeClr val="lt1"/>
              </a:solidFill>
              <a:latin typeface="Calibri"/>
              <a:ea typeface="Calibri"/>
              <a:cs typeface="Calibri"/>
            </a:endParaRPr>
          </a:p>
        </p:txBody>
      </p:sp>
      <p:sp>
        <p:nvSpPr>
          <p:cNvPr id="284" name="Google Shape;284;p11">
            <a:extLst xmlns:a="http://schemas.openxmlformats.org/drawingml/2006/main">
              <a:ext uri="{FF2B5EF4-FFF2-40B4-BE49-F238E27FC236}">
                <a16:creationId xmlns:a16="http://schemas.microsoft.com/office/drawing/2014/main" id="{494AD705-5922-494F-95BD-458A39DC6411}"/>
              </a:ext>
            </a:extLst>
          </p:cNvPr>
          <p:cNvSpPr>
            <a:spLocks xmlns:a="http://schemas.openxmlformats.org/drawingml/2006/main" noGrp="1"/>
          </p:cNvSpPr>
          <p:nvPr/>
        </p:nvSpPr>
        <p:spPr>
          <a:xfrm xmlns:a="http://schemas.openxmlformats.org/drawingml/2006/main">
            <a:off x="548640" y="4815840"/>
            <a:ext cx="3291840" cy="1194816"/>
          </a:xfrm>
          <a:prstGeom xmlns:a="http://schemas.openxmlformats.org/drawingml/2006/main" prst="rect">
            <a:avLst/>
          </a:prstGeom>
          <a:solidFill xmlns:a="http://schemas.openxmlformats.org/drawingml/2006/main">
            <a:srgbClr val="2D2D2D"/>
          </a:solidFill>
          <a:ln xmlns:a="http://schemas.openxmlformats.org/drawingml/2006/main" w="15225" cap="flat" cmpd="sng">
            <a:solidFill>
              <a:srgbClr val="FFE600"/>
            </a:solidFill>
            <a:prstDash val="dash"/>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85" name="Google Shape;285;p11">
            <a:extLst xmlns:a="http://schemas.openxmlformats.org/drawingml/2006/main">
              <a:ext uri="{FF2B5EF4-FFF2-40B4-BE49-F238E27FC236}">
                <a16:creationId xmlns:a16="http://schemas.microsoft.com/office/drawing/2014/main" id="{E06A369C-67F5-4809-919A-12887B1D3749}"/>
              </a:ext>
            </a:extLst>
          </p:cNvPr>
          <p:cNvSpPr>
            <a:spLocks xmlns:a="http://schemas.openxmlformats.org/drawingml/2006/main" noGrp="1"/>
          </p:cNvSpPr>
          <p:nvPr/>
        </p:nvSpPr>
        <p:spPr>
          <a:xfrm xmlns:a="http://schemas.openxmlformats.org/drawingml/2006/main">
            <a:off x="719328" y="4937760"/>
            <a:ext cx="2950464" cy="9509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r>
              <a:rPr sz="1200" i="0">
                <a:solidFill>
                  <a:srgbClr val="FFFFFF"/>
                </a:solidFill>
                <a:latin typeface="Calibri"/>
                <a:ea typeface="Calibri"/>
                <a:cs typeface="Calibri"/>
              </a:rPr>
              <a:t>Planned chat suggestions cover Dover closure, Kent blackout and London infrastructure loss.</a:t>
            </a:r>
          </a:p>
        </p:txBody>
      </p:sp>
      <p:sp>
        <p:nvSpPr>
          <p:cNvPr id="286" name="Google Shape;286;p11">
            <a:extLst xmlns:a="http://schemas.openxmlformats.org/drawingml/2006/main">
              <a:ext uri="{FF2B5EF4-FFF2-40B4-BE49-F238E27FC236}">
                <a16:creationId xmlns:a16="http://schemas.microsoft.com/office/drawing/2014/main" id="{2B4F2127-FAEB-4540-870D-BBAAC322BF0A}"/>
              </a:ext>
            </a:extLst>
          </p:cNvPr>
          <p:cNvSpPr>
            <a:spLocks xmlns:a="http://schemas.openxmlformats.org/drawingml/2006/main" noGrp="1"/>
          </p:cNvSpPr>
          <p:nvPr/>
        </p:nvSpPr>
        <p:spPr>
          <a:xfrm xmlns:a="http://schemas.openxmlformats.org/drawingml/2006/main">
            <a:off x="4206240" y="3438144"/>
            <a:ext cx="3535680" cy="2657856"/>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87" name="Google Shape;287;p11">
            <a:extLst xmlns:a="http://schemas.openxmlformats.org/drawingml/2006/main">
              <a:ext uri="{FF2B5EF4-FFF2-40B4-BE49-F238E27FC236}">
                <a16:creationId xmlns:a16="http://schemas.microsoft.com/office/drawing/2014/main" id="{4E76E13B-AD86-475B-8AC8-C5152BD0A0D4}"/>
              </a:ext>
            </a:extLst>
          </p:cNvPr>
          <p:cNvSpPr>
            <a:spLocks xmlns:a="http://schemas.openxmlformats.org/drawingml/2006/main" noGrp="1"/>
          </p:cNvSpPr>
          <p:nvPr/>
        </p:nvSpPr>
        <p:spPr>
          <a:xfrm xmlns:a="http://schemas.openxmlformats.org/drawingml/2006/main">
            <a:off x="5522976" y="3511296"/>
            <a:ext cx="902208" cy="902208"/>
          </a:xfrm>
          <a:prstGeom xmlns:a="http://schemas.openxmlformats.org/drawingml/2006/main" prst="ellipse">
            <a:avLst/>
          </a:prstGeom>
          <a:solidFill xmlns:a="http://schemas.openxmlformats.org/drawingml/2006/main">
            <a:srgbClr val="FFE4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88" name="Google Shape;288;p11">
            <a:extLst xmlns:a="http://schemas.openxmlformats.org/drawingml/2006/main">
              <a:ext uri="{FF2B5EF4-FFF2-40B4-BE49-F238E27FC236}">
                <a16:creationId xmlns:a16="http://schemas.microsoft.com/office/drawing/2014/main" id="{1C0D3558-1303-45D3-A985-18812E44FBB3}"/>
              </a:ext>
            </a:extLst>
          </p:cNvPr>
          <p:cNvSpPr>
            <a:spLocks xmlns:a="http://schemas.openxmlformats.org/drawingml/2006/main" noGrp="1"/>
          </p:cNvSpPr>
          <p:nvPr/>
        </p:nvSpPr>
        <p:spPr>
          <a:xfrm xmlns:a="http://schemas.openxmlformats.org/drawingml/2006/main">
            <a:off x="5522976" y="3511296"/>
            <a:ext cx="902208" cy="9022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3467" b="1">
                <a:solidFill>
                  <a:srgbClr val="1A1A1A"/>
                </a:solidFill>
                <a:latin typeface="Calibri"/>
                <a:ea typeface="Calibri"/>
                <a:cs typeface="Calibri"/>
              </a:rPr>
              <a:t>2</a:t>
            </a:r>
            <a:endParaRPr sz="3467">
              <a:solidFill>
                <a:schemeClr val="dk1"/>
              </a:solidFill>
              <a:latin typeface="Calibri"/>
              <a:ea typeface="Calibri"/>
              <a:cs typeface="Calibri"/>
            </a:endParaRPr>
          </a:p>
        </p:txBody>
      </p:sp>
      <p:sp>
        <p:nvSpPr>
          <p:cNvPr id="289" name="Google Shape;289;p11">
            <a:extLst xmlns:a="http://schemas.openxmlformats.org/drawingml/2006/main">
              <a:ext uri="{FF2B5EF4-FFF2-40B4-BE49-F238E27FC236}">
                <a16:creationId xmlns:a16="http://schemas.microsoft.com/office/drawing/2014/main" id="{8CFB3C33-7D87-4D63-860A-D877965170F1}"/>
              </a:ext>
            </a:extLst>
          </p:cNvPr>
          <p:cNvSpPr>
            <a:spLocks xmlns:a="http://schemas.openxmlformats.org/drawingml/2006/main" noGrp="1"/>
          </p:cNvSpPr>
          <p:nvPr/>
        </p:nvSpPr>
        <p:spPr>
          <a:xfrm xmlns:a="http://schemas.openxmlformats.org/drawingml/2006/main">
            <a:off x="4328160" y="4462272"/>
            <a:ext cx="329184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333" b="1">
                <a:solidFill>
                  <a:schemeClr val="lt1"/>
                </a:solidFill>
                <a:latin typeface="Calibri"/>
                <a:ea typeface="Calibri"/>
                <a:cs typeface="Calibri"/>
              </a:rPr>
              <a:t>TRACE THE IMPACT</a:t>
            </a:r>
            <a:endParaRPr sz="1333">
              <a:solidFill>
                <a:schemeClr val="lt1"/>
              </a:solidFill>
              <a:latin typeface="Calibri"/>
              <a:ea typeface="Calibri"/>
              <a:cs typeface="Calibri"/>
            </a:endParaRPr>
          </a:p>
        </p:txBody>
      </p:sp>
      <p:sp>
        <p:nvSpPr>
          <p:cNvPr id="290" name="Google Shape;290;p11">
            <a:extLst xmlns:a="http://schemas.openxmlformats.org/drawingml/2006/main">
              <a:ext uri="{FF2B5EF4-FFF2-40B4-BE49-F238E27FC236}">
                <a16:creationId xmlns:a16="http://schemas.microsoft.com/office/drawing/2014/main" id="{CBD30DDA-ACDA-4220-A1B1-8B459F8DFBA2}"/>
              </a:ext>
            </a:extLst>
          </p:cNvPr>
          <p:cNvSpPr>
            <a:spLocks xmlns:a="http://schemas.openxmlformats.org/drawingml/2006/main" noGrp="1"/>
          </p:cNvSpPr>
          <p:nvPr/>
        </p:nvSpPr>
        <p:spPr>
          <a:xfrm xmlns:a="http://schemas.openxmlformats.org/drawingml/2006/main">
            <a:off x="4328160" y="4815840"/>
            <a:ext cx="3291840" cy="1194816"/>
          </a:xfrm>
          <a:prstGeom xmlns:a="http://schemas.openxmlformats.org/drawingml/2006/main" prst="rect">
            <a:avLst/>
          </a:prstGeom>
          <a:solidFill xmlns:a="http://schemas.openxmlformats.org/drawingml/2006/main">
            <a:srgbClr val="2D2D2D"/>
          </a:solidFill>
          <a:ln xmlns:a="http://schemas.openxmlformats.org/drawingml/2006/main" w="15225" cap="flat" cmpd="sng">
            <a:solidFill>
              <a:srgbClr val="FFE600"/>
            </a:solidFill>
            <a:prstDash val="dash"/>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91" name="Google Shape;291;p11">
            <a:extLst xmlns:a="http://schemas.openxmlformats.org/drawingml/2006/main">
              <a:ext uri="{FF2B5EF4-FFF2-40B4-BE49-F238E27FC236}">
                <a16:creationId xmlns:a16="http://schemas.microsoft.com/office/drawing/2014/main" id="{58BB1F21-66D3-45BF-AC42-C102FCA0FFEF}"/>
              </a:ext>
            </a:extLst>
          </p:cNvPr>
          <p:cNvSpPr>
            <a:spLocks xmlns:a="http://schemas.openxmlformats.org/drawingml/2006/main" noGrp="1"/>
          </p:cNvSpPr>
          <p:nvPr/>
        </p:nvSpPr>
        <p:spPr>
          <a:xfrm xmlns:a="http://schemas.openxmlformats.org/drawingml/2006/main">
            <a:off x="4498848" y="4937760"/>
            <a:ext cx="2950464" cy="9509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r>
              <a:rPr sz="1200" i="0">
                <a:solidFill>
                  <a:srgbClr val="FFFFFF"/>
                </a:solidFill>
                <a:latin typeface="Calibri"/>
                <a:ea typeface="Calibri"/>
                <a:cs typeface="Calibri"/>
              </a:rPr>
              <a:t>Working today: display downstream exposure by cascade degree on the map.</a:t>
            </a:r>
          </a:p>
        </p:txBody>
      </p:sp>
      <p:sp>
        <p:nvSpPr>
          <p:cNvPr id="292" name="Google Shape;292;p11">
            <a:extLst xmlns:a="http://schemas.openxmlformats.org/drawingml/2006/main">
              <a:ext uri="{FF2B5EF4-FFF2-40B4-BE49-F238E27FC236}">
                <a16:creationId xmlns:a16="http://schemas.microsoft.com/office/drawing/2014/main" id="{BDA488CF-44BE-4AA3-B43E-BEB5EB62CBD0}"/>
              </a:ext>
            </a:extLst>
          </p:cNvPr>
          <p:cNvSpPr>
            <a:spLocks xmlns:a="http://schemas.openxmlformats.org/drawingml/2006/main" noGrp="1"/>
          </p:cNvSpPr>
          <p:nvPr/>
        </p:nvSpPr>
        <p:spPr>
          <a:xfrm xmlns:a="http://schemas.openxmlformats.org/drawingml/2006/main">
            <a:off x="7985760" y="3438144"/>
            <a:ext cx="3535680" cy="2657856"/>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93" name="Google Shape;293;p11">
            <a:extLst xmlns:a="http://schemas.openxmlformats.org/drawingml/2006/main">
              <a:ext uri="{FF2B5EF4-FFF2-40B4-BE49-F238E27FC236}">
                <a16:creationId xmlns:a16="http://schemas.microsoft.com/office/drawing/2014/main" id="{4704ED53-3CF6-4F95-9182-B367D9492B8A}"/>
              </a:ext>
            </a:extLst>
          </p:cNvPr>
          <p:cNvSpPr>
            <a:spLocks xmlns:a="http://schemas.openxmlformats.org/drawingml/2006/main" noGrp="1"/>
          </p:cNvSpPr>
          <p:nvPr/>
        </p:nvSpPr>
        <p:spPr>
          <a:xfrm xmlns:a="http://schemas.openxmlformats.org/drawingml/2006/main">
            <a:off x="9302496" y="3511296"/>
            <a:ext cx="902208" cy="902208"/>
          </a:xfrm>
          <a:prstGeom xmlns:a="http://schemas.openxmlformats.org/drawingml/2006/main" prst="ellipse">
            <a:avLst/>
          </a:prstGeom>
          <a:solidFill xmlns:a="http://schemas.openxmlformats.org/drawingml/2006/main">
            <a:srgbClr val="FFE4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94" name="Google Shape;294;p11">
            <a:extLst xmlns:a="http://schemas.openxmlformats.org/drawingml/2006/main">
              <a:ext uri="{FF2B5EF4-FFF2-40B4-BE49-F238E27FC236}">
                <a16:creationId xmlns:a16="http://schemas.microsoft.com/office/drawing/2014/main" id="{0E618C3E-D089-4FE6-8959-C4203E1B9976}"/>
              </a:ext>
            </a:extLst>
          </p:cNvPr>
          <p:cNvSpPr>
            <a:spLocks xmlns:a="http://schemas.openxmlformats.org/drawingml/2006/main" noGrp="1"/>
          </p:cNvSpPr>
          <p:nvPr/>
        </p:nvSpPr>
        <p:spPr>
          <a:xfrm xmlns:a="http://schemas.openxmlformats.org/drawingml/2006/main">
            <a:off x="9302496" y="3511296"/>
            <a:ext cx="902208" cy="9022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3467" b="1">
                <a:solidFill>
                  <a:srgbClr val="1A1A1A"/>
                </a:solidFill>
                <a:latin typeface="Calibri"/>
                <a:ea typeface="Calibri"/>
                <a:cs typeface="Calibri"/>
              </a:rPr>
              <a:t>3</a:t>
            </a:r>
            <a:endParaRPr sz="3467">
              <a:solidFill>
                <a:schemeClr val="dk1"/>
              </a:solidFill>
              <a:latin typeface="Calibri"/>
              <a:ea typeface="Calibri"/>
              <a:cs typeface="Calibri"/>
            </a:endParaRPr>
          </a:p>
        </p:txBody>
      </p:sp>
      <p:sp>
        <p:nvSpPr>
          <p:cNvPr id="295" name="Google Shape;295;p11">
            <a:extLst xmlns:a="http://schemas.openxmlformats.org/drawingml/2006/main">
              <a:ext uri="{FF2B5EF4-FFF2-40B4-BE49-F238E27FC236}">
                <a16:creationId xmlns:a16="http://schemas.microsoft.com/office/drawing/2014/main" id="{01AE83B0-0B9F-435F-B907-5CB4E3B9C6D4}"/>
              </a:ext>
            </a:extLst>
          </p:cNvPr>
          <p:cNvSpPr>
            <a:spLocks xmlns:a="http://schemas.openxmlformats.org/drawingml/2006/main" noGrp="1"/>
          </p:cNvSpPr>
          <p:nvPr/>
        </p:nvSpPr>
        <p:spPr>
          <a:xfrm xmlns:a="http://schemas.openxmlformats.org/drawingml/2006/main">
            <a:off x="8107680" y="4462272"/>
            <a:ext cx="329184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333" b="1">
                <a:solidFill>
                  <a:schemeClr val="lt1"/>
                </a:solidFill>
                <a:latin typeface="Calibri"/>
                <a:ea typeface="Calibri"/>
                <a:cs typeface="Calibri"/>
              </a:rPr>
              <a:t>COMPARE RECOVERY</a:t>
            </a:r>
            <a:endParaRPr sz="1333">
              <a:solidFill>
                <a:schemeClr val="lt1"/>
              </a:solidFill>
              <a:latin typeface="Calibri"/>
              <a:ea typeface="Calibri"/>
              <a:cs typeface="Calibri"/>
            </a:endParaRPr>
          </a:p>
        </p:txBody>
      </p:sp>
      <p:sp>
        <p:nvSpPr>
          <p:cNvPr id="296" name="Google Shape;296;p11">
            <a:extLst xmlns:a="http://schemas.openxmlformats.org/drawingml/2006/main">
              <a:ext uri="{FF2B5EF4-FFF2-40B4-BE49-F238E27FC236}">
                <a16:creationId xmlns:a16="http://schemas.microsoft.com/office/drawing/2014/main" id="{8C19083E-0F3C-484F-9D2A-A565E7507C51}"/>
              </a:ext>
            </a:extLst>
          </p:cNvPr>
          <p:cNvSpPr>
            <a:spLocks xmlns:a="http://schemas.openxmlformats.org/drawingml/2006/main" noGrp="1"/>
          </p:cNvSpPr>
          <p:nvPr/>
        </p:nvSpPr>
        <p:spPr>
          <a:xfrm xmlns:a="http://schemas.openxmlformats.org/drawingml/2006/main">
            <a:off x="8107680" y="4815840"/>
            <a:ext cx="3291840" cy="1194816"/>
          </a:xfrm>
          <a:prstGeom xmlns:a="http://schemas.openxmlformats.org/drawingml/2006/main" prst="rect">
            <a:avLst/>
          </a:prstGeom>
          <a:solidFill xmlns:a="http://schemas.openxmlformats.org/drawingml/2006/main">
            <a:srgbClr val="2D2D2D"/>
          </a:solidFill>
          <a:ln xmlns:a="http://schemas.openxmlformats.org/drawingml/2006/main" w="15225" cap="flat" cmpd="sng">
            <a:solidFill>
              <a:srgbClr val="FFE600"/>
            </a:solidFill>
            <a:prstDash val="dash"/>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297" name="Google Shape;297;p11">
            <a:extLst xmlns:a="http://schemas.openxmlformats.org/drawingml/2006/main">
              <a:ext uri="{FF2B5EF4-FFF2-40B4-BE49-F238E27FC236}">
                <a16:creationId xmlns:a16="http://schemas.microsoft.com/office/drawing/2014/main" id="{DF165CEF-6850-41BB-A4ED-08ABB6BBDFA2}"/>
              </a:ext>
            </a:extLst>
          </p:cNvPr>
          <p:cNvSpPr>
            <a:spLocks xmlns:a="http://schemas.openxmlformats.org/drawingml/2006/main" noGrp="1"/>
          </p:cNvSpPr>
          <p:nvPr/>
        </p:nvSpPr>
        <p:spPr>
          <a:xfrm xmlns:a="http://schemas.openxmlformats.org/drawingml/2006/main">
            <a:off x="8278368" y="4937760"/>
            <a:ext cx="2950464" cy="9509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r>
              <a:rPr sz="1200" i="0">
                <a:solidFill>
                  <a:srgbClr val="FFFFFF"/>
                </a:solidFill>
                <a:latin typeface="Calibri"/>
                <a:ea typeface="Calibri"/>
                <a:cs typeface="Calibri"/>
              </a:rPr>
              <a:t>In development: evaluate alternatives in isolated graph branches and show the recovery on the map.</a:t>
            </a:r>
          </a:p>
        </p:txBody>
      </p:sp>
    </p:spTree>
    <p:extLst>
      <p:ext uri="{BB962C8B-B14F-4D97-AF65-F5344CB8AC3E}">
        <p14:creationId xmlns:p14="http://schemas.microsoft.com/office/powerpoint/2010/main" val="86067162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03" name="Google Shape;303;p12">
            <a:extLst xmlns:a="http://schemas.openxmlformats.org/drawingml/2006/main">
              <a:ext uri="{FF2B5EF4-FFF2-40B4-BE49-F238E27FC236}">
                <a16:creationId xmlns:a16="http://schemas.microsoft.com/office/drawing/2014/main" id="{832F7AA8-CDCD-43C3-9CCC-E4399DFDD7CF}"/>
              </a:ext>
            </a:extLst>
          </p:cNvPr>
          <p:cNvSpPr>
            <a:spLocks xmlns:a="http://schemas.openxmlformats.org/drawingml/2006/main" noGrp="1"/>
          </p:cNvSpPr>
          <p:nvPr/>
        </p:nvSpPr>
        <p:spPr>
          <a:xfrm xmlns:a="http://schemas.openxmlformats.org/drawingml/2006/main">
            <a:off x="426720" y="268224"/>
            <a:ext cx="2194560" cy="365760"/>
          </a:xfrm>
          <a:prstGeom xmlns:a="http://schemas.openxmlformats.org/drawingml/2006/main" prst="roundRect">
            <a:avLst>
              <a:gd name="adj" fmla="val 50000"/>
            </a:avLst>
          </a:prstGeom>
          <a:solidFill xmlns:a="http://schemas.openxmlformats.org/drawingml/2006/main">
            <a:srgbClr val="BF9000"/>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04" name="Google Shape;304;p12">
            <a:extLst xmlns:a="http://schemas.openxmlformats.org/drawingml/2006/main">
              <a:ext uri="{FF2B5EF4-FFF2-40B4-BE49-F238E27FC236}">
                <a16:creationId xmlns:a16="http://schemas.microsoft.com/office/drawing/2014/main" id="{4B5BC0B9-C8CC-4A47-8F4F-8339217E0463}"/>
              </a:ext>
            </a:extLst>
          </p:cNvPr>
          <p:cNvSpPr>
            <a:spLocks xmlns:a="http://schemas.openxmlformats.org/drawingml/2006/main" noGrp="1"/>
          </p:cNvSpPr>
          <p:nvPr/>
        </p:nvSpPr>
        <p:spPr>
          <a:xfrm xmlns:a="http://schemas.openxmlformats.org/drawingml/2006/main">
            <a:off x="426720" y="268224"/>
            <a:ext cx="21945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133" b="1">
                <a:solidFill>
                  <a:srgbClr val="1A1A1A"/>
                </a:solidFill>
                <a:latin typeface="Calibri"/>
                <a:ea typeface="Calibri"/>
                <a:cs typeface="Calibri"/>
              </a:rPr>
              <a:t>SLIDE 05  |  ~25 sec</a:t>
            </a:r>
            <a:endParaRPr sz="1133">
              <a:solidFill>
                <a:schemeClr val="dk1"/>
              </a:solidFill>
              <a:latin typeface="Calibri"/>
              <a:ea typeface="Calibri"/>
              <a:cs typeface="Calibri"/>
            </a:endParaRPr>
          </a:p>
        </p:txBody>
      </p:sp>
      <p:sp>
        <p:nvSpPr>
          <p:cNvPr id="305" name="Google Shape;305;p12">
            <a:extLst xmlns:a="http://schemas.openxmlformats.org/drawingml/2006/main">
              <a:ext uri="{FF2B5EF4-FFF2-40B4-BE49-F238E27FC236}">
                <a16:creationId xmlns:a16="http://schemas.microsoft.com/office/drawing/2014/main" id="{4E4F1587-D479-4A84-8EB3-153D5EE55A51}"/>
              </a:ext>
            </a:extLst>
          </p:cNvPr>
          <p:cNvSpPr>
            <a:spLocks xmlns:a="http://schemas.openxmlformats.org/drawingml/2006/main" noGrp="1"/>
          </p:cNvSpPr>
          <p:nvPr/>
        </p:nvSpPr>
        <p:spPr>
          <a:xfrm xmlns:a="http://schemas.openxmlformats.org/drawingml/2006/main">
            <a:off x="487680" y="755904"/>
            <a:ext cx="10972800" cy="85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4800" b="1">
                <a:solidFill>
                  <a:schemeClr val="dk1"/>
                </a:solidFill>
                <a:latin typeface="Calibri"/>
                <a:ea typeface="Calibri"/>
                <a:cs typeface="Calibri"/>
              </a:rPr>
              <a:t>Our Technical Approach</a:t>
            </a:r>
            <a:endParaRPr sz="4800">
              <a:solidFill>
                <a:schemeClr val="dk1"/>
              </a:solidFill>
              <a:latin typeface="Calibri"/>
              <a:ea typeface="Calibri"/>
              <a:cs typeface="Calibri"/>
            </a:endParaRPr>
          </a:p>
        </p:txBody>
      </p:sp>
      <p:sp>
        <p:nvSpPr>
          <p:cNvPr id="306" name="Google Shape;306;p12">
            <a:extLst xmlns:a="http://schemas.openxmlformats.org/drawingml/2006/main">
              <a:ext uri="{FF2B5EF4-FFF2-40B4-BE49-F238E27FC236}">
                <a16:creationId xmlns:a16="http://schemas.microsoft.com/office/drawing/2014/main" id="{3856DCFA-7362-456B-870D-6122B4E9C5C5}"/>
              </a:ext>
            </a:extLst>
          </p:cNvPr>
          <p:cNvSpPr>
            <a:spLocks xmlns:a="http://schemas.openxmlformats.org/drawingml/2006/main" noGrp="1"/>
          </p:cNvSpPr>
          <p:nvPr/>
        </p:nvSpPr>
        <p:spPr>
          <a:xfrm xmlns:a="http://schemas.openxmlformats.org/drawingml/2006/main">
            <a:off x="487680" y="1560576"/>
            <a:ext cx="109728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733" i="1">
                <a:solidFill>
                  <a:srgbClr val="AAAAAA"/>
                </a:solidFill>
                <a:latin typeface="Calibri"/>
                <a:ea typeface="Calibri"/>
                <a:cs typeface="Calibri"/>
              </a:rPr>
              <a:t>Explicit dependencies make each scenario explainable</a:t>
            </a:r>
            <a:endParaRPr sz="1733">
              <a:solidFill>
                <a:schemeClr val="dk1"/>
              </a:solidFill>
              <a:latin typeface="Calibri"/>
              <a:ea typeface="Calibri"/>
              <a:cs typeface="Calibri"/>
            </a:endParaRPr>
          </a:p>
        </p:txBody>
      </p:sp>
      <p:sp>
        <p:nvSpPr>
          <p:cNvPr id="307" name="Google Shape;307;p12">
            <a:extLst xmlns:a="http://schemas.openxmlformats.org/drawingml/2006/main">
              <a:ext uri="{FF2B5EF4-FFF2-40B4-BE49-F238E27FC236}">
                <a16:creationId xmlns:a16="http://schemas.microsoft.com/office/drawing/2014/main" id="{523F678B-39DD-4C6B-9648-9B112BA4E265}"/>
              </a:ext>
            </a:extLst>
          </p:cNvPr>
          <p:cNvSpPr>
            <a:spLocks xmlns:a="http://schemas.openxmlformats.org/drawingml/2006/main" noGrp="1"/>
          </p:cNvSpPr>
          <p:nvPr/>
        </p:nvSpPr>
        <p:spPr>
          <a:xfrm xmlns:a="http://schemas.openxmlformats.org/drawingml/2006/main">
            <a:off x="487680" y="2023872"/>
            <a:ext cx="11216640" cy="780288"/>
          </a:xfrm>
          <a:prstGeom xmlns:a="http://schemas.openxmlformats.org/drawingml/2006/main" prst="rect">
            <a:avLst/>
          </a:prstGeom>
          <a:solidFill xmlns:a="http://schemas.openxmlformats.org/drawingml/2006/main">
            <a:srgbClr val="2D1A00"/>
          </a:solidFill>
          <a:ln xmlns:a="http://schemas.openxmlformats.org/drawingml/2006/main" w="12700" cap="flat" cmpd="sng">
            <a:solidFill>
              <a:srgbClr val="2D1A00"/>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08" name="Google Shape;308;p12">
            <a:extLst xmlns:a="http://schemas.openxmlformats.org/drawingml/2006/main">
              <a:ext uri="{FF2B5EF4-FFF2-40B4-BE49-F238E27FC236}">
                <a16:creationId xmlns:a16="http://schemas.microsoft.com/office/drawing/2014/main" id="{157233B8-CAD3-4659-9343-64B39C83F9F4}"/>
              </a:ext>
            </a:extLst>
          </p:cNvPr>
          <p:cNvSpPr>
            <a:spLocks xmlns:a="http://schemas.openxmlformats.org/drawingml/2006/main" noGrp="1"/>
          </p:cNvSpPr>
          <p:nvPr/>
        </p:nvSpPr>
        <p:spPr>
          <a:xfrm xmlns:a="http://schemas.openxmlformats.org/drawingml/2006/main">
            <a:off x="573024" y="2097024"/>
            <a:ext cx="10972800" cy="6339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r>
              <a:rPr sz="1267" i="0">
                <a:solidFill>
                  <a:srgbClr val="FFFFFF"/>
                </a:solidFill>
                <a:latin typeface="Calibri"/>
                <a:ea typeface="Calibri"/>
                <a:cs typeface="Calibri"/>
              </a:rPr>
              <a:t>The AI will select and explain recovery choices. Graph calculations will measure impact and check resource limits. This recovery workflow is in development.</a:t>
            </a:r>
          </a:p>
        </p:txBody>
      </p:sp>
      <p:sp>
        <p:nvSpPr>
          <p:cNvPr id="309" name="Google Shape;309;p12">
            <a:extLst xmlns:a="http://schemas.openxmlformats.org/drawingml/2006/main">
              <a:ext uri="{FF2B5EF4-FFF2-40B4-BE49-F238E27FC236}">
                <a16:creationId xmlns:a16="http://schemas.microsoft.com/office/drawing/2014/main" id="{0008C56E-DDF5-4B00-AFEA-AB7C6A73C069}"/>
              </a:ext>
            </a:extLst>
          </p:cNvPr>
          <p:cNvSpPr>
            <a:spLocks xmlns:a="http://schemas.openxmlformats.org/drawingml/2006/main" noGrp="1"/>
          </p:cNvSpPr>
          <p:nvPr/>
        </p:nvSpPr>
        <p:spPr>
          <a:xfrm xmlns:a="http://schemas.openxmlformats.org/drawingml/2006/main">
            <a:off x="426720" y="2974848"/>
            <a:ext cx="5462016" cy="1645920"/>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10" name="Google Shape;310;p12">
            <a:extLst xmlns:a="http://schemas.openxmlformats.org/drawingml/2006/main">
              <a:ext uri="{FF2B5EF4-FFF2-40B4-BE49-F238E27FC236}">
                <a16:creationId xmlns:a16="http://schemas.microsoft.com/office/drawing/2014/main" id="{19284AFC-B913-44B9-B540-AACECE4B5767}"/>
              </a:ext>
            </a:extLst>
          </p:cNvPr>
          <p:cNvSpPr>
            <a:spLocks xmlns:a="http://schemas.openxmlformats.org/drawingml/2006/main" noGrp="1"/>
          </p:cNvSpPr>
          <p:nvPr/>
        </p:nvSpPr>
        <p:spPr>
          <a:xfrm xmlns:a="http://schemas.openxmlformats.org/drawingml/2006/main">
            <a:off x="426720" y="2974848"/>
            <a:ext cx="5462016" cy="121920"/>
          </a:xfrm>
          <a:prstGeom xmlns:a="http://schemas.openxmlformats.org/drawingml/2006/main" prst="rect">
            <a:avLst/>
          </a:prstGeom>
          <a:solidFill xmlns:a="http://schemas.openxmlformats.org/drawingml/2006/main">
            <a:srgbClr val="7F6000"/>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11" name="Google Shape;311;p12">
            <a:extLst xmlns:a="http://schemas.openxmlformats.org/drawingml/2006/main">
              <a:ext uri="{FF2B5EF4-FFF2-40B4-BE49-F238E27FC236}">
                <a16:creationId xmlns:a16="http://schemas.microsoft.com/office/drawing/2014/main" id="{953831D5-B405-4DA8-AF89-E965544C2032}"/>
              </a:ext>
            </a:extLst>
          </p:cNvPr>
          <p:cNvSpPr>
            <a:spLocks xmlns:a="http://schemas.openxmlformats.org/drawingml/2006/main" noGrp="1"/>
          </p:cNvSpPr>
          <p:nvPr/>
        </p:nvSpPr>
        <p:spPr>
          <a:xfrm xmlns:a="http://schemas.openxmlformats.org/drawingml/2006/main">
            <a:off x="573024" y="3145536"/>
            <a:ext cx="14630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333" b="1">
                <a:solidFill>
                  <a:schemeClr val="lt1"/>
                </a:solidFill>
                <a:latin typeface="Calibri"/>
                <a:ea typeface="Calibri"/>
                <a:cs typeface="Calibri"/>
              </a:rPr>
              <a:t>GRAPH DATA</a:t>
            </a:r>
            <a:endParaRPr sz="1333">
              <a:solidFill>
                <a:schemeClr val="lt1"/>
              </a:solidFill>
              <a:latin typeface="Calibri"/>
              <a:ea typeface="Calibri"/>
              <a:cs typeface="Calibri"/>
            </a:endParaRPr>
          </a:p>
        </p:txBody>
      </p:sp>
      <p:sp>
        <p:nvSpPr>
          <p:cNvPr id="312" name="Google Shape;312;p12">
            <a:extLst xmlns:a="http://schemas.openxmlformats.org/drawingml/2006/main">
              <a:ext uri="{FF2B5EF4-FFF2-40B4-BE49-F238E27FC236}">
                <a16:creationId xmlns:a16="http://schemas.microsoft.com/office/drawing/2014/main" id="{889A1881-4426-43BC-845A-95DB16FDC162}"/>
              </a:ext>
            </a:extLst>
          </p:cNvPr>
          <p:cNvSpPr>
            <a:spLocks xmlns:a="http://schemas.openxmlformats.org/drawingml/2006/main" noGrp="1"/>
          </p:cNvSpPr>
          <p:nvPr/>
        </p:nvSpPr>
        <p:spPr>
          <a:xfrm xmlns:a="http://schemas.openxmlformats.org/drawingml/2006/main">
            <a:off x="573024" y="3486912"/>
            <a:ext cx="5120640" cy="1024128"/>
          </a:xfrm>
          <a:prstGeom xmlns:a="http://schemas.openxmlformats.org/drawingml/2006/main" prst="rect">
            <a:avLst/>
          </a:prstGeom>
          <a:solidFill xmlns:a="http://schemas.openxmlformats.org/drawingml/2006/main">
            <a:srgbClr val="2D2D2D"/>
          </a:solidFill>
          <a:ln xmlns:a="http://schemas.openxmlformats.org/drawingml/2006/main" w="15225" cap="flat" cmpd="sng">
            <a:solidFill>
              <a:srgbClr val="FFE600"/>
            </a:solidFill>
            <a:prstDash val="dash"/>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13" name="Google Shape;313;p12">
            <a:extLst xmlns:a="http://schemas.openxmlformats.org/drawingml/2006/main">
              <a:ext uri="{FF2B5EF4-FFF2-40B4-BE49-F238E27FC236}">
                <a16:creationId xmlns:a16="http://schemas.microsoft.com/office/drawing/2014/main" id="{A600E736-9FCA-4314-9B5F-8798CF9C1AB7}"/>
              </a:ext>
            </a:extLst>
          </p:cNvPr>
          <p:cNvSpPr>
            <a:spLocks xmlns:a="http://schemas.openxmlformats.org/drawingml/2006/main" noGrp="1"/>
          </p:cNvSpPr>
          <p:nvPr/>
        </p:nvSpPr>
        <p:spPr>
          <a:xfrm xmlns:a="http://schemas.openxmlformats.org/drawingml/2006/main">
            <a:off x="743712" y="3608832"/>
            <a:ext cx="4779264" cy="780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r>
              <a:rPr sz="1200" i="0">
                <a:solidFill>
                  <a:srgbClr val="FFFFFF"/>
                </a:solidFill>
                <a:latin typeface="Calibri"/>
                <a:ea typeface="Calibri"/>
                <a:cs typeface="Calibri"/>
              </a:rPr>
              <a:t>An isolated London-to-Paris graph links essential services to their providers. Recovery options reference real nodes within the synthetic dataset.</a:t>
            </a:r>
          </a:p>
        </p:txBody>
      </p:sp>
      <p:sp>
        <p:nvSpPr>
          <p:cNvPr id="314" name="Google Shape;314;p12">
            <a:extLst xmlns:a="http://schemas.openxmlformats.org/drawingml/2006/main">
              <a:ext uri="{FF2B5EF4-FFF2-40B4-BE49-F238E27FC236}">
                <a16:creationId xmlns:a16="http://schemas.microsoft.com/office/drawing/2014/main" id="{1EBB443E-53E6-44B5-B9F7-E96A49E303E9}"/>
              </a:ext>
            </a:extLst>
          </p:cNvPr>
          <p:cNvSpPr>
            <a:spLocks xmlns:a="http://schemas.openxmlformats.org/drawingml/2006/main" noGrp="1"/>
          </p:cNvSpPr>
          <p:nvPr/>
        </p:nvSpPr>
        <p:spPr>
          <a:xfrm xmlns:a="http://schemas.openxmlformats.org/drawingml/2006/main">
            <a:off x="6156960" y="2974848"/>
            <a:ext cx="5462016" cy="1645920"/>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15" name="Google Shape;315;p12">
            <a:extLst xmlns:a="http://schemas.openxmlformats.org/drawingml/2006/main">
              <a:ext uri="{FF2B5EF4-FFF2-40B4-BE49-F238E27FC236}">
                <a16:creationId xmlns:a16="http://schemas.microsoft.com/office/drawing/2014/main" id="{8E95E3B3-0BD5-43A9-943D-1E27CBFAA851}"/>
              </a:ext>
            </a:extLst>
          </p:cNvPr>
          <p:cNvSpPr>
            <a:spLocks xmlns:a="http://schemas.openxmlformats.org/drawingml/2006/main" noGrp="1"/>
          </p:cNvSpPr>
          <p:nvPr/>
        </p:nvSpPr>
        <p:spPr>
          <a:xfrm xmlns:a="http://schemas.openxmlformats.org/drawingml/2006/main">
            <a:off x="6156960" y="2974848"/>
            <a:ext cx="5462016" cy="121920"/>
          </a:xfrm>
          <a:prstGeom xmlns:a="http://schemas.openxmlformats.org/drawingml/2006/main" prst="rect">
            <a:avLst/>
          </a:prstGeom>
          <a:solidFill xmlns:a="http://schemas.openxmlformats.org/drawingml/2006/main">
            <a:srgbClr val="7F6000"/>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16" name="Google Shape;316;p12">
            <a:extLst xmlns:a="http://schemas.openxmlformats.org/drawingml/2006/main">
              <a:ext uri="{FF2B5EF4-FFF2-40B4-BE49-F238E27FC236}">
                <a16:creationId xmlns:a16="http://schemas.microsoft.com/office/drawing/2014/main" id="{8AFFE98F-B198-4C13-861B-9973067B1432}"/>
              </a:ext>
            </a:extLst>
          </p:cNvPr>
          <p:cNvSpPr>
            <a:spLocks xmlns:a="http://schemas.openxmlformats.org/drawingml/2006/main" noGrp="1"/>
          </p:cNvSpPr>
          <p:nvPr/>
        </p:nvSpPr>
        <p:spPr>
          <a:xfrm xmlns:a="http://schemas.openxmlformats.org/drawingml/2006/main">
            <a:off x="6303264" y="3145536"/>
            <a:ext cx="14630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333" b="1">
                <a:solidFill>
                  <a:schemeClr val="lt1"/>
                </a:solidFill>
                <a:latin typeface="Calibri"/>
                <a:ea typeface="Calibri"/>
                <a:cs typeface="Calibri"/>
              </a:rPr>
              <a:t>MAP VIEW</a:t>
            </a:r>
            <a:endParaRPr sz="1333">
              <a:solidFill>
                <a:schemeClr val="lt1"/>
              </a:solidFill>
              <a:latin typeface="Calibri"/>
              <a:ea typeface="Calibri"/>
              <a:cs typeface="Calibri"/>
            </a:endParaRPr>
          </a:p>
        </p:txBody>
      </p:sp>
      <p:sp>
        <p:nvSpPr>
          <p:cNvPr id="317" name="Google Shape;317;p12">
            <a:extLst xmlns:a="http://schemas.openxmlformats.org/drawingml/2006/main">
              <a:ext uri="{FF2B5EF4-FFF2-40B4-BE49-F238E27FC236}">
                <a16:creationId xmlns:a16="http://schemas.microsoft.com/office/drawing/2014/main" id="{09F37271-C287-4548-8172-C5352497DFFF}"/>
              </a:ext>
            </a:extLst>
          </p:cNvPr>
          <p:cNvSpPr>
            <a:spLocks xmlns:a="http://schemas.openxmlformats.org/drawingml/2006/main" noGrp="1"/>
          </p:cNvSpPr>
          <p:nvPr/>
        </p:nvSpPr>
        <p:spPr>
          <a:xfrm xmlns:a="http://schemas.openxmlformats.org/drawingml/2006/main">
            <a:off x="6303264" y="3486912"/>
            <a:ext cx="5120640" cy="1024128"/>
          </a:xfrm>
          <a:prstGeom xmlns:a="http://schemas.openxmlformats.org/drawingml/2006/main" prst="rect">
            <a:avLst/>
          </a:prstGeom>
          <a:solidFill xmlns:a="http://schemas.openxmlformats.org/drawingml/2006/main">
            <a:srgbClr val="2D2D2D"/>
          </a:solidFill>
          <a:ln xmlns:a="http://schemas.openxmlformats.org/drawingml/2006/main" w="15225" cap="flat" cmpd="sng">
            <a:solidFill>
              <a:srgbClr val="FFE600"/>
            </a:solidFill>
            <a:prstDash val="dash"/>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18" name="Google Shape;318;p12">
            <a:extLst xmlns:a="http://schemas.openxmlformats.org/drawingml/2006/main">
              <a:ext uri="{FF2B5EF4-FFF2-40B4-BE49-F238E27FC236}">
                <a16:creationId xmlns:a16="http://schemas.microsoft.com/office/drawing/2014/main" id="{0BA4059F-DE28-45BE-A6C3-6C980A390E4B}"/>
              </a:ext>
            </a:extLst>
          </p:cNvPr>
          <p:cNvSpPr>
            <a:spLocks xmlns:a="http://schemas.openxmlformats.org/drawingml/2006/main" noGrp="1"/>
          </p:cNvSpPr>
          <p:nvPr/>
        </p:nvSpPr>
        <p:spPr>
          <a:xfrm xmlns:a="http://schemas.openxmlformats.org/drawingml/2006/main">
            <a:off x="6473952" y="3608832"/>
            <a:ext cx="4779264" cy="780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r>
              <a:rPr sz="1200" i="0">
                <a:solidFill>
                  <a:srgbClr val="FFFFFF"/>
                </a:solidFill>
                <a:latin typeface="Calibri"/>
                <a:ea typeface="Calibri"/>
                <a:cs typeface="Calibri"/>
              </a:rPr>
              <a:t>The working impact view reveals successive cascade degrees. Operators can inspect the connected facilities behind the result.</a:t>
            </a:r>
          </a:p>
        </p:txBody>
      </p:sp>
      <p:sp>
        <p:nvSpPr>
          <p:cNvPr id="319" name="Google Shape;319;p12">
            <a:extLst xmlns:a="http://schemas.openxmlformats.org/drawingml/2006/main">
              <a:ext uri="{FF2B5EF4-FFF2-40B4-BE49-F238E27FC236}">
                <a16:creationId xmlns:a16="http://schemas.microsoft.com/office/drawing/2014/main" id="{25D2F0EB-D649-4EB3-9486-0112ADA076B7}"/>
              </a:ext>
            </a:extLst>
          </p:cNvPr>
          <p:cNvSpPr>
            <a:spLocks xmlns:a="http://schemas.openxmlformats.org/drawingml/2006/main" noGrp="1"/>
          </p:cNvSpPr>
          <p:nvPr/>
        </p:nvSpPr>
        <p:spPr>
          <a:xfrm xmlns:a="http://schemas.openxmlformats.org/drawingml/2006/main">
            <a:off x="426720" y="4754880"/>
            <a:ext cx="5462016" cy="1645920"/>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20" name="Google Shape;320;p12">
            <a:extLst xmlns:a="http://schemas.openxmlformats.org/drawingml/2006/main">
              <a:ext uri="{FF2B5EF4-FFF2-40B4-BE49-F238E27FC236}">
                <a16:creationId xmlns:a16="http://schemas.microsoft.com/office/drawing/2014/main" id="{F7E125AD-678D-4755-9346-A7C4126C3B53}"/>
              </a:ext>
            </a:extLst>
          </p:cNvPr>
          <p:cNvSpPr>
            <a:spLocks xmlns:a="http://schemas.openxmlformats.org/drawingml/2006/main" noGrp="1"/>
          </p:cNvSpPr>
          <p:nvPr/>
        </p:nvSpPr>
        <p:spPr>
          <a:xfrm xmlns:a="http://schemas.openxmlformats.org/drawingml/2006/main">
            <a:off x="426720" y="4754880"/>
            <a:ext cx="5462016" cy="121920"/>
          </a:xfrm>
          <a:prstGeom xmlns:a="http://schemas.openxmlformats.org/drawingml/2006/main" prst="rect">
            <a:avLst/>
          </a:prstGeom>
          <a:solidFill xmlns:a="http://schemas.openxmlformats.org/drawingml/2006/main">
            <a:srgbClr val="7F6000"/>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21" name="Google Shape;321;p12">
            <a:extLst xmlns:a="http://schemas.openxmlformats.org/drawingml/2006/main">
              <a:ext uri="{FF2B5EF4-FFF2-40B4-BE49-F238E27FC236}">
                <a16:creationId xmlns:a16="http://schemas.microsoft.com/office/drawing/2014/main" id="{C2F6A85D-23F3-468A-BD66-550EE91091D3}"/>
              </a:ext>
            </a:extLst>
          </p:cNvPr>
          <p:cNvSpPr>
            <a:spLocks xmlns:a="http://schemas.openxmlformats.org/drawingml/2006/main" noGrp="1"/>
          </p:cNvSpPr>
          <p:nvPr/>
        </p:nvSpPr>
        <p:spPr>
          <a:xfrm xmlns:a="http://schemas.openxmlformats.org/drawingml/2006/main">
            <a:off x="573024" y="4925568"/>
            <a:ext cx="14630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333" b="1">
                <a:solidFill>
                  <a:schemeClr val="lt1"/>
                </a:solidFill>
                <a:latin typeface="Calibri"/>
                <a:ea typeface="Calibri"/>
                <a:cs typeface="Calibri"/>
              </a:rPr>
              <a:t>USP 3</a:t>
            </a:r>
            <a:endParaRPr sz="1333">
              <a:solidFill>
                <a:schemeClr val="lt1"/>
              </a:solidFill>
              <a:latin typeface="Calibri"/>
              <a:ea typeface="Calibri"/>
              <a:cs typeface="Calibri"/>
            </a:endParaRPr>
          </a:p>
        </p:txBody>
      </p:sp>
      <p:sp>
        <p:nvSpPr>
          <p:cNvPr id="322" name="Google Shape;322;p12">
            <a:extLst xmlns:a="http://schemas.openxmlformats.org/drawingml/2006/main">
              <a:ext uri="{FF2B5EF4-FFF2-40B4-BE49-F238E27FC236}">
                <a16:creationId xmlns:a16="http://schemas.microsoft.com/office/drawing/2014/main" id="{112550A0-3F34-43CE-B5AC-934CB985D01B}"/>
              </a:ext>
            </a:extLst>
          </p:cNvPr>
          <p:cNvSpPr>
            <a:spLocks xmlns:a="http://schemas.openxmlformats.org/drawingml/2006/main" noGrp="1"/>
          </p:cNvSpPr>
          <p:nvPr/>
        </p:nvSpPr>
        <p:spPr>
          <a:xfrm xmlns:a="http://schemas.openxmlformats.org/drawingml/2006/main">
            <a:off x="573024" y="5266944"/>
            <a:ext cx="5120640" cy="1024128"/>
          </a:xfrm>
          <a:prstGeom xmlns:a="http://schemas.openxmlformats.org/drawingml/2006/main" prst="rect">
            <a:avLst/>
          </a:prstGeom>
          <a:solidFill xmlns:a="http://schemas.openxmlformats.org/drawingml/2006/main">
            <a:srgbClr val="2D2D2D"/>
          </a:solidFill>
          <a:ln xmlns:a="http://schemas.openxmlformats.org/drawingml/2006/main" w="15225" cap="flat" cmpd="sng">
            <a:solidFill>
              <a:srgbClr val="FFE600"/>
            </a:solidFill>
            <a:prstDash val="dash"/>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23" name="Google Shape;323;p12">
            <a:extLst xmlns:a="http://schemas.openxmlformats.org/drawingml/2006/main">
              <a:ext uri="{FF2B5EF4-FFF2-40B4-BE49-F238E27FC236}">
                <a16:creationId xmlns:a16="http://schemas.microsoft.com/office/drawing/2014/main" id="{70BAC71F-1A9D-4E1F-90EB-8156BAA10988}"/>
              </a:ext>
            </a:extLst>
          </p:cNvPr>
          <p:cNvSpPr>
            <a:spLocks xmlns:a="http://schemas.openxmlformats.org/drawingml/2006/main" noGrp="1"/>
          </p:cNvSpPr>
          <p:nvPr/>
        </p:nvSpPr>
        <p:spPr>
          <a:xfrm xmlns:a="http://schemas.openxmlformats.org/drawingml/2006/main">
            <a:off x="743712" y="5388864"/>
            <a:ext cx="4779264" cy="780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rPr sz="1200" i="1">
                <a:solidFill>
                  <a:srgbClr val="AAAAAA"/>
                </a:solidFill>
                <a:latin typeface="Calibri"/>
                <a:ea typeface="Calibri"/>
                <a:cs typeface="Calibri"/>
              </a:rPr>
              <a:t>What is your team's unique combination?</a:t>
            </a:r>
            <a:endParaRPr sz="1200">
              <a:solidFill>
                <a:schemeClr val="dk1"/>
              </a:solidFill>
              <a:latin typeface="Calibri"/>
              <a:ea typeface="Calibri"/>
              <a:cs typeface="Calibri"/>
            </a:endParaRPr>
          </a:p>
          <a:p xmlns:a="http://schemas.openxmlformats.org/drawingml/2006/main">
            <a:pPr marL="0" marR="0" lvl="0" indent="0" algn="l">
              <a:spcBef>
                <a:spcPts val="0"/>
              </a:spcBef>
              <a:spcAft>
                <a:spcPts val="0"/>
              </a:spcAft>
              <a:buNone/>
            </a:pPr>
            <a:r>
              <a:rPr sz="1200" i="1">
                <a:solidFill>
                  <a:srgbClr val="AAAAAA"/>
                </a:solidFill>
                <a:latin typeface="Calibri"/>
                <a:ea typeface="Calibri"/>
                <a:cs typeface="Calibri"/>
              </a:rPr>
              <a:t>Example: 'Ex-defence + NATO procurement expert + ex-prime contractor insider - this combination does not exist in any boutique.'</a:t>
            </a:r>
            <a:endParaRPr sz="1200">
              <a:solidFill>
                <a:schemeClr val="dk1"/>
              </a:solidFill>
              <a:latin typeface="Calibri"/>
              <a:ea typeface="Calibri"/>
              <a:cs typeface="Calibri"/>
            </a:endParaRPr>
          </a:p>
        </p:txBody>
      </p:sp>
      <p:sp>
        <p:nvSpPr>
          <p:cNvPr id="324" name="Google Shape;324;p12">
            <a:extLst xmlns:a="http://schemas.openxmlformats.org/drawingml/2006/main">
              <a:ext uri="{FF2B5EF4-FFF2-40B4-BE49-F238E27FC236}">
                <a16:creationId xmlns:a16="http://schemas.microsoft.com/office/drawing/2014/main" id="{3320EE77-4009-48AA-BBF5-D8500C71B3C3}"/>
              </a:ext>
            </a:extLst>
          </p:cNvPr>
          <p:cNvSpPr>
            <a:spLocks xmlns:a="http://schemas.openxmlformats.org/drawingml/2006/main" noGrp="1"/>
          </p:cNvSpPr>
          <p:nvPr/>
        </p:nvSpPr>
        <p:spPr>
          <a:xfrm xmlns:a="http://schemas.openxmlformats.org/drawingml/2006/main">
            <a:off x="6156960" y="4754880"/>
            <a:ext cx="5462016" cy="1645920"/>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25" name="Google Shape;325;p12">
            <a:extLst xmlns:a="http://schemas.openxmlformats.org/drawingml/2006/main">
              <a:ext uri="{FF2B5EF4-FFF2-40B4-BE49-F238E27FC236}">
                <a16:creationId xmlns:a16="http://schemas.microsoft.com/office/drawing/2014/main" id="{B1CCCBFA-4ABE-45CB-B745-E3E675A2A03E}"/>
              </a:ext>
            </a:extLst>
          </p:cNvPr>
          <p:cNvSpPr>
            <a:spLocks xmlns:a="http://schemas.openxmlformats.org/drawingml/2006/main" noGrp="1"/>
          </p:cNvSpPr>
          <p:nvPr/>
        </p:nvSpPr>
        <p:spPr>
          <a:xfrm xmlns:a="http://schemas.openxmlformats.org/drawingml/2006/main">
            <a:off x="6156960" y="4754880"/>
            <a:ext cx="5462016" cy="121920"/>
          </a:xfrm>
          <a:prstGeom xmlns:a="http://schemas.openxmlformats.org/drawingml/2006/main" prst="rect">
            <a:avLst/>
          </a:prstGeom>
          <a:solidFill xmlns:a="http://schemas.openxmlformats.org/drawingml/2006/main">
            <a:srgbClr val="7F6000"/>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26" name="Google Shape;326;p12">
            <a:extLst xmlns:a="http://schemas.openxmlformats.org/drawingml/2006/main">
              <a:ext uri="{FF2B5EF4-FFF2-40B4-BE49-F238E27FC236}">
                <a16:creationId xmlns:a16="http://schemas.microsoft.com/office/drawing/2014/main" id="{3EF7702F-BDF8-48C8-91DD-DC768C58C969}"/>
              </a:ext>
            </a:extLst>
          </p:cNvPr>
          <p:cNvSpPr>
            <a:spLocks xmlns:a="http://schemas.openxmlformats.org/drawingml/2006/main" noGrp="1"/>
          </p:cNvSpPr>
          <p:nvPr/>
        </p:nvSpPr>
        <p:spPr>
          <a:xfrm xmlns:a="http://schemas.openxmlformats.org/drawingml/2006/main">
            <a:off x="6303264" y="4925568"/>
            <a:ext cx="14630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333" b="1">
                <a:solidFill>
                  <a:schemeClr val="lt1"/>
                </a:solidFill>
                <a:latin typeface="Calibri"/>
                <a:ea typeface="Calibri"/>
                <a:cs typeface="Calibri"/>
              </a:rPr>
              <a:t>RECOVERY</a:t>
            </a:r>
            <a:endParaRPr sz="1333">
              <a:solidFill>
                <a:schemeClr val="lt1"/>
              </a:solidFill>
              <a:latin typeface="Calibri"/>
              <a:ea typeface="Calibri"/>
              <a:cs typeface="Calibri"/>
            </a:endParaRPr>
          </a:p>
        </p:txBody>
      </p:sp>
      <p:sp>
        <p:nvSpPr>
          <p:cNvPr id="327" name="Google Shape;327;p12">
            <a:extLst xmlns:a="http://schemas.openxmlformats.org/drawingml/2006/main">
              <a:ext uri="{FF2B5EF4-FFF2-40B4-BE49-F238E27FC236}">
                <a16:creationId xmlns:a16="http://schemas.microsoft.com/office/drawing/2014/main" id="{7C8CA623-C77B-4FFC-8471-2358151152CE}"/>
              </a:ext>
            </a:extLst>
          </p:cNvPr>
          <p:cNvSpPr>
            <a:spLocks xmlns:a="http://schemas.openxmlformats.org/drawingml/2006/main" noGrp="1"/>
          </p:cNvSpPr>
          <p:nvPr/>
        </p:nvSpPr>
        <p:spPr>
          <a:xfrm xmlns:a="http://schemas.openxmlformats.org/drawingml/2006/main">
            <a:off x="6303264" y="5266944"/>
            <a:ext cx="5120640" cy="1024128"/>
          </a:xfrm>
          <a:prstGeom xmlns:a="http://schemas.openxmlformats.org/drawingml/2006/main" prst="rect">
            <a:avLst/>
          </a:prstGeom>
          <a:solidFill xmlns:a="http://schemas.openxmlformats.org/drawingml/2006/main">
            <a:srgbClr val="2D2D2D"/>
          </a:solidFill>
          <a:ln xmlns:a="http://schemas.openxmlformats.org/drawingml/2006/main" w="15225" cap="flat" cmpd="sng">
            <a:solidFill>
              <a:srgbClr val="FFE600"/>
            </a:solidFill>
            <a:prstDash val="dash"/>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28" name="Google Shape;328;p12">
            <a:extLst xmlns:a="http://schemas.openxmlformats.org/drawingml/2006/main">
              <a:ext uri="{FF2B5EF4-FFF2-40B4-BE49-F238E27FC236}">
                <a16:creationId xmlns:a16="http://schemas.microsoft.com/office/drawing/2014/main" id="{35115BAD-DBDF-488F-8553-599AFDEC9EE3}"/>
              </a:ext>
            </a:extLst>
          </p:cNvPr>
          <p:cNvSpPr>
            <a:spLocks xmlns:a="http://schemas.openxmlformats.org/drawingml/2006/main" noGrp="1"/>
          </p:cNvSpPr>
          <p:nvPr/>
        </p:nvSpPr>
        <p:spPr>
          <a:xfrm xmlns:a="http://schemas.openxmlformats.org/drawingml/2006/main">
            <a:off x="6473952" y="5388864"/>
            <a:ext cx="4779264" cy="780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r>
              <a:rPr sz="1200" i="0">
                <a:solidFill>
                  <a:srgbClr val="FFFFFF"/>
                </a:solidFill>
                <a:latin typeface="Calibri"/>
                <a:ea typeface="Calibri"/>
                <a:cs typeface="Calibri"/>
              </a:rPr>
              <a:t>Planned comparisons account for shared route capacity, stock and recovery time. Synthetic assumptions still need operator validation.</a:t>
            </a:r>
          </a:p>
        </p:txBody>
      </p:sp>
    </p:spTree>
    <p:extLst>
      <p:ext uri="{BB962C8B-B14F-4D97-AF65-F5344CB8AC3E}">
        <p14:creationId xmlns:p14="http://schemas.microsoft.com/office/powerpoint/2010/main" val="120999667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34" name="Google Shape;334;p13">
            <a:extLst xmlns:a="http://schemas.openxmlformats.org/drawingml/2006/main">
              <a:ext uri="{FF2B5EF4-FFF2-40B4-BE49-F238E27FC236}">
                <a16:creationId xmlns:a16="http://schemas.microsoft.com/office/drawing/2014/main" id="{AF5601DC-80F0-4013-B81F-98183530CFD5}"/>
              </a:ext>
            </a:extLst>
          </p:cNvPr>
          <p:cNvSpPr>
            <a:spLocks xmlns:a="http://schemas.openxmlformats.org/drawingml/2006/main" noGrp="1"/>
          </p:cNvSpPr>
          <p:nvPr/>
        </p:nvSpPr>
        <p:spPr>
          <a:xfrm xmlns:a="http://schemas.openxmlformats.org/drawingml/2006/main">
            <a:off x="487680" y="755904"/>
            <a:ext cx="10972800" cy="85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5333" b="1">
                <a:solidFill>
                  <a:schemeClr val="dk1"/>
                </a:solidFill>
                <a:latin typeface="Calibri"/>
                <a:ea typeface="Calibri"/>
                <a:cs typeface="Calibri"/>
              </a:rPr>
              <a:t>Prototype Evidence</a:t>
            </a:r>
            <a:endParaRPr sz="5333">
              <a:solidFill>
                <a:schemeClr val="dk1"/>
              </a:solidFill>
              <a:latin typeface="Calibri"/>
              <a:ea typeface="Calibri"/>
              <a:cs typeface="Calibri"/>
            </a:endParaRPr>
          </a:p>
        </p:txBody>
      </p:sp>
      <p:sp>
        <p:nvSpPr>
          <p:cNvPr id="335" name="Google Shape;335;p13">
            <a:extLst xmlns:a="http://schemas.openxmlformats.org/drawingml/2006/main">
              <a:ext uri="{FF2B5EF4-FFF2-40B4-BE49-F238E27FC236}">
                <a16:creationId xmlns:a16="http://schemas.microsoft.com/office/drawing/2014/main" id="{D96F2221-3A2E-4BC3-BA5E-979B28A9489B}"/>
              </a:ext>
            </a:extLst>
          </p:cNvPr>
          <p:cNvSpPr>
            <a:spLocks xmlns:a="http://schemas.openxmlformats.org/drawingml/2006/main" noGrp="1"/>
          </p:cNvSpPr>
          <p:nvPr/>
        </p:nvSpPr>
        <p:spPr>
          <a:xfrm xmlns:a="http://schemas.openxmlformats.org/drawingml/2006/main">
            <a:off x="487680" y="1560576"/>
            <a:ext cx="1097280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733" i="1">
                <a:solidFill>
                  <a:srgbClr val="AAAAAA"/>
                </a:solidFill>
                <a:latin typeface="Calibri"/>
                <a:ea typeface="Calibri"/>
                <a:cs typeface="Calibri"/>
              </a:rPr>
              <a:t>Measured dataset coverage and a working impact demonstration</a:t>
            </a:r>
            <a:endParaRPr sz="1733">
              <a:solidFill>
                <a:schemeClr val="dk1"/>
              </a:solidFill>
              <a:latin typeface="Calibri"/>
              <a:ea typeface="Calibri"/>
              <a:cs typeface="Calibri"/>
            </a:endParaRPr>
          </a:p>
        </p:txBody>
      </p:sp>
      <p:sp>
        <p:nvSpPr>
          <p:cNvPr id="336" name="Google Shape;336;p13">
            <a:extLst xmlns:a="http://schemas.openxmlformats.org/drawingml/2006/main">
              <a:ext uri="{FF2B5EF4-FFF2-40B4-BE49-F238E27FC236}">
                <a16:creationId xmlns:a16="http://schemas.microsoft.com/office/drawing/2014/main" id="{A6C82FEF-1219-4337-86B3-9203233FEA9A}"/>
              </a:ext>
            </a:extLst>
          </p:cNvPr>
          <p:cNvSpPr>
            <a:spLocks xmlns:a="http://schemas.openxmlformats.org/drawingml/2006/main" noGrp="1"/>
          </p:cNvSpPr>
          <p:nvPr/>
        </p:nvSpPr>
        <p:spPr>
          <a:xfrm xmlns:a="http://schemas.openxmlformats.org/drawingml/2006/main">
            <a:off x="426720" y="2028199"/>
            <a:ext cx="3535680" cy="2276243"/>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37" name="Google Shape;337;p13">
            <a:extLst xmlns:a="http://schemas.openxmlformats.org/drawingml/2006/main">
              <a:ext uri="{FF2B5EF4-FFF2-40B4-BE49-F238E27FC236}">
                <a16:creationId xmlns:a16="http://schemas.microsoft.com/office/drawing/2014/main" id="{C3786687-28F6-476B-B70B-015B14470779}"/>
              </a:ext>
            </a:extLst>
          </p:cNvPr>
          <p:cNvSpPr>
            <a:spLocks xmlns:a="http://schemas.openxmlformats.org/drawingml/2006/main" noGrp="1"/>
          </p:cNvSpPr>
          <p:nvPr/>
        </p:nvSpPr>
        <p:spPr>
          <a:xfrm xmlns:a="http://schemas.openxmlformats.org/drawingml/2006/main">
            <a:off x="426720" y="2028200"/>
            <a:ext cx="3535680" cy="121920"/>
          </a:xfrm>
          <a:prstGeom xmlns:a="http://schemas.openxmlformats.org/drawingml/2006/main" prst="rect">
            <a:avLst/>
          </a:prstGeom>
          <a:solidFill xmlns:a="http://schemas.openxmlformats.org/drawingml/2006/main">
            <a:srgbClr val="7F6000"/>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38" name="Google Shape;338;p13">
            <a:extLst xmlns:a="http://schemas.openxmlformats.org/drawingml/2006/main">
              <a:ext uri="{FF2B5EF4-FFF2-40B4-BE49-F238E27FC236}">
                <a16:creationId xmlns:a16="http://schemas.microsoft.com/office/drawing/2014/main" id="{FDAA5E40-9CBC-42B8-A243-DC9C4E3666B5}"/>
              </a:ext>
            </a:extLst>
          </p:cNvPr>
          <p:cNvSpPr>
            <a:spLocks xmlns:a="http://schemas.openxmlformats.org/drawingml/2006/main" noGrp="1"/>
          </p:cNvSpPr>
          <p:nvPr/>
        </p:nvSpPr>
        <p:spPr>
          <a:xfrm xmlns:a="http://schemas.openxmlformats.org/drawingml/2006/main">
            <a:off x="548640" y="2871024"/>
            <a:ext cx="32918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267" b="1">
                <a:solidFill>
                  <a:schemeClr val="lt1"/>
                </a:solidFill>
                <a:latin typeface="Calibri"/>
                <a:ea typeface="Calibri"/>
                <a:cs typeface="Calibri"/>
              </a:rPr>
              <a:t>GRAPH NODES</a:t>
            </a:r>
            <a:endParaRPr sz="1267">
              <a:solidFill>
                <a:schemeClr val="lt1"/>
              </a:solidFill>
              <a:latin typeface="Calibri"/>
              <a:ea typeface="Calibri"/>
              <a:cs typeface="Calibri"/>
            </a:endParaRPr>
          </a:p>
        </p:txBody>
      </p:sp>
      <p:sp>
        <p:nvSpPr>
          <p:cNvPr id="339" name="Google Shape;339;p13">
            <a:extLst xmlns:a="http://schemas.openxmlformats.org/drawingml/2006/main">
              <a:ext uri="{FF2B5EF4-FFF2-40B4-BE49-F238E27FC236}">
                <a16:creationId xmlns:a16="http://schemas.microsoft.com/office/drawing/2014/main" id="{8BC5AF4C-564D-4157-A1D8-EEB10AE6A483}"/>
              </a:ext>
            </a:extLst>
          </p:cNvPr>
          <p:cNvSpPr>
            <a:spLocks xmlns:a="http://schemas.openxmlformats.org/drawingml/2006/main" noGrp="1"/>
          </p:cNvSpPr>
          <p:nvPr/>
        </p:nvSpPr>
        <p:spPr>
          <a:xfrm xmlns:a="http://schemas.openxmlformats.org/drawingml/2006/main">
            <a:off x="548640" y="3196276"/>
            <a:ext cx="3291840" cy="1072689"/>
          </a:xfrm>
          <a:prstGeom xmlns:a="http://schemas.openxmlformats.org/drawingml/2006/main" prst="rect">
            <a:avLst/>
          </a:prstGeom>
          <a:solidFill xmlns:a="http://schemas.openxmlformats.org/drawingml/2006/main">
            <a:srgbClr val="2D2D2D"/>
          </a:solidFill>
          <a:ln xmlns:a="http://schemas.openxmlformats.org/drawingml/2006/main" w="15225" cap="flat" cmpd="sng">
            <a:solidFill>
              <a:srgbClr val="FFE600"/>
            </a:solidFill>
            <a:prstDash val="dash"/>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40" name="Google Shape;340;p13">
            <a:extLst xmlns:a="http://schemas.openxmlformats.org/drawingml/2006/main">
              <a:ext uri="{FF2B5EF4-FFF2-40B4-BE49-F238E27FC236}">
                <a16:creationId xmlns:a16="http://schemas.microsoft.com/office/drawing/2014/main" id="{2D41B5E1-BFDB-44DD-B40D-DE510E3CE74E}"/>
              </a:ext>
            </a:extLst>
          </p:cNvPr>
          <p:cNvSpPr>
            <a:spLocks xmlns:a="http://schemas.openxmlformats.org/drawingml/2006/main" noGrp="1"/>
          </p:cNvSpPr>
          <p:nvPr/>
        </p:nvSpPr>
        <p:spPr>
          <a:xfrm xmlns:a="http://schemas.openxmlformats.org/drawingml/2006/main">
            <a:off x="719328" y="3267075"/>
            <a:ext cx="2950464" cy="4667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defPPr>
              <a:defRPr sz="2700" b="1" i="0">
                <a:solidFill>
                  <a:srgbClr val="FFFFFF"/>
                </a:solidFill>
              </a:defRPr>
            </a:defPPr>
          </a:lstStyle>
          <a:p xmlns:a="http://schemas.openxmlformats.org/drawingml/2006/main">
            <a:pPr marL="0" marR="0" lvl="0" indent="0" algn="l">
              <a:spcBef>
                <a:spcPts val="0"/>
              </a:spcBef>
              <a:spcAft>
                <a:spcPts val="0"/>
              </a:spcAft>
              <a:buNone/>
              <a:defRPr sz="2700" b="1" i="0">
                <a:solidFill>
                  <a:srgbClr val="FFFFFF"/>
                </a:solidFill>
              </a:defRPr>
            </a:pPr>
            <a:r>
              <a:rPr sz="2700" b="1" i="0">
                <a:solidFill>
                  <a:srgbClr val="FFFFFF"/>
                </a:solidFill>
                <a:latin typeface="Calibri"/>
                <a:ea typeface="Calibri"/>
                <a:cs typeface="Calibri"/>
              </a:rPr>
              <a:t>6,095</a:t>
            </a:r>
            <a:endParaRPr sz="1200">
              <a:solidFill>
                <a:schemeClr val="dk1"/>
              </a:solidFill>
              <a:latin typeface="Calibri"/>
              <a:ea typeface="Calibri"/>
              <a:cs typeface="Calibri"/>
            </a:endParaRPr>
          </a:p>
        </p:txBody>
      </p:sp>
      <p:sp>
        <p:nvSpPr>
          <p:cNvPr id="341" name="Google Shape;341;p13">
            <a:extLst xmlns:a="http://schemas.openxmlformats.org/drawingml/2006/main">
              <a:ext uri="{FF2B5EF4-FFF2-40B4-BE49-F238E27FC236}">
                <a16:creationId xmlns:a16="http://schemas.microsoft.com/office/drawing/2014/main" id="{225B70E0-FACD-4475-B74D-4B612A9CFF85}"/>
              </a:ext>
            </a:extLst>
          </p:cNvPr>
          <p:cNvSpPr>
            <a:spLocks xmlns:a="http://schemas.openxmlformats.org/drawingml/2006/main" noGrp="1"/>
          </p:cNvSpPr>
          <p:nvPr/>
        </p:nvSpPr>
        <p:spPr>
          <a:xfrm xmlns:a="http://schemas.openxmlformats.org/drawingml/2006/main">
            <a:off x="719328" y="3790950"/>
            <a:ext cx="3145536"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r>
              <a:rPr sz="1133" i="0">
                <a:solidFill>
                  <a:srgbClr val="FFFFFF"/>
                </a:solidFill>
                <a:latin typeface="Calibri"/>
                <a:ea typeface="Calibri"/>
                <a:cs typeface="Calibri"/>
              </a:rPr>
              <a:t>Synthetic entities across</a:t>
            </a:r>
          </a:p>
          <a:p xmlns:a="http://schemas.openxmlformats.org/drawingml/2006/main">
            <a:r>
              <a:rPr sz="1133" i="0">
                <a:solidFill>
                  <a:srgbClr val="FFFFFF"/>
                </a:solidFill>
                <a:latin typeface="Calibri"/>
                <a:ea typeface="Calibri"/>
                <a:cs typeface="Calibri"/>
              </a:rPr>
              <a:t>26 corridor towns</a:t>
            </a:r>
          </a:p>
        </p:txBody>
      </p:sp>
      <p:sp>
        <p:nvSpPr>
          <p:cNvPr id="342" name="Google Shape;342;p13">
            <a:extLst xmlns:a="http://schemas.openxmlformats.org/drawingml/2006/main">
              <a:ext uri="{FF2B5EF4-FFF2-40B4-BE49-F238E27FC236}">
                <a16:creationId xmlns:a16="http://schemas.microsoft.com/office/drawing/2014/main" id="{CDB5E406-0150-469D-85FD-9486249F4D46}"/>
              </a:ext>
            </a:extLst>
          </p:cNvPr>
          <p:cNvSpPr>
            <a:spLocks xmlns:a="http://schemas.openxmlformats.org/drawingml/2006/main" noGrp="1"/>
          </p:cNvSpPr>
          <p:nvPr/>
        </p:nvSpPr>
        <p:spPr>
          <a:xfrm xmlns:a="http://schemas.openxmlformats.org/drawingml/2006/main">
            <a:off x="4206240" y="2028199"/>
            <a:ext cx="3535680" cy="2276243"/>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43" name="Google Shape;343;p13">
            <a:extLst xmlns:a="http://schemas.openxmlformats.org/drawingml/2006/main">
              <a:ext uri="{FF2B5EF4-FFF2-40B4-BE49-F238E27FC236}">
                <a16:creationId xmlns:a16="http://schemas.microsoft.com/office/drawing/2014/main" id="{79A66BA5-823E-4A97-AA07-456DB932E442}"/>
              </a:ext>
            </a:extLst>
          </p:cNvPr>
          <p:cNvSpPr>
            <a:spLocks xmlns:a="http://schemas.openxmlformats.org/drawingml/2006/main" noGrp="1"/>
          </p:cNvSpPr>
          <p:nvPr/>
        </p:nvSpPr>
        <p:spPr>
          <a:xfrm xmlns:a="http://schemas.openxmlformats.org/drawingml/2006/main">
            <a:off x="4206240" y="2028200"/>
            <a:ext cx="3535680" cy="121920"/>
          </a:xfrm>
          <a:prstGeom xmlns:a="http://schemas.openxmlformats.org/drawingml/2006/main" prst="rect">
            <a:avLst/>
          </a:prstGeom>
          <a:solidFill xmlns:a="http://schemas.openxmlformats.org/drawingml/2006/main">
            <a:srgbClr val="7F6000"/>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44" name="Google Shape;344;p13">
            <a:extLst xmlns:a="http://schemas.openxmlformats.org/drawingml/2006/main">
              <a:ext uri="{FF2B5EF4-FFF2-40B4-BE49-F238E27FC236}">
                <a16:creationId xmlns:a16="http://schemas.microsoft.com/office/drawing/2014/main" id="{4EBBB595-5022-44BB-8558-10E7E9DB7A63}"/>
              </a:ext>
            </a:extLst>
          </p:cNvPr>
          <p:cNvSpPr>
            <a:spLocks xmlns:a="http://schemas.openxmlformats.org/drawingml/2006/main" noGrp="1"/>
          </p:cNvSpPr>
          <p:nvPr/>
        </p:nvSpPr>
        <p:spPr>
          <a:xfrm xmlns:a="http://schemas.openxmlformats.org/drawingml/2006/main">
            <a:off x="4328160" y="2871024"/>
            <a:ext cx="32918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267" b="1">
                <a:solidFill>
                  <a:schemeClr val="lt1"/>
                </a:solidFill>
                <a:latin typeface="Calibri"/>
                <a:ea typeface="Calibri"/>
                <a:cs typeface="Calibri"/>
              </a:rPr>
              <a:t>FACILITIES</a:t>
            </a:r>
            <a:endParaRPr sz="1267">
              <a:solidFill>
                <a:schemeClr val="lt1"/>
              </a:solidFill>
              <a:latin typeface="Calibri"/>
              <a:ea typeface="Calibri"/>
              <a:cs typeface="Calibri"/>
            </a:endParaRPr>
          </a:p>
        </p:txBody>
      </p:sp>
      <p:sp>
        <p:nvSpPr>
          <p:cNvPr id="345" name="Google Shape;345;p13">
            <a:extLst xmlns:a="http://schemas.openxmlformats.org/drawingml/2006/main">
              <a:ext uri="{FF2B5EF4-FFF2-40B4-BE49-F238E27FC236}">
                <a16:creationId xmlns:a16="http://schemas.microsoft.com/office/drawing/2014/main" id="{8F9D0113-2338-4578-B47A-A52CD98961DD}"/>
              </a:ext>
            </a:extLst>
          </p:cNvPr>
          <p:cNvSpPr>
            <a:spLocks xmlns:a="http://schemas.openxmlformats.org/drawingml/2006/main" noGrp="1"/>
          </p:cNvSpPr>
          <p:nvPr/>
        </p:nvSpPr>
        <p:spPr>
          <a:xfrm xmlns:a="http://schemas.openxmlformats.org/drawingml/2006/main">
            <a:off x="4328160" y="3196276"/>
            <a:ext cx="3291840" cy="1072689"/>
          </a:xfrm>
          <a:prstGeom xmlns:a="http://schemas.openxmlformats.org/drawingml/2006/main" prst="rect">
            <a:avLst/>
          </a:prstGeom>
          <a:solidFill xmlns:a="http://schemas.openxmlformats.org/drawingml/2006/main">
            <a:srgbClr val="2D2D2D"/>
          </a:solidFill>
          <a:ln xmlns:a="http://schemas.openxmlformats.org/drawingml/2006/main" w="15225" cap="flat" cmpd="sng">
            <a:solidFill>
              <a:srgbClr val="FFE600"/>
            </a:solidFill>
            <a:prstDash val="dash"/>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46" name="Google Shape;346;p13">
            <a:extLst xmlns:a="http://schemas.openxmlformats.org/drawingml/2006/main">
              <a:ext uri="{FF2B5EF4-FFF2-40B4-BE49-F238E27FC236}">
                <a16:creationId xmlns:a16="http://schemas.microsoft.com/office/drawing/2014/main" id="{6A1C9DA7-633C-4AC2-8272-BA1FDE973102}"/>
              </a:ext>
            </a:extLst>
          </p:cNvPr>
          <p:cNvSpPr>
            <a:spLocks xmlns:a="http://schemas.openxmlformats.org/drawingml/2006/main" noGrp="1"/>
          </p:cNvSpPr>
          <p:nvPr/>
        </p:nvSpPr>
        <p:spPr>
          <a:xfrm xmlns:a="http://schemas.openxmlformats.org/drawingml/2006/main">
            <a:off x="4498848" y="3267075"/>
            <a:ext cx="2950464" cy="4667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defPPr>
              <a:defRPr sz="2700" b="1" i="0">
                <a:solidFill>
                  <a:srgbClr val="FFFFFF"/>
                </a:solidFill>
              </a:defRPr>
            </a:defPPr>
          </a:lstStyle>
          <a:p xmlns:a="http://schemas.openxmlformats.org/drawingml/2006/main">
            <a:pPr marL="0" marR="0" lvl="0" indent="0" algn="l">
              <a:spcBef>
                <a:spcPts val="0"/>
              </a:spcBef>
              <a:spcAft>
                <a:spcPts val="0"/>
              </a:spcAft>
              <a:buNone/>
              <a:defRPr sz="2700" b="1" i="0">
                <a:solidFill>
                  <a:srgbClr val="FFFFFF"/>
                </a:solidFill>
              </a:defRPr>
            </a:pPr>
            <a:r>
              <a:rPr sz="2700" b="1" i="0">
                <a:solidFill>
                  <a:srgbClr val="FFFFFF"/>
                </a:solidFill>
                <a:latin typeface="Calibri"/>
                <a:ea typeface="Calibri"/>
                <a:cs typeface="Calibri"/>
              </a:rPr>
              <a:t>1,252</a:t>
            </a:r>
            <a:endParaRPr sz="1200">
              <a:solidFill>
                <a:schemeClr val="dk1"/>
              </a:solidFill>
              <a:latin typeface="Calibri"/>
              <a:ea typeface="Calibri"/>
              <a:cs typeface="Calibri"/>
            </a:endParaRPr>
          </a:p>
        </p:txBody>
      </p:sp>
      <p:sp>
        <p:nvSpPr>
          <p:cNvPr id="347" name="Google Shape;347;p13">
            <a:extLst xmlns:a="http://schemas.openxmlformats.org/drawingml/2006/main">
              <a:ext uri="{FF2B5EF4-FFF2-40B4-BE49-F238E27FC236}">
                <a16:creationId xmlns:a16="http://schemas.microsoft.com/office/drawing/2014/main" id="{D85C0DCD-53B9-462B-A0A4-47DC55783919}"/>
              </a:ext>
            </a:extLst>
          </p:cNvPr>
          <p:cNvSpPr>
            <a:spLocks xmlns:a="http://schemas.openxmlformats.org/drawingml/2006/main" noGrp="1"/>
          </p:cNvSpPr>
          <p:nvPr/>
        </p:nvSpPr>
        <p:spPr>
          <a:xfrm xmlns:a="http://schemas.openxmlformats.org/drawingml/2006/main">
            <a:off x="4498848" y="3790950"/>
            <a:ext cx="3145536"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r>
              <a:rPr sz="1133" i="0">
                <a:solidFill>
                  <a:srgbClr val="FFFFFF"/>
                </a:solidFill>
                <a:latin typeface="Calibri"/>
                <a:ea typeface="Calibri"/>
                <a:cs typeface="Calibri"/>
              </a:rPr>
              <a:t>Facilities linked through</a:t>
            </a:r>
          </a:p>
          <a:p xmlns:a="http://schemas.openxmlformats.org/drawingml/2006/main">
            <a:r>
              <a:rPr sz="1133" i="0">
                <a:solidFill>
                  <a:srgbClr val="FFFFFF"/>
                </a:solidFill>
                <a:latin typeface="Calibri"/>
                <a:ea typeface="Calibri"/>
                <a:cs typeface="Calibri"/>
              </a:rPr>
              <a:t>supply and service dependencies</a:t>
            </a:r>
          </a:p>
        </p:txBody>
      </p:sp>
      <p:sp>
        <p:nvSpPr>
          <p:cNvPr id="348" name="Google Shape;348;p13">
            <a:extLst xmlns:a="http://schemas.openxmlformats.org/drawingml/2006/main">
              <a:ext uri="{FF2B5EF4-FFF2-40B4-BE49-F238E27FC236}">
                <a16:creationId xmlns:a16="http://schemas.microsoft.com/office/drawing/2014/main" id="{9F4F13CE-192F-4492-91F2-6227EB6CFCBF}"/>
              </a:ext>
            </a:extLst>
          </p:cNvPr>
          <p:cNvSpPr>
            <a:spLocks xmlns:a="http://schemas.openxmlformats.org/drawingml/2006/main" noGrp="1"/>
          </p:cNvSpPr>
          <p:nvPr/>
        </p:nvSpPr>
        <p:spPr>
          <a:xfrm xmlns:a="http://schemas.openxmlformats.org/drawingml/2006/main">
            <a:off x="7985760" y="2028199"/>
            <a:ext cx="3535680" cy="2276243"/>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49" name="Google Shape;349;p13">
            <a:extLst xmlns:a="http://schemas.openxmlformats.org/drawingml/2006/main">
              <a:ext uri="{FF2B5EF4-FFF2-40B4-BE49-F238E27FC236}">
                <a16:creationId xmlns:a16="http://schemas.microsoft.com/office/drawing/2014/main" id="{2F1B2285-4226-420A-B5C7-5F0EE5973FF6}"/>
              </a:ext>
            </a:extLst>
          </p:cNvPr>
          <p:cNvSpPr>
            <a:spLocks xmlns:a="http://schemas.openxmlformats.org/drawingml/2006/main" noGrp="1"/>
          </p:cNvSpPr>
          <p:nvPr/>
        </p:nvSpPr>
        <p:spPr>
          <a:xfrm xmlns:a="http://schemas.openxmlformats.org/drawingml/2006/main">
            <a:off x="7985760" y="2028200"/>
            <a:ext cx="3535680" cy="121920"/>
          </a:xfrm>
          <a:prstGeom xmlns:a="http://schemas.openxmlformats.org/drawingml/2006/main" prst="rect">
            <a:avLst/>
          </a:prstGeom>
          <a:solidFill xmlns:a="http://schemas.openxmlformats.org/drawingml/2006/main">
            <a:srgbClr val="7F6000"/>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50" name="Google Shape;350;p13">
            <a:extLst xmlns:a="http://schemas.openxmlformats.org/drawingml/2006/main">
              <a:ext uri="{FF2B5EF4-FFF2-40B4-BE49-F238E27FC236}">
                <a16:creationId xmlns:a16="http://schemas.microsoft.com/office/drawing/2014/main" id="{CB1FF9E6-E888-4CDB-A517-CBEB34410EDD}"/>
              </a:ext>
            </a:extLst>
          </p:cNvPr>
          <p:cNvSpPr>
            <a:spLocks xmlns:a="http://schemas.openxmlformats.org/drawingml/2006/main" noGrp="1"/>
          </p:cNvSpPr>
          <p:nvPr/>
        </p:nvSpPr>
        <p:spPr>
          <a:xfrm xmlns:a="http://schemas.openxmlformats.org/drawingml/2006/main">
            <a:off x="8107680" y="2871024"/>
            <a:ext cx="32918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267" b="1">
                <a:solidFill>
                  <a:schemeClr val="lt1"/>
                </a:solidFill>
                <a:latin typeface="Calibri"/>
                <a:ea typeface="Calibri"/>
                <a:cs typeface="Calibri"/>
              </a:rPr>
              <a:t>CASCADE DEPTH</a:t>
            </a:r>
            <a:endParaRPr sz="1267">
              <a:solidFill>
                <a:schemeClr val="lt1"/>
              </a:solidFill>
              <a:latin typeface="Calibri"/>
              <a:ea typeface="Calibri"/>
              <a:cs typeface="Calibri"/>
            </a:endParaRPr>
          </a:p>
        </p:txBody>
      </p:sp>
      <p:sp>
        <p:nvSpPr>
          <p:cNvPr id="351" name="Google Shape;351;p13">
            <a:extLst xmlns:a="http://schemas.openxmlformats.org/drawingml/2006/main">
              <a:ext uri="{FF2B5EF4-FFF2-40B4-BE49-F238E27FC236}">
                <a16:creationId xmlns:a16="http://schemas.microsoft.com/office/drawing/2014/main" id="{18BDB7A9-C298-4149-A2F9-4DFC0392A096}"/>
              </a:ext>
            </a:extLst>
          </p:cNvPr>
          <p:cNvSpPr>
            <a:spLocks xmlns:a="http://schemas.openxmlformats.org/drawingml/2006/main" noGrp="1"/>
          </p:cNvSpPr>
          <p:nvPr/>
        </p:nvSpPr>
        <p:spPr>
          <a:xfrm xmlns:a="http://schemas.openxmlformats.org/drawingml/2006/main">
            <a:off x="8107680" y="3196276"/>
            <a:ext cx="3291840" cy="1072689"/>
          </a:xfrm>
          <a:prstGeom xmlns:a="http://schemas.openxmlformats.org/drawingml/2006/main" prst="rect">
            <a:avLst/>
          </a:prstGeom>
          <a:solidFill xmlns:a="http://schemas.openxmlformats.org/drawingml/2006/main">
            <a:srgbClr val="2D2D2D"/>
          </a:solidFill>
          <a:ln xmlns:a="http://schemas.openxmlformats.org/drawingml/2006/main" w="15225" cap="flat" cmpd="sng">
            <a:solidFill>
              <a:srgbClr val="FFE600"/>
            </a:solidFill>
            <a:prstDash val="dash"/>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52" name="Google Shape;352;p13">
            <a:extLst xmlns:a="http://schemas.openxmlformats.org/drawingml/2006/main">
              <a:ext uri="{FF2B5EF4-FFF2-40B4-BE49-F238E27FC236}">
                <a16:creationId xmlns:a16="http://schemas.microsoft.com/office/drawing/2014/main" id="{FB03742E-6583-4276-BCFC-B0E57E0BB84B}"/>
              </a:ext>
            </a:extLst>
          </p:cNvPr>
          <p:cNvSpPr>
            <a:spLocks xmlns:a="http://schemas.openxmlformats.org/drawingml/2006/main" noGrp="1"/>
          </p:cNvSpPr>
          <p:nvPr/>
        </p:nvSpPr>
        <p:spPr>
          <a:xfrm xmlns:a="http://schemas.openxmlformats.org/drawingml/2006/main">
            <a:off x="8278368" y="3267075"/>
            <a:ext cx="2950464" cy="4667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defPPr>
              <a:defRPr sz="2700" b="1" i="0">
                <a:solidFill>
                  <a:srgbClr val="FFFFFF"/>
                </a:solidFill>
              </a:defRPr>
            </a:defPPr>
          </a:lstStyle>
          <a:p xmlns:a="http://schemas.openxmlformats.org/drawingml/2006/main">
            <a:pPr marL="0" marR="0" lvl="0" indent="0" algn="l">
              <a:spcBef>
                <a:spcPts val="0"/>
              </a:spcBef>
              <a:spcAft>
                <a:spcPts val="0"/>
              </a:spcAft>
              <a:buNone/>
              <a:defRPr sz="2700" b="1" i="0">
                <a:solidFill>
                  <a:srgbClr val="FFFFFF"/>
                </a:solidFill>
              </a:defRPr>
            </a:pPr>
            <a:r>
              <a:rPr sz="2700" b="1" i="0">
                <a:solidFill>
                  <a:srgbClr val="FFFFFF"/>
                </a:solidFill>
                <a:latin typeface="Calibri"/>
                <a:ea typeface="Calibri"/>
                <a:cs typeface="Calibri"/>
              </a:rPr>
              <a:t>12</a:t>
            </a:r>
            <a:endParaRPr sz="1200">
              <a:solidFill>
                <a:schemeClr val="dk1"/>
              </a:solidFill>
              <a:latin typeface="Calibri"/>
              <a:ea typeface="Calibri"/>
              <a:cs typeface="Calibri"/>
            </a:endParaRPr>
          </a:p>
        </p:txBody>
      </p:sp>
      <p:sp>
        <p:nvSpPr>
          <p:cNvPr id="353" name="Google Shape;353;p13">
            <a:extLst xmlns:a="http://schemas.openxmlformats.org/drawingml/2006/main">
              <a:ext uri="{FF2B5EF4-FFF2-40B4-BE49-F238E27FC236}">
                <a16:creationId xmlns:a16="http://schemas.microsoft.com/office/drawing/2014/main" id="{4C57BA39-8749-470F-905A-89611C237EE3}"/>
              </a:ext>
            </a:extLst>
          </p:cNvPr>
          <p:cNvSpPr>
            <a:spLocks xmlns:a="http://schemas.openxmlformats.org/drawingml/2006/main" noGrp="1"/>
          </p:cNvSpPr>
          <p:nvPr/>
        </p:nvSpPr>
        <p:spPr>
          <a:xfrm xmlns:a="http://schemas.openxmlformats.org/drawingml/2006/main">
            <a:off x="8278368" y="3790950"/>
            <a:ext cx="3145536"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r>
              <a:rPr sz="1133" i="0">
                <a:solidFill>
                  <a:srgbClr val="FFFFFF"/>
                </a:solidFill>
                <a:latin typeface="Calibri"/>
                <a:ea typeface="Calibri"/>
                <a:cs typeface="Calibri"/>
              </a:rPr>
              <a:t>Displayed degrees in the</a:t>
            </a:r>
          </a:p>
          <a:p xmlns:a="http://schemas.openxmlformats.org/drawingml/2006/main">
            <a:r>
              <a:rPr sz="1133" i="0">
                <a:solidFill>
                  <a:srgbClr val="FFFFFF"/>
                </a:solidFill>
                <a:latin typeface="Calibri"/>
                <a:ea typeface="Calibri"/>
                <a:cs typeface="Calibri"/>
              </a:rPr>
              <a:t>Dover closure exposure cascade</a:t>
            </a:r>
          </a:p>
        </p:txBody>
      </p:sp>
      <p:sp>
        <p:nvSpPr>
          <p:cNvPr id="354" name="Google Shape;354;p13">
            <a:extLst xmlns:a="http://schemas.openxmlformats.org/drawingml/2006/main">
              <a:ext uri="{FF2B5EF4-FFF2-40B4-BE49-F238E27FC236}">
                <a16:creationId xmlns:a16="http://schemas.microsoft.com/office/drawing/2014/main" id="{EF772421-9F52-4192-B3A6-94FD583E38E6}"/>
              </a:ext>
            </a:extLst>
          </p:cNvPr>
          <p:cNvSpPr>
            <a:spLocks xmlns:a="http://schemas.openxmlformats.org/drawingml/2006/main" noGrp="1"/>
          </p:cNvSpPr>
          <p:nvPr/>
        </p:nvSpPr>
        <p:spPr>
          <a:xfrm xmlns:a="http://schemas.openxmlformats.org/drawingml/2006/main">
            <a:off x="487680" y="4282931"/>
            <a:ext cx="11216640" cy="3413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333" b="1">
                <a:solidFill>
                  <a:schemeClr val="dk1"/>
                </a:solidFill>
                <a:latin typeface="Calibri"/>
                <a:ea typeface="Calibri"/>
                <a:cs typeface="Calibri"/>
              </a:rPr>
              <a:t>CURRENT BUILD AND DEVELOPMENT STATUS</a:t>
            </a:r>
            <a:endParaRPr sz="1333">
              <a:solidFill>
                <a:schemeClr val="dk1"/>
              </a:solidFill>
              <a:latin typeface="Calibri"/>
              <a:ea typeface="Calibri"/>
              <a:cs typeface="Calibri"/>
            </a:endParaRPr>
          </a:p>
        </p:txBody>
      </p:sp>
      <p:sp>
        <p:nvSpPr>
          <p:cNvPr id="355" name="Google Shape;355;p13">
            <a:extLst xmlns:a="http://schemas.openxmlformats.org/drawingml/2006/main">
              <a:ext uri="{FF2B5EF4-FFF2-40B4-BE49-F238E27FC236}">
                <a16:creationId xmlns:a16="http://schemas.microsoft.com/office/drawing/2014/main" id="{B0C3179A-DA9A-4AED-AE78-B23308AACADB}"/>
              </a:ext>
            </a:extLst>
          </p:cNvPr>
          <p:cNvSpPr>
            <a:spLocks xmlns:a="http://schemas.openxmlformats.org/drawingml/2006/main" noGrp="1"/>
          </p:cNvSpPr>
          <p:nvPr/>
        </p:nvSpPr>
        <p:spPr>
          <a:xfrm xmlns:a="http://schemas.openxmlformats.org/drawingml/2006/main">
            <a:off x="426720" y="4584192"/>
            <a:ext cx="11338560" cy="414528"/>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56" name="Google Shape;356;p13">
            <a:extLst xmlns:a="http://schemas.openxmlformats.org/drawingml/2006/main">
              <a:ext uri="{FF2B5EF4-FFF2-40B4-BE49-F238E27FC236}">
                <a16:creationId xmlns:a16="http://schemas.microsoft.com/office/drawing/2014/main" id="{04568DCA-C6C0-4688-8212-E34C43A08575}"/>
              </a:ext>
            </a:extLst>
          </p:cNvPr>
          <p:cNvSpPr>
            <a:spLocks xmlns:a="http://schemas.openxmlformats.org/drawingml/2006/main" noGrp="1"/>
          </p:cNvSpPr>
          <p:nvPr/>
        </p:nvSpPr>
        <p:spPr>
          <a:xfrm xmlns:a="http://schemas.openxmlformats.org/drawingml/2006/main">
            <a:off x="873104" y="4645152"/>
            <a:ext cx="21945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67" b="1">
                <a:solidFill>
                  <a:schemeClr val="lt1"/>
                </a:solidFill>
                <a:latin typeface="Calibri"/>
                <a:ea typeface="Calibri"/>
                <a:cs typeface="Calibri"/>
              </a:rPr>
              <a:t>Dataset</a:t>
            </a:r>
            <a:endParaRPr sz="1267">
              <a:solidFill>
                <a:schemeClr val="lt1"/>
              </a:solidFill>
              <a:latin typeface="Calibri"/>
              <a:ea typeface="Calibri"/>
              <a:cs typeface="Calibri"/>
            </a:endParaRPr>
          </a:p>
        </p:txBody>
      </p:sp>
      <p:sp>
        <p:nvSpPr>
          <p:cNvPr id="357" name="Google Shape;357;p13">
            <a:extLst xmlns:a="http://schemas.openxmlformats.org/drawingml/2006/main">
              <a:ext uri="{FF2B5EF4-FFF2-40B4-BE49-F238E27FC236}">
                <a16:creationId xmlns:a16="http://schemas.microsoft.com/office/drawing/2014/main" id="{886DA9F1-3607-4825-BB08-BF6D929BAD74}"/>
              </a:ext>
            </a:extLst>
          </p:cNvPr>
          <p:cNvSpPr>
            <a:spLocks xmlns:a="http://schemas.openxmlformats.org/drawingml/2006/main" noGrp="1"/>
          </p:cNvSpPr>
          <p:nvPr/>
        </p:nvSpPr>
        <p:spPr>
          <a:xfrm xmlns:a="http://schemas.openxmlformats.org/drawingml/2006/main">
            <a:off x="3413760" y="4645152"/>
            <a:ext cx="81686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r>
              <a:rPr sz="1200" i="0">
                <a:solidFill>
                  <a:srgbClr val="FFFFFF"/>
                </a:solidFill>
                <a:latin typeface="Calibri"/>
                <a:ea typeface="Calibri"/>
                <a:cs typeface="Calibri"/>
              </a:rPr>
              <a:t>23,914 relationships and 4,064 dormant recovery options</a:t>
            </a:r>
          </a:p>
        </p:txBody>
      </p:sp>
      <p:sp>
        <p:nvSpPr>
          <p:cNvPr id="358" name="Google Shape;358;p13">
            <a:extLst xmlns:a="http://schemas.openxmlformats.org/drawingml/2006/main">
              <a:ext uri="{FF2B5EF4-FFF2-40B4-BE49-F238E27FC236}">
                <a16:creationId xmlns:a16="http://schemas.microsoft.com/office/drawing/2014/main" id="{F1F3D9EC-3827-4D87-9C77-23789F8D9AE6}"/>
              </a:ext>
            </a:extLst>
          </p:cNvPr>
          <p:cNvSpPr>
            <a:spLocks xmlns:a="http://schemas.openxmlformats.org/drawingml/2006/main" noGrp="1"/>
          </p:cNvSpPr>
          <p:nvPr/>
        </p:nvSpPr>
        <p:spPr>
          <a:xfrm xmlns:a="http://schemas.openxmlformats.org/drawingml/2006/main">
            <a:off x="426720" y="5023104"/>
            <a:ext cx="11338560" cy="414528"/>
          </a:xfrm>
          <a:prstGeom xmlns:a="http://schemas.openxmlformats.org/drawingml/2006/main" prst="rect">
            <a:avLst/>
          </a:prstGeom>
          <a:solidFill xmlns:a="http://schemas.openxmlformats.org/drawingml/2006/main">
            <a:srgbClr val="3A3A3A"/>
          </a:solidFill>
          <a:ln xmlns:a="http://schemas.openxmlformats.org/drawingml/2006/main" w="12700" cap="flat" cmpd="sng">
            <a:solidFill>
              <a:srgbClr val="3A3A3A"/>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59" name="Google Shape;359;p13">
            <a:extLst xmlns:a="http://schemas.openxmlformats.org/drawingml/2006/main">
              <a:ext uri="{FF2B5EF4-FFF2-40B4-BE49-F238E27FC236}">
                <a16:creationId xmlns:a16="http://schemas.microsoft.com/office/drawing/2014/main" id="{C6E661F6-C941-407C-9070-77ABA714F119}"/>
              </a:ext>
            </a:extLst>
          </p:cNvPr>
          <p:cNvSpPr>
            <a:spLocks xmlns:a="http://schemas.openxmlformats.org/drawingml/2006/main" noGrp="1"/>
          </p:cNvSpPr>
          <p:nvPr/>
        </p:nvSpPr>
        <p:spPr>
          <a:xfrm xmlns:a="http://schemas.openxmlformats.org/drawingml/2006/main">
            <a:off x="873104" y="5084064"/>
            <a:ext cx="21945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67" b="1">
                <a:solidFill>
                  <a:schemeClr val="lt1"/>
                </a:solidFill>
                <a:latin typeface="Calibri"/>
                <a:ea typeface="Calibri"/>
                <a:cs typeface="Calibri"/>
              </a:rPr>
              <a:t>Impact map</a:t>
            </a:r>
            <a:endParaRPr sz="1267">
              <a:solidFill>
                <a:schemeClr val="lt1"/>
              </a:solidFill>
              <a:latin typeface="Calibri"/>
              <a:ea typeface="Calibri"/>
              <a:cs typeface="Calibri"/>
            </a:endParaRPr>
          </a:p>
        </p:txBody>
      </p:sp>
      <p:sp>
        <p:nvSpPr>
          <p:cNvPr id="360" name="Google Shape;360;p13">
            <a:extLst xmlns:a="http://schemas.openxmlformats.org/drawingml/2006/main">
              <a:ext uri="{FF2B5EF4-FFF2-40B4-BE49-F238E27FC236}">
                <a16:creationId xmlns:a16="http://schemas.microsoft.com/office/drawing/2014/main" id="{AF38FF61-B3B1-4335-9C9B-3CBF50C44359}"/>
              </a:ext>
            </a:extLst>
          </p:cNvPr>
          <p:cNvSpPr>
            <a:spLocks xmlns:a="http://schemas.openxmlformats.org/drawingml/2006/main" noGrp="1"/>
          </p:cNvSpPr>
          <p:nvPr/>
        </p:nvSpPr>
        <p:spPr>
          <a:xfrm xmlns:a="http://schemas.openxmlformats.org/drawingml/2006/main">
            <a:off x="3413760" y="5084064"/>
            <a:ext cx="81686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r>
              <a:rPr sz="1200" i="0">
                <a:solidFill>
                  <a:srgbClr val="FFFFFF"/>
                </a:solidFill>
                <a:latin typeface="Calibri"/>
                <a:ea typeface="Calibri"/>
                <a:cs typeface="Calibri"/>
              </a:rPr>
              <a:t>Dover closure exposes 778 facilities across the supply projection</a:t>
            </a:r>
          </a:p>
        </p:txBody>
      </p:sp>
      <p:sp>
        <p:nvSpPr>
          <p:cNvPr id="361" name="Google Shape;361;p13">
            <a:extLst xmlns:a="http://schemas.openxmlformats.org/drawingml/2006/main">
              <a:ext uri="{FF2B5EF4-FFF2-40B4-BE49-F238E27FC236}">
                <a16:creationId xmlns:a16="http://schemas.microsoft.com/office/drawing/2014/main" id="{35381C0F-0D4A-4674-8DE8-F3AC2A7B1D0A}"/>
              </a:ext>
            </a:extLst>
          </p:cNvPr>
          <p:cNvSpPr>
            <a:spLocks xmlns:a="http://schemas.openxmlformats.org/drawingml/2006/main" noGrp="1"/>
          </p:cNvSpPr>
          <p:nvPr/>
        </p:nvSpPr>
        <p:spPr>
          <a:xfrm xmlns:a="http://schemas.openxmlformats.org/drawingml/2006/main">
            <a:off x="426720" y="5462016"/>
            <a:ext cx="11338560" cy="414528"/>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62" name="Google Shape;362;p13">
            <a:extLst xmlns:a="http://schemas.openxmlformats.org/drawingml/2006/main">
              <a:ext uri="{FF2B5EF4-FFF2-40B4-BE49-F238E27FC236}">
                <a16:creationId xmlns:a16="http://schemas.microsoft.com/office/drawing/2014/main" id="{8EE56398-2576-48CE-BA17-87FD2E011882}"/>
              </a:ext>
            </a:extLst>
          </p:cNvPr>
          <p:cNvSpPr>
            <a:spLocks xmlns:a="http://schemas.openxmlformats.org/drawingml/2006/main" noGrp="1"/>
          </p:cNvSpPr>
          <p:nvPr/>
        </p:nvSpPr>
        <p:spPr>
          <a:xfrm xmlns:a="http://schemas.openxmlformats.org/drawingml/2006/main">
            <a:off x="873104" y="5522976"/>
            <a:ext cx="21945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67" b="1">
                <a:solidFill>
                  <a:schemeClr val="lt1"/>
                </a:solidFill>
                <a:latin typeface="Calibri"/>
                <a:ea typeface="Calibri"/>
                <a:cs typeface="Calibri"/>
              </a:rPr>
              <a:t>Recovery agent</a:t>
            </a:r>
            <a:endParaRPr sz="1267">
              <a:solidFill>
                <a:schemeClr val="lt1"/>
              </a:solidFill>
              <a:latin typeface="Calibri"/>
              <a:ea typeface="Calibri"/>
              <a:cs typeface="Calibri"/>
            </a:endParaRPr>
          </a:p>
        </p:txBody>
      </p:sp>
      <p:sp>
        <p:nvSpPr>
          <p:cNvPr id="363" name="Google Shape;363;p13">
            <a:extLst xmlns:a="http://schemas.openxmlformats.org/drawingml/2006/main">
              <a:ext uri="{FF2B5EF4-FFF2-40B4-BE49-F238E27FC236}">
                <a16:creationId xmlns:a16="http://schemas.microsoft.com/office/drawing/2014/main" id="{D2469BAA-9CB8-4200-84D2-7D58C4679CA6}"/>
              </a:ext>
            </a:extLst>
          </p:cNvPr>
          <p:cNvSpPr>
            <a:spLocks xmlns:a="http://schemas.openxmlformats.org/drawingml/2006/main" noGrp="1"/>
          </p:cNvSpPr>
          <p:nvPr/>
        </p:nvSpPr>
        <p:spPr>
          <a:xfrm xmlns:a="http://schemas.openxmlformats.org/drawingml/2006/main">
            <a:off x="3413760" y="5522976"/>
            <a:ext cx="81686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r>
              <a:rPr sz="1200" i="0">
                <a:solidFill>
                  <a:srgbClr val="FFFFFF"/>
                </a:solidFill>
                <a:latin typeface="Calibri"/>
                <a:ea typeface="Calibri"/>
                <a:cs typeface="Calibri"/>
              </a:rPr>
              <a:t>In development for three fixed exercises, with constrained alternatives</a:t>
            </a:r>
          </a:p>
        </p:txBody>
      </p:sp>
      <p:sp>
        <p:nvSpPr>
          <p:cNvPr id="364" name="Google Shape;364;p13">
            <a:extLst xmlns:a="http://schemas.openxmlformats.org/drawingml/2006/main">
              <a:ext uri="{FF2B5EF4-FFF2-40B4-BE49-F238E27FC236}">
                <a16:creationId xmlns:a16="http://schemas.microsoft.com/office/drawing/2014/main" id="{D4628664-94BB-407E-BAEB-FA9698EF5AF2}"/>
              </a:ext>
            </a:extLst>
          </p:cNvPr>
          <p:cNvSpPr>
            <a:spLocks xmlns:a="http://schemas.openxmlformats.org/drawingml/2006/main" noGrp="1"/>
          </p:cNvSpPr>
          <p:nvPr/>
        </p:nvSpPr>
        <p:spPr>
          <a:xfrm xmlns:a="http://schemas.openxmlformats.org/drawingml/2006/main">
            <a:off x="426720" y="5900928"/>
            <a:ext cx="11338560" cy="414528"/>
          </a:xfrm>
          <a:prstGeom xmlns:a="http://schemas.openxmlformats.org/drawingml/2006/main" prst="rect">
            <a:avLst/>
          </a:prstGeom>
          <a:solidFill xmlns:a="http://schemas.openxmlformats.org/drawingml/2006/main">
            <a:srgbClr val="3A3A3A"/>
          </a:solidFill>
          <a:ln xmlns:a="http://schemas.openxmlformats.org/drawingml/2006/main" w="12700" cap="flat" cmpd="sng">
            <a:solidFill>
              <a:srgbClr val="3A3A3A"/>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65" name="Google Shape;365;p13">
            <a:extLst xmlns:a="http://schemas.openxmlformats.org/drawingml/2006/main">
              <a:ext uri="{FF2B5EF4-FFF2-40B4-BE49-F238E27FC236}">
                <a16:creationId xmlns:a16="http://schemas.microsoft.com/office/drawing/2014/main" id="{E5283671-1D5B-4832-BA1F-D9304B47C278}"/>
              </a:ext>
            </a:extLst>
          </p:cNvPr>
          <p:cNvSpPr>
            <a:spLocks xmlns:a="http://schemas.openxmlformats.org/drawingml/2006/main" noGrp="1"/>
          </p:cNvSpPr>
          <p:nvPr/>
        </p:nvSpPr>
        <p:spPr>
          <a:xfrm xmlns:a="http://schemas.openxmlformats.org/drawingml/2006/main">
            <a:off x="873104" y="5961888"/>
            <a:ext cx="219456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67" b="1">
                <a:solidFill>
                  <a:schemeClr val="lt1"/>
                </a:solidFill>
                <a:latin typeface="Calibri"/>
                <a:ea typeface="Calibri"/>
                <a:cs typeface="Calibri"/>
              </a:rPr>
              <a:t>Validation</a:t>
            </a:r>
            <a:endParaRPr sz="1267">
              <a:solidFill>
                <a:schemeClr val="lt1"/>
              </a:solidFill>
              <a:latin typeface="Calibri"/>
              <a:ea typeface="Calibri"/>
              <a:cs typeface="Calibri"/>
            </a:endParaRPr>
          </a:p>
        </p:txBody>
      </p:sp>
      <p:sp>
        <p:nvSpPr>
          <p:cNvPr id="366" name="Google Shape;366;p13">
            <a:extLst xmlns:a="http://schemas.openxmlformats.org/drawingml/2006/main">
              <a:ext uri="{FF2B5EF4-FFF2-40B4-BE49-F238E27FC236}">
                <a16:creationId xmlns:a16="http://schemas.microsoft.com/office/drawing/2014/main" id="{AD5903F3-543A-4B22-8106-EDC99F25DFD3}"/>
              </a:ext>
            </a:extLst>
          </p:cNvPr>
          <p:cNvSpPr>
            <a:spLocks xmlns:a="http://schemas.openxmlformats.org/drawingml/2006/main" noGrp="1"/>
          </p:cNvSpPr>
          <p:nvPr/>
        </p:nvSpPr>
        <p:spPr>
          <a:xfrm xmlns:a="http://schemas.openxmlformats.org/drawingml/2006/main">
            <a:off x="3413760" y="5961888"/>
            <a:ext cx="816864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r>
              <a:rPr sz="1200" i="0">
                <a:solidFill>
                  <a:srgbClr val="FFFFFF"/>
                </a:solidFill>
                <a:latin typeface="Calibri"/>
                <a:ea typeface="Calibri"/>
                <a:cs typeface="Calibri"/>
              </a:rPr>
              <a:t>Synthetic demonstration. Operational accuracy and pilot value remain unvalidated.</a:t>
            </a:r>
          </a:p>
        </p:txBody>
      </p:sp>
      <p:sp>
        <p:nvSpPr>
          <p:cNvPr id="367" name="Google Shape;367;p13">
            <a:extLst xmlns:a="http://schemas.openxmlformats.org/drawingml/2006/main">
              <a:ext uri="{FF2B5EF4-FFF2-40B4-BE49-F238E27FC236}">
                <a16:creationId xmlns:a16="http://schemas.microsoft.com/office/drawing/2014/main" id="{6F70DE1E-7997-437E-930A-8E77B353AD7B}"/>
              </a:ext>
            </a:extLst>
          </p:cNvPr>
          <p:cNvSpPr>
            <a:spLocks xmlns:a="http://schemas.openxmlformats.org/drawingml/2006/main" noGrp="1"/>
          </p:cNvSpPr>
          <p:nvPr/>
        </p:nvSpPr>
        <p:spPr>
          <a:xfrm xmlns:a="http://schemas.openxmlformats.org/drawingml/2006/main">
            <a:off x="426720" y="268224"/>
            <a:ext cx="2194560" cy="365760"/>
          </a:xfrm>
          <a:prstGeom xmlns:a="http://schemas.openxmlformats.org/drawingml/2006/main" prst="roundRect">
            <a:avLst>
              <a:gd name="adj" fmla="val 50000"/>
            </a:avLst>
          </a:prstGeom>
          <a:solidFill xmlns:a="http://schemas.openxmlformats.org/drawingml/2006/main">
            <a:srgbClr val="7F6000"/>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68" name="Google Shape;368;p13">
            <a:extLst xmlns:a="http://schemas.openxmlformats.org/drawingml/2006/main">
              <a:ext uri="{FF2B5EF4-FFF2-40B4-BE49-F238E27FC236}">
                <a16:creationId xmlns:a16="http://schemas.microsoft.com/office/drawing/2014/main" id="{8CEE84BB-83CF-4769-89F6-E0A81F83AFDE}"/>
              </a:ext>
            </a:extLst>
          </p:cNvPr>
          <p:cNvSpPr>
            <a:spLocks xmlns:a="http://schemas.openxmlformats.org/drawingml/2006/main" noGrp="1"/>
          </p:cNvSpPr>
          <p:nvPr/>
        </p:nvSpPr>
        <p:spPr>
          <a:xfrm xmlns:a="http://schemas.openxmlformats.org/drawingml/2006/main">
            <a:off x="421807" y="260101"/>
            <a:ext cx="2194560" cy="365760"/>
          </a:xfrm>
          <a:prstGeom xmlns:a="http://schemas.openxmlformats.org/drawingml/2006/main" prst="roundRect">
            <a:avLst>
              <a:gd name="adj" fmla="val 16667"/>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133" b="1">
                <a:solidFill>
                  <a:srgbClr val="1A1A1A"/>
                </a:solidFill>
                <a:latin typeface="Calibri"/>
                <a:ea typeface="Calibri"/>
                <a:cs typeface="Calibri"/>
              </a:rPr>
              <a:t>SLIDE 06  |  ~20 sec</a:t>
            </a:r>
            <a:endParaRPr sz="1133">
              <a:solidFill>
                <a:schemeClr val="dk1"/>
              </a:solidFill>
              <a:latin typeface="Calibri"/>
              <a:ea typeface="Calibri"/>
              <a:cs typeface="Calibri"/>
            </a:endParaRPr>
          </a:p>
        </p:txBody>
      </p:sp>
    </p:spTree>
    <p:extLst>
      <p:ext uri="{BB962C8B-B14F-4D97-AF65-F5344CB8AC3E}">
        <p14:creationId xmlns:p14="http://schemas.microsoft.com/office/powerpoint/2010/main" val="125662269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74" name="Google Shape;374;p14">
            <a:extLst xmlns:a="http://schemas.openxmlformats.org/drawingml/2006/main">
              <a:ext uri="{FF2B5EF4-FFF2-40B4-BE49-F238E27FC236}">
                <a16:creationId xmlns:a16="http://schemas.microsoft.com/office/drawing/2014/main" id="{1516BBED-B393-4B88-8440-3C406426F8E8}"/>
              </a:ext>
            </a:extLst>
          </p:cNvPr>
          <p:cNvSpPr>
            <a:spLocks xmlns:a="http://schemas.openxmlformats.org/drawingml/2006/main" noGrp="1"/>
          </p:cNvSpPr>
          <p:nvPr/>
        </p:nvSpPr>
        <p:spPr>
          <a:xfrm xmlns:a="http://schemas.openxmlformats.org/drawingml/2006/main">
            <a:off x="426720" y="268224"/>
            <a:ext cx="2194560" cy="365760"/>
          </a:xfrm>
          <a:prstGeom xmlns:a="http://schemas.openxmlformats.org/drawingml/2006/main" prst="roundRect">
            <a:avLst>
              <a:gd name="adj" fmla="val 50000"/>
            </a:avLst>
          </a:prstGeom>
          <a:solidFill xmlns:a="http://schemas.openxmlformats.org/drawingml/2006/main">
            <a:schemeClr val="accent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75" name="Google Shape;375;p14">
            <a:extLst xmlns:a="http://schemas.openxmlformats.org/drawingml/2006/main">
              <a:ext uri="{FF2B5EF4-FFF2-40B4-BE49-F238E27FC236}">
                <a16:creationId xmlns:a16="http://schemas.microsoft.com/office/drawing/2014/main" id="{B612FAE2-9F7D-4B99-8B8E-DF4C0F87A7F8}"/>
              </a:ext>
            </a:extLst>
          </p:cNvPr>
          <p:cNvSpPr>
            <a:spLocks xmlns:a="http://schemas.openxmlformats.org/drawingml/2006/main" noGrp="1"/>
          </p:cNvSpPr>
          <p:nvPr/>
        </p:nvSpPr>
        <p:spPr>
          <a:xfrm xmlns:a="http://schemas.openxmlformats.org/drawingml/2006/main">
            <a:off x="426720" y="269797"/>
            <a:ext cx="21945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133" b="1">
                <a:solidFill>
                  <a:srgbClr val="1A1A1A"/>
                </a:solidFill>
                <a:latin typeface="Calibri"/>
                <a:ea typeface="Calibri"/>
                <a:cs typeface="Calibri"/>
              </a:rPr>
              <a:t>SLIDE 07  |  ~10 sec</a:t>
            </a:r>
            <a:endParaRPr sz="1133">
              <a:solidFill>
                <a:schemeClr val="dk1"/>
              </a:solidFill>
              <a:latin typeface="Calibri"/>
              <a:ea typeface="Calibri"/>
              <a:cs typeface="Calibri"/>
            </a:endParaRPr>
          </a:p>
        </p:txBody>
      </p:sp>
      <p:sp>
        <p:nvSpPr>
          <p:cNvPr id="376" name="Google Shape;376;p14">
            <a:extLst xmlns:a="http://schemas.openxmlformats.org/drawingml/2006/main">
              <a:ext uri="{FF2B5EF4-FFF2-40B4-BE49-F238E27FC236}">
                <a16:creationId xmlns:a16="http://schemas.microsoft.com/office/drawing/2014/main" id="{92F4CE69-60E4-4AD4-99C2-646ECC586C62}"/>
              </a:ext>
            </a:extLst>
          </p:cNvPr>
          <p:cNvSpPr>
            <a:spLocks xmlns:a="http://schemas.openxmlformats.org/drawingml/2006/main" noGrp="1"/>
          </p:cNvSpPr>
          <p:nvPr/>
        </p:nvSpPr>
        <p:spPr>
          <a:xfrm xmlns:a="http://schemas.openxmlformats.org/drawingml/2006/main">
            <a:off x="487680" y="755904"/>
            <a:ext cx="10972800" cy="85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4800" b="1">
                <a:solidFill>
                  <a:schemeClr val="dk1"/>
                </a:solidFill>
                <a:latin typeface="Calibri"/>
                <a:ea typeface="Calibri"/>
                <a:cs typeface="Calibri"/>
              </a:rPr>
              <a:t>Next Steps and the Ask</a:t>
            </a:r>
            <a:endParaRPr sz="4800">
              <a:solidFill>
                <a:schemeClr val="dk1"/>
              </a:solidFill>
              <a:latin typeface="Calibri"/>
              <a:ea typeface="Calibri"/>
              <a:cs typeface="Calibri"/>
            </a:endParaRPr>
          </a:p>
        </p:txBody>
      </p:sp>
      <p:sp>
        <p:nvSpPr>
          <p:cNvPr id="377" name="Google Shape;377;p14">
            <a:extLst xmlns:a="http://schemas.openxmlformats.org/drawingml/2006/main">
              <a:ext uri="{FF2B5EF4-FFF2-40B4-BE49-F238E27FC236}">
                <a16:creationId xmlns:a16="http://schemas.microsoft.com/office/drawing/2014/main" id="{A1B5C112-43D8-451E-B94A-A6BC478D172C}"/>
              </a:ext>
            </a:extLst>
          </p:cNvPr>
          <p:cNvSpPr>
            <a:spLocks xmlns:a="http://schemas.openxmlformats.org/drawingml/2006/main" noGrp="1"/>
          </p:cNvSpPr>
          <p:nvPr/>
        </p:nvSpPr>
        <p:spPr>
          <a:xfrm xmlns:a="http://schemas.openxmlformats.org/drawingml/2006/main">
            <a:off x="487680" y="1767840"/>
            <a:ext cx="11216640" cy="1709632"/>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lt1"/>
              </a:solidFill>
              <a:latin typeface="Calibri"/>
              <a:ea typeface="Calibri"/>
              <a:cs typeface="Calibri"/>
            </a:endParaRPr>
          </a:p>
        </p:txBody>
      </p:sp>
      <p:sp>
        <p:nvSpPr>
          <p:cNvPr id="378" name="Google Shape;378;p14">
            <a:extLst xmlns:a="http://schemas.openxmlformats.org/drawingml/2006/main">
              <a:ext uri="{FF2B5EF4-FFF2-40B4-BE49-F238E27FC236}">
                <a16:creationId xmlns:a16="http://schemas.microsoft.com/office/drawing/2014/main" id="{920A7797-AF4F-4DA6-86F0-0D8099BD40C5}"/>
              </a:ext>
            </a:extLst>
          </p:cNvPr>
          <p:cNvSpPr>
            <a:spLocks xmlns:a="http://schemas.openxmlformats.org/drawingml/2006/main" noGrp="1"/>
          </p:cNvSpPr>
          <p:nvPr/>
        </p:nvSpPr>
        <p:spPr>
          <a:xfrm xmlns:a="http://schemas.openxmlformats.org/drawingml/2006/main">
            <a:off x="792480" y="1853184"/>
            <a:ext cx="2194560" cy="3169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333" b="1">
                <a:solidFill>
                  <a:schemeClr val="lt1"/>
                </a:solidFill>
                <a:latin typeface="Calibri"/>
                <a:ea typeface="Calibri"/>
                <a:cs typeface="Calibri"/>
              </a:rPr>
              <a:t>PROPOSED PILOT ASK</a:t>
            </a:r>
            <a:endParaRPr sz="1333">
              <a:solidFill>
                <a:schemeClr val="lt1"/>
              </a:solidFill>
              <a:latin typeface="Calibri"/>
              <a:ea typeface="Calibri"/>
              <a:cs typeface="Calibri"/>
            </a:endParaRPr>
          </a:p>
        </p:txBody>
      </p:sp>
      <p:sp>
        <p:nvSpPr>
          <p:cNvPr id="379" name="Google Shape;379;p14">
            <a:extLst xmlns:a="http://schemas.openxmlformats.org/drawingml/2006/main">
              <a:ext uri="{FF2B5EF4-FFF2-40B4-BE49-F238E27FC236}">
                <a16:creationId xmlns:a16="http://schemas.microsoft.com/office/drawing/2014/main" id="{125D6883-DA2B-4588-8254-93712768B73C}"/>
              </a:ext>
            </a:extLst>
          </p:cNvPr>
          <p:cNvSpPr>
            <a:spLocks xmlns:a="http://schemas.openxmlformats.org/drawingml/2006/main" noGrp="1"/>
          </p:cNvSpPr>
          <p:nvPr/>
        </p:nvSpPr>
        <p:spPr>
          <a:xfrm xmlns:a="http://schemas.openxmlformats.org/drawingml/2006/main">
            <a:off x="792480" y="2194560"/>
            <a:ext cx="10668000" cy="1160992"/>
          </a:xfrm>
          <a:prstGeom xmlns:a="http://schemas.openxmlformats.org/drawingml/2006/main" prst="rect">
            <a:avLst/>
          </a:prstGeom>
          <a:solidFill xmlns:a="http://schemas.openxmlformats.org/drawingml/2006/main">
            <a:srgbClr val="2D2D2D"/>
          </a:solidFill>
          <a:ln xmlns:a="http://schemas.openxmlformats.org/drawingml/2006/main" w="15225" cap="flat" cmpd="sng">
            <a:solidFill>
              <a:srgbClr val="FFE600"/>
            </a:solidFill>
            <a:prstDash val="dash"/>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80" name="Google Shape;380;p14">
            <a:extLst xmlns:a="http://schemas.openxmlformats.org/drawingml/2006/main">
              <a:ext uri="{FF2B5EF4-FFF2-40B4-BE49-F238E27FC236}">
                <a16:creationId xmlns:a16="http://schemas.microsoft.com/office/drawing/2014/main" id="{10E55297-215A-4100-8367-A847E654A00E}"/>
              </a:ext>
            </a:extLst>
          </p:cNvPr>
          <p:cNvSpPr>
            <a:spLocks xmlns:a="http://schemas.openxmlformats.org/drawingml/2006/main" noGrp="1"/>
          </p:cNvSpPr>
          <p:nvPr/>
        </p:nvSpPr>
        <p:spPr>
          <a:xfrm xmlns:a="http://schemas.openxmlformats.org/drawingml/2006/main">
            <a:off x="963168" y="2316480"/>
            <a:ext cx="10326624" cy="7071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r>
              <a:rPr sz="1200" i="0">
                <a:solidFill>
                  <a:srgbClr val="FFFFFF"/>
                </a:solidFill>
                <a:latin typeface="Calibri"/>
                <a:ea typeface="Calibri"/>
                <a:cs typeface="Calibri"/>
              </a:rPr>
              <a:t>We seek one defence-resilience design partner to test the three exercises and review recovery decisions over a proposed 90-day pilot.</a:t>
            </a:r>
          </a:p>
        </p:txBody>
      </p:sp>
      <p:sp>
        <p:nvSpPr>
          <p:cNvPr id="381" name="Google Shape;381;p14">
            <a:extLst xmlns:a="http://schemas.openxmlformats.org/drawingml/2006/main">
              <a:ext uri="{FF2B5EF4-FFF2-40B4-BE49-F238E27FC236}">
                <a16:creationId xmlns:a16="http://schemas.microsoft.com/office/drawing/2014/main" id="{ABE5CDC7-C1D3-4445-AD1C-6BC54B953719}"/>
              </a:ext>
            </a:extLst>
          </p:cNvPr>
          <p:cNvSpPr>
            <a:spLocks xmlns:a="http://schemas.openxmlformats.org/drawingml/2006/main" noGrp="1"/>
          </p:cNvSpPr>
          <p:nvPr/>
        </p:nvSpPr>
        <p:spPr>
          <a:xfrm xmlns:a="http://schemas.openxmlformats.org/drawingml/2006/main">
            <a:off x="487680" y="3477472"/>
            <a:ext cx="11216640" cy="3413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333" b="1">
                <a:solidFill>
                  <a:schemeClr val="dk1"/>
                </a:solidFill>
                <a:latin typeface="Calibri"/>
                <a:ea typeface="Calibri"/>
                <a:cs typeface="Calibri"/>
              </a:rPr>
              <a:t>PROPOSED 90-DAY ROADMAP</a:t>
            </a:r>
            <a:endParaRPr sz="1333">
              <a:solidFill>
                <a:schemeClr val="dk1"/>
              </a:solidFill>
              <a:latin typeface="Calibri"/>
              <a:ea typeface="Calibri"/>
              <a:cs typeface="Calibri"/>
            </a:endParaRPr>
          </a:p>
        </p:txBody>
      </p:sp>
      <p:sp>
        <p:nvSpPr>
          <p:cNvPr id="382" name="Google Shape;382;p14">
            <a:extLst xmlns:a="http://schemas.openxmlformats.org/drawingml/2006/main">
              <a:ext uri="{FF2B5EF4-FFF2-40B4-BE49-F238E27FC236}">
                <a16:creationId xmlns:a16="http://schemas.microsoft.com/office/drawing/2014/main" id="{53E38B7C-614E-43B4-8236-6B3979C96723}"/>
              </a:ext>
            </a:extLst>
          </p:cNvPr>
          <p:cNvSpPr>
            <a:spLocks xmlns:a="http://schemas.openxmlformats.org/drawingml/2006/main" noGrp="1"/>
          </p:cNvSpPr>
          <p:nvPr/>
        </p:nvSpPr>
        <p:spPr>
          <a:xfrm xmlns:a="http://schemas.openxmlformats.org/drawingml/2006/main">
            <a:off x="426720" y="3877056"/>
            <a:ext cx="3535680" cy="1926336"/>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83" name="Google Shape;383;p14">
            <a:extLst xmlns:a="http://schemas.openxmlformats.org/drawingml/2006/main">
              <a:ext uri="{FF2B5EF4-FFF2-40B4-BE49-F238E27FC236}">
                <a16:creationId xmlns:a16="http://schemas.microsoft.com/office/drawing/2014/main" id="{BB6C203B-A088-48EB-A2A3-E1A80CB0D4BF}"/>
              </a:ext>
            </a:extLst>
          </p:cNvPr>
          <p:cNvSpPr>
            <a:spLocks xmlns:a="http://schemas.openxmlformats.org/drawingml/2006/main" noGrp="1"/>
          </p:cNvSpPr>
          <p:nvPr/>
        </p:nvSpPr>
        <p:spPr>
          <a:xfrm xmlns:a="http://schemas.openxmlformats.org/drawingml/2006/main">
            <a:off x="548640" y="4201521"/>
            <a:ext cx="3291840" cy="4145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200" b="1">
                <a:solidFill>
                  <a:schemeClr val="lt1"/>
                </a:solidFill>
                <a:latin typeface="Calibri"/>
                <a:ea typeface="Calibri"/>
                <a:cs typeface="Calibri"/>
              </a:rPr>
              <a:t>IMMEDIATE</a:t>
            </a:r>
            <a:endParaRPr sz="1200">
              <a:solidFill>
                <a:schemeClr val="lt1"/>
              </a:solidFill>
              <a:latin typeface="Calibri"/>
              <a:ea typeface="Calibri"/>
              <a:cs typeface="Calibri"/>
            </a:endParaRPr>
          </a:p>
          <a:p xmlns:a="http://schemas.openxmlformats.org/drawingml/2006/main">
            <a:pPr marL="0" marR="0" lvl="0" indent="0" algn="ctr">
              <a:spcBef>
                <a:spcPts val="0"/>
              </a:spcBef>
              <a:spcAft>
                <a:spcPts val="0"/>
              </a:spcAft>
              <a:buNone/>
            </a:pPr>
            <a:r>
              <a:rPr sz="1200" b="1">
                <a:solidFill>
                  <a:schemeClr val="lt1"/>
                </a:solidFill>
                <a:latin typeface="Calibri"/>
                <a:ea typeface="Calibri"/>
                <a:cs typeface="Calibri"/>
              </a:rPr>
              <a:t>(next 30 days)</a:t>
            </a:r>
            <a:endParaRPr sz="1200">
              <a:solidFill>
                <a:schemeClr val="lt1"/>
              </a:solidFill>
              <a:latin typeface="Calibri"/>
              <a:ea typeface="Calibri"/>
              <a:cs typeface="Calibri"/>
            </a:endParaRPr>
          </a:p>
        </p:txBody>
      </p:sp>
      <p:sp>
        <p:nvSpPr>
          <p:cNvPr id="384" name="Google Shape;384;p14">
            <a:extLst xmlns:a="http://schemas.openxmlformats.org/drawingml/2006/main">
              <a:ext uri="{FF2B5EF4-FFF2-40B4-BE49-F238E27FC236}">
                <a16:creationId xmlns:a16="http://schemas.microsoft.com/office/drawing/2014/main" id="{6BDC7511-D84B-446F-A3D5-5608EC64C2D4}"/>
              </a:ext>
            </a:extLst>
          </p:cNvPr>
          <p:cNvSpPr>
            <a:spLocks xmlns:a="http://schemas.openxmlformats.org/drawingml/2006/main" noGrp="1"/>
          </p:cNvSpPr>
          <p:nvPr/>
        </p:nvSpPr>
        <p:spPr>
          <a:xfrm xmlns:a="http://schemas.openxmlformats.org/drawingml/2006/main">
            <a:off x="548640" y="4876800"/>
            <a:ext cx="3291840" cy="829056"/>
          </a:xfrm>
          <a:prstGeom xmlns:a="http://schemas.openxmlformats.org/drawingml/2006/main" prst="rect">
            <a:avLst/>
          </a:prstGeom>
          <a:solidFill xmlns:a="http://schemas.openxmlformats.org/drawingml/2006/main">
            <a:srgbClr val="2D2D2D"/>
          </a:solidFill>
          <a:ln xmlns:a="http://schemas.openxmlformats.org/drawingml/2006/main" w="15225" cap="flat" cmpd="sng">
            <a:solidFill>
              <a:srgbClr val="FFE600"/>
            </a:solidFill>
            <a:prstDash val="dash"/>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85" name="Google Shape;385;p14">
            <a:extLst xmlns:a="http://schemas.openxmlformats.org/drawingml/2006/main">
              <a:ext uri="{FF2B5EF4-FFF2-40B4-BE49-F238E27FC236}">
                <a16:creationId xmlns:a16="http://schemas.microsoft.com/office/drawing/2014/main" id="{43882AAA-F7F5-4C8A-B842-2F4A797A2191}"/>
              </a:ext>
            </a:extLst>
          </p:cNvPr>
          <p:cNvSpPr>
            <a:spLocks xmlns:a="http://schemas.openxmlformats.org/drawingml/2006/main" noGrp="1"/>
          </p:cNvSpPr>
          <p:nvPr/>
        </p:nvSpPr>
        <p:spPr>
          <a:xfrm xmlns:a="http://schemas.openxmlformats.org/drawingml/2006/main">
            <a:off x="719328" y="4998720"/>
            <a:ext cx="2950464" cy="5852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r>
              <a:rPr sz="1200" i="0">
                <a:solidFill>
                  <a:srgbClr val="FFFFFF"/>
                </a:solidFill>
                <a:latin typeface="Calibri"/>
                <a:ea typeface="Calibri"/>
                <a:cs typeface="Calibri"/>
              </a:rPr>
              <a:t>Complete the three-exercise recovery agent and verify replayable results.</a:t>
            </a:r>
          </a:p>
        </p:txBody>
      </p:sp>
      <p:sp>
        <p:nvSpPr>
          <p:cNvPr id="386" name="Google Shape;386;p14">
            <a:extLst xmlns:a="http://schemas.openxmlformats.org/drawingml/2006/main">
              <a:ext uri="{FF2B5EF4-FFF2-40B4-BE49-F238E27FC236}">
                <a16:creationId xmlns:a16="http://schemas.microsoft.com/office/drawing/2014/main" id="{83204B72-0F7E-4615-9266-2A779154FACC}"/>
              </a:ext>
            </a:extLst>
          </p:cNvPr>
          <p:cNvSpPr>
            <a:spLocks xmlns:a="http://schemas.openxmlformats.org/drawingml/2006/main" noGrp="1"/>
          </p:cNvSpPr>
          <p:nvPr/>
        </p:nvSpPr>
        <p:spPr>
          <a:xfrm xmlns:a="http://schemas.openxmlformats.org/drawingml/2006/main">
            <a:off x="4206240" y="3877056"/>
            <a:ext cx="3535680" cy="1926336"/>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87" name="Google Shape;387;p14">
            <a:extLst xmlns:a="http://schemas.openxmlformats.org/drawingml/2006/main">
              <a:ext uri="{FF2B5EF4-FFF2-40B4-BE49-F238E27FC236}">
                <a16:creationId xmlns:a16="http://schemas.microsoft.com/office/drawing/2014/main" id="{03B02F67-D7B3-4584-9261-7E2986B88151}"/>
              </a:ext>
            </a:extLst>
          </p:cNvPr>
          <p:cNvSpPr>
            <a:spLocks xmlns:a="http://schemas.openxmlformats.org/drawingml/2006/main" noGrp="1"/>
          </p:cNvSpPr>
          <p:nvPr/>
        </p:nvSpPr>
        <p:spPr>
          <a:xfrm xmlns:a="http://schemas.openxmlformats.org/drawingml/2006/main">
            <a:off x="4328160" y="4201521"/>
            <a:ext cx="3291840" cy="4145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200" b="1">
                <a:solidFill>
                  <a:schemeClr val="lt1"/>
                </a:solidFill>
                <a:latin typeface="Calibri"/>
                <a:ea typeface="Calibri"/>
                <a:cs typeface="Calibri"/>
              </a:rPr>
              <a:t>SHORT-TERM</a:t>
            </a:r>
            <a:endParaRPr sz="1200">
              <a:solidFill>
                <a:schemeClr val="lt1"/>
              </a:solidFill>
              <a:latin typeface="Calibri"/>
              <a:ea typeface="Calibri"/>
              <a:cs typeface="Calibri"/>
            </a:endParaRPr>
          </a:p>
          <a:p xmlns:a="http://schemas.openxmlformats.org/drawingml/2006/main">
            <a:pPr marL="0" marR="0" lvl="0" indent="0" algn="ctr">
              <a:spcBef>
                <a:spcPts val="0"/>
              </a:spcBef>
              <a:spcAft>
                <a:spcPts val="0"/>
              </a:spcAft>
              <a:buNone/>
            </a:pPr>
            <a:r>
              <a:rPr sz="1200" b="1">
                <a:solidFill>
                  <a:schemeClr val="lt1"/>
                </a:solidFill>
                <a:latin typeface="Calibri"/>
                <a:ea typeface="Calibri"/>
                <a:cs typeface="Calibri"/>
              </a:rPr>
              <a:t>(30-60 days)</a:t>
            </a:r>
            <a:endParaRPr sz="1200">
              <a:solidFill>
                <a:schemeClr val="lt1"/>
              </a:solidFill>
              <a:latin typeface="Calibri"/>
              <a:ea typeface="Calibri"/>
              <a:cs typeface="Calibri"/>
            </a:endParaRPr>
          </a:p>
        </p:txBody>
      </p:sp>
      <p:sp>
        <p:nvSpPr>
          <p:cNvPr id="388" name="Google Shape;388;p14">
            <a:extLst xmlns:a="http://schemas.openxmlformats.org/drawingml/2006/main">
              <a:ext uri="{FF2B5EF4-FFF2-40B4-BE49-F238E27FC236}">
                <a16:creationId xmlns:a16="http://schemas.microsoft.com/office/drawing/2014/main" id="{EF72E2A9-4EBD-4837-821D-1BC9A419C88A}"/>
              </a:ext>
            </a:extLst>
          </p:cNvPr>
          <p:cNvSpPr>
            <a:spLocks xmlns:a="http://schemas.openxmlformats.org/drawingml/2006/main" noGrp="1"/>
          </p:cNvSpPr>
          <p:nvPr/>
        </p:nvSpPr>
        <p:spPr>
          <a:xfrm xmlns:a="http://schemas.openxmlformats.org/drawingml/2006/main">
            <a:off x="4328160" y="4876800"/>
            <a:ext cx="3291840" cy="829056"/>
          </a:xfrm>
          <a:prstGeom xmlns:a="http://schemas.openxmlformats.org/drawingml/2006/main" prst="rect">
            <a:avLst/>
          </a:prstGeom>
          <a:solidFill xmlns:a="http://schemas.openxmlformats.org/drawingml/2006/main">
            <a:srgbClr val="2D2D2D"/>
          </a:solidFill>
          <a:ln xmlns:a="http://schemas.openxmlformats.org/drawingml/2006/main" w="15225" cap="flat" cmpd="sng">
            <a:solidFill>
              <a:srgbClr val="FFE600"/>
            </a:solidFill>
            <a:prstDash val="dash"/>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89" name="Google Shape;389;p14">
            <a:extLst xmlns:a="http://schemas.openxmlformats.org/drawingml/2006/main">
              <a:ext uri="{FF2B5EF4-FFF2-40B4-BE49-F238E27FC236}">
                <a16:creationId xmlns:a16="http://schemas.microsoft.com/office/drawing/2014/main" id="{780B8D04-9AEC-4393-9642-F018AB0FA5AA}"/>
              </a:ext>
            </a:extLst>
          </p:cNvPr>
          <p:cNvSpPr>
            <a:spLocks xmlns:a="http://schemas.openxmlformats.org/drawingml/2006/main" noGrp="1"/>
          </p:cNvSpPr>
          <p:nvPr/>
        </p:nvSpPr>
        <p:spPr>
          <a:xfrm xmlns:a="http://schemas.openxmlformats.org/drawingml/2006/main">
            <a:off x="4498848" y="4998720"/>
            <a:ext cx="2950464" cy="5852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r>
              <a:rPr sz="1200" i="0">
                <a:solidFill>
                  <a:srgbClr val="FFFFFF"/>
                </a:solidFill>
                <a:latin typeface="Calibri"/>
                <a:ea typeface="Calibri"/>
                <a:cs typeface="Calibri"/>
              </a:rPr>
              <a:t>Review dependencies and resource limits with an operator.</a:t>
            </a:r>
          </a:p>
        </p:txBody>
      </p:sp>
      <p:sp>
        <p:nvSpPr>
          <p:cNvPr id="390" name="Google Shape;390;p14">
            <a:extLst xmlns:a="http://schemas.openxmlformats.org/drawingml/2006/main">
              <a:ext uri="{FF2B5EF4-FFF2-40B4-BE49-F238E27FC236}">
                <a16:creationId xmlns:a16="http://schemas.microsoft.com/office/drawing/2014/main" id="{54D2A315-3071-4B2E-BA10-A2D34DD7F91A}"/>
              </a:ext>
            </a:extLst>
          </p:cNvPr>
          <p:cNvSpPr>
            <a:spLocks xmlns:a="http://schemas.openxmlformats.org/drawingml/2006/main" noGrp="1"/>
          </p:cNvSpPr>
          <p:nvPr/>
        </p:nvSpPr>
        <p:spPr>
          <a:xfrm xmlns:a="http://schemas.openxmlformats.org/drawingml/2006/main">
            <a:off x="7985760" y="3877056"/>
            <a:ext cx="3535680" cy="1926336"/>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91" name="Google Shape;391;p14">
            <a:extLst xmlns:a="http://schemas.openxmlformats.org/drawingml/2006/main">
              <a:ext uri="{FF2B5EF4-FFF2-40B4-BE49-F238E27FC236}">
                <a16:creationId xmlns:a16="http://schemas.microsoft.com/office/drawing/2014/main" id="{649B1862-F744-4E70-9C8F-0A5EDCFCA84C}"/>
              </a:ext>
            </a:extLst>
          </p:cNvPr>
          <p:cNvSpPr>
            <a:spLocks xmlns:a="http://schemas.openxmlformats.org/drawingml/2006/main" noGrp="1"/>
          </p:cNvSpPr>
          <p:nvPr/>
        </p:nvSpPr>
        <p:spPr>
          <a:xfrm xmlns:a="http://schemas.openxmlformats.org/drawingml/2006/main">
            <a:off x="8107680" y="4201521"/>
            <a:ext cx="3291840" cy="4145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200" b="1">
                <a:solidFill>
                  <a:schemeClr val="lt1"/>
                </a:solidFill>
                <a:latin typeface="Calibri"/>
                <a:ea typeface="Calibri"/>
                <a:cs typeface="Calibri"/>
              </a:rPr>
              <a:t>MEDIUM-TERM</a:t>
            </a:r>
            <a:endParaRPr sz="1200">
              <a:solidFill>
                <a:schemeClr val="lt1"/>
              </a:solidFill>
              <a:latin typeface="Calibri"/>
              <a:ea typeface="Calibri"/>
              <a:cs typeface="Calibri"/>
            </a:endParaRPr>
          </a:p>
          <a:p xmlns:a="http://schemas.openxmlformats.org/drawingml/2006/main">
            <a:pPr marL="0" marR="0" lvl="0" indent="0" algn="ctr">
              <a:spcBef>
                <a:spcPts val="0"/>
              </a:spcBef>
              <a:spcAft>
                <a:spcPts val="0"/>
              </a:spcAft>
              <a:buNone/>
            </a:pPr>
            <a:r>
              <a:rPr sz="1200" b="1">
                <a:solidFill>
                  <a:schemeClr val="lt1"/>
                </a:solidFill>
                <a:latin typeface="Calibri"/>
                <a:ea typeface="Calibri"/>
                <a:cs typeface="Calibri"/>
              </a:rPr>
              <a:t>(60-90 days)</a:t>
            </a:r>
            <a:endParaRPr sz="1200">
              <a:solidFill>
                <a:schemeClr val="lt1"/>
              </a:solidFill>
              <a:latin typeface="Calibri"/>
              <a:ea typeface="Calibri"/>
              <a:cs typeface="Calibri"/>
            </a:endParaRPr>
          </a:p>
        </p:txBody>
      </p:sp>
      <p:sp>
        <p:nvSpPr>
          <p:cNvPr id="392" name="Google Shape;392;p14">
            <a:extLst xmlns:a="http://schemas.openxmlformats.org/drawingml/2006/main">
              <a:ext uri="{FF2B5EF4-FFF2-40B4-BE49-F238E27FC236}">
                <a16:creationId xmlns:a16="http://schemas.microsoft.com/office/drawing/2014/main" id="{219F32C0-012F-44B3-A3A5-18E1690B8412}"/>
              </a:ext>
            </a:extLst>
          </p:cNvPr>
          <p:cNvSpPr>
            <a:spLocks xmlns:a="http://schemas.openxmlformats.org/drawingml/2006/main" noGrp="1"/>
          </p:cNvSpPr>
          <p:nvPr/>
        </p:nvSpPr>
        <p:spPr>
          <a:xfrm xmlns:a="http://schemas.openxmlformats.org/drawingml/2006/main">
            <a:off x="8107680" y="4876800"/>
            <a:ext cx="3291840" cy="829056"/>
          </a:xfrm>
          <a:prstGeom xmlns:a="http://schemas.openxmlformats.org/drawingml/2006/main" prst="rect">
            <a:avLst/>
          </a:prstGeom>
          <a:solidFill xmlns:a="http://schemas.openxmlformats.org/drawingml/2006/main">
            <a:srgbClr val="2D2D2D"/>
          </a:solidFill>
          <a:ln xmlns:a="http://schemas.openxmlformats.org/drawingml/2006/main" w="15225" cap="flat" cmpd="sng">
            <a:solidFill>
              <a:srgbClr val="FFE600"/>
            </a:solidFill>
            <a:prstDash val="dash"/>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393" name="Google Shape;393;p14">
            <a:extLst xmlns:a="http://schemas.openxmlformats.org/drawingml/2006/main">
              <a:ext uri="{FF2B5EF4-FFF2-40B4-BE49-F238E27FC236}">
                <a16:creationId xmlns:a16="http://schemas.microsoft.com/office/drawing/2014/main" id="{B5761119-5EC9-4011-B3BE-A860BEDBF9FB}"/>
              </a:ext>
            </a:extLst>
          </p:cNvPr>
          <p:cNvSpPr>
            <a:spLocks xmlns:a="http://schemas.openxmlformats.org/drawingml/2006/main" noGrp="1"/>
          </p:cNvSpPr>
          <p:nvPr/>
        </p:nvSpPr>
        <p:spPr>
          <a:xfrm xmlns:a="http://schemas.openxmlformats.org/drawingml/2006/main">
            <a:off x="8278368" y="4998720"/>
            <a:ext cx="2950464" cy="58521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r>
              <a:rPr sz="1200" i="0">
                <a:solidFill>
                  <a:srgbClr val="FFFFFF"/>
                </a:solidFill>
                <a:latin typeface="Calibri"/>
                <a:ea typeface="Calibri"/>
                <a:cs typeface="Calibri"/>
              </a:rPr>
              <a:t>Run a supervised pilot and measure recovery-plan usefulness.</a:t>
            </a:r>
          </a:p>
        </p:txBody>
      </p:sp>
      <p:sp>
        <p:nvSpPr>
          <p:cNvPr id="394" name="Google Shape;394;p14">
            <a:extLst xmlns:a="http://schemas.openxmlformats.org/drawingml/2006/main">
              <a:ext uri="{FF2B5EF4-FFF2-40B4-BE49-F238E27FC236}">
                <a16:creationId xmlns:a16="http://schemas.microsoft.com/office/drawing/2014/main" id="{4E18F648-1676-47D6-9DD3-1797BB173C1C}"/>
              </a:ext>
            </a:extLst>
          </p:cNvPr>
          <p:cNvSpPr>
            <a:spLocks xmlns:a="http://schemas.openxmlformats.org/drawingml/2006/main" noGrp="1"/>
          </p:cNvSpPr>
          <p:nvPr/>
        </p:nvSpPr>
        <p:spPr>
          <a:xfrm xmlns:a="http://schemas.openxmlformats.org/drawingml/2006/main">
            <a:off x="487680" y="6364224"/>
            <a:ext cx="1121664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200" i="1">
                <a:solidFill>
                  <a:srgbClr val="AAAAAA"/>
                </a:solidFill>
                <a:latin typeface="Calibri"/>
                <a:ea typeface="Calibri"/>
                <a:cs typeface="Calibri"/>
              </a:rPr>
              <a:t>Thank you  |  [Your Name]  |  [email]  |  [LinkedIn]</a:t>
            </a:r>
            <a:endParaRPr sz="1200">
              <a:solidFill>
                <a:schemeClr val="dk1"/>
              </a:solidFill>
              <a:latin typeface="Calibri"/>
              <a:ea typeface="Calibri"/>
              <a:cs typeface="Calibri"/>
            </a:endParaRPr>
          </a:p>
        </p:txBody>
      </p:sp>
    </p:spTree>
    <p:extLst>
      <p:ext uri="{BB962C8B-B14F-4D97-AF65-F5344CB8AC3E}">
        <p14:creationId xmlns:p14="http://schemas.microsoft.com/office/powerpoint/2010/main" val="139109903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400" name="Google Shape;400;p15">
            <a:extLst xmlns:a="http://schemas.openxmlformats.org/drawingml/2006/main">
              <a:ext uri="{FF2B5EF4-FFF2-40B4-BE49-F238E27FC236}">
                <a16:creationId xmlns:a16="http://schemas.microsoft.com/office/drawing/2014/main" id="{6A74E53D-5899-4229-850E-FE0F8EDEA473}"/>
              </a:ext>
            </a:extLst>
          </p:cNvPr>
          <p:cNvSpPr>
            <a:spLocks xmlns:a="http://schemas.openxmlformats.org/drawingml/2006/main" noGrp="1"/>
          </p:cNvSpPr>
          <p:nvPr/>
        </p:nvSpPr>
        <p:spPr>
          <a:xfrm xmlns:a="http://schemas.openxmlformats.org/drawingml/2006/main">
            <a:off x="426720" y="268224"/>
            <a:ext cx="2194560" cy="365760"/>
          </a:xfrm>
          <a:prstGeom xmlns:a="http://schemas.openxmlformats.org/drawingml/2006/main" prst="roundRect">
            <a:avLst>
              <a:gd name="adj" fmla="val 50000"/>
            </a:avLst>
          </a:prstGeom>
          <a:solidFill xmlns:a="http://schemas.openxmlformats.org/drawingml/2006/main">
            <a:srgbClr val="AAAAAA"/>
          </a:solidFill>
          <a:ln xmlns:a="http://schemas.openxmlformats.org/drawingml/2006/main" w="12700" cap="flat" cmpd="sng">
            <a:solidFill>
              <a:srgbClr val="AAAAAA"/>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01" name="Google Shape;401;p15">
            <a:extLst xmlns:a="http://schemas.openxmlformats.org/drawingml/2006/main">
              <a:ext uri="{FF2B5EF4-FFF2-40B4-BE49-F238E27FC236}">
                <a16:creationId xmlns:a16="http://schemas.microsoft.com/office/drawing/2014/main" id="{820B53FE-DE8F-487D-9D0D-03264AFC564C}"/>
              </a:ext>
            </a:extLst>
          </p:cNvPr>
          <p:cNvSpPr>
            <a:spLocks xmlns:a="http://schemas.openxmlformats.org/drawingml/2006/main" noGrp="1"/>
          </p:cNvSpPr>
          <p:nvPr/>
        </p:nvSpPr>
        <p:spPr>
          <a:xfrm xmlns:a="http://schemas.openxmlformats.org/drawingml/2006/main">
            <a:off x="426720" y="268224"/>
            <a:ext cx="21945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r>
              <a:rPr sz="1133" b="1">
                <a:solidFill>
                  <a:srgbClr val="1A1A1A"/>
                </a:solidFill>
                <a:latin typeface="Calibri"/>
                <a:ea typeface="Calibri"/>
                <a:cs typeface="Calibri"/>
              </a:rPr>
              <a:t>FOR FACILITATORS / JUDGES</a:t>
            </a:r>
            <a:endParaRPr sz="1133">
              <a:solidFill>
                <a:schemeClr val="dk1"/>
              </a:solidFill>
              <a:latin typeface="Calibri"/>
              <a:ea typeface="Calibri"/>
              <a:cs typeface="Calibri"/>
            </a:endParaRPr>
          </a:p>
        </p:txBody>
      </p:sp>
      <p:sp>
        <p:nvSpPr>
          <p:cNvPr id="402" name="Google Shape;402;p15">
            <a:extLst xmlns:a="http://schemas.openxmlformats.org/drawingml/2006/main">
              <a:ext uri="{FF2B5EF4-FFF2-40B4-BE49-F238E27FC236}">
                <a16:creationId xmlns:a16="http://schemas.microsoft.com/office/drawing/2014/main" id="{3DEBF999-80EE-439E-B61E-6519795EB9BA}"/>
              </a:ext>
            </a:extLst>
          </p:cNvPr>
          <p:cNvSpPr>
            <a:spLocks xmlns:a="http://schemas.openxmlformats.org/drawingml/2006/main" noGrp="1"/>
          </p:cNvSpPr>
          <p:nvPr/>
        </p:nvSpPr>
        <p:spPr>
          <a:xfrm xmlns:a="http://schemas.openxmlformats.org/drawingml/2006/main">
            <a:off x="487680" y="755904"/>
            <a:ext cx="10972800" cy="8290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4800" b="1">
                <a:solidFill>
                  <a:schemeClr val="dk1"/>
                </a:solidFill>
                <a:latin typeface="Calibri"/>
                <a:ea typeface="Calibri"/>
                <a:cs typeface="Calibri"/>
              </a:rPr>
              <a:t>Q&amp;A Cheat Sheet  |  2 Minutes</a:t>
            </a:r>
            <a:endParaRPr sz="4800">
              <a:solidFill>
                <a:schemeClr val="dk1"/>
              </a:solidFill>
              <a:latin typeface="Calibri"/>
              <a:ea typeface="Calibri"/>
              <a:cs typeface="Calibri"/>
            </a:endParaRPr>
          </a:p>
        </p:txBody>
      </p:sp>
      <p:sp>
        <p:nvSpPr>
          <p:cNvPr id="403" name="Google Shape;403;p15">
            <a:extLst xmlns:a="http://schemas.openxmlformats.org/drawingml/2006/main">
              <a:ext uri="{FF2B5EF4-FFF2-40B4-BE49-F238E27FC236}">
                <a16:creationId xmlns:a16="http://schemas.microsoft.com/office/drawing/2014/main" id="{BAF807EA-B714-4F0B-96E4-1E757F36C9F0}"/>
              </a:ext>
            </a:extLst>
          </p:cNvPr>
          <p:cNvSpPr>
            <a:spLocks xmlns:a="http://schemas.openxmlformats.org/drawingml/2006/main" noGrp="1"/>
          </p:cNvSpPr>
          <p:nvPr/>
        </p:nvSpPr>
        <p:spPr>
          <a:xfrm xmlns:a="http://schemas.openxmlformats.org/drawingml/2006/main">
            <a:off x="487680" y="1560576"/>
            <a:ext cx="10972800" cy="3413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600" i="1">
                <a:solidFill>
                  <a:srgbClr val="AAAAAA"/>
                </a:solidFill>
                <a:latin typeface="Calibri"/>
                <a:ea typeface="Calibri"/>
                <a:cs typeface="Calibri"/>
              </a:rPr>
              <a:t>The questions every pitch must survive - prepare your answers before presenting</a:t>
            </a:r>
            <a:endParaRPr sz="1600">
              <a:solidFill>
                <a:schemeClr val="dk1"/>
              </a:solidFill>
              <a:latin typeface="Calibri"/>
              <a:ea typeface="Calibri"/>
              <a:cs typeface="Calibri"/>
            </a:endParaRPr>
          </a:p>
        </p:txBody>
      </p:sp>
      <p:sp>
        <p:nvSpPr>
          <p:cNvPr id="404" name="Google Shape;404;p15">
            <a:extLst xmlns:a="http://schemas.openxmlformats.org/drawingml/2006/main">
              <a:ext uri="{FF2B5EF4-FFF2-40B4-BE49-F238E27FC236}">
                <a16:creationId xmlns:a16="http://schemas.microsoft.com/office/drawing/2014/main" id="{3317F61A-2C00-478C-8CC4-9095CA18AF08}"/>
              </a:ext>
            </a:extLst>
          </p:cNvPr>
          <p:cNvSpPr>
            <a:spLocks xmlns:a="http://schemas.openxmlformats.org/drawingml/2006/main" noGrp="1"/>
          </p:cNvSpPr>
          <p:nvPr/>
        </p:nvSpPr>
        <p:spPr>
          <a:xfrm xmlns:a="http://schemas.openxmlformats.org/drawingml/2006/main">
            <a:off x="426720" y="2097024"/>
            <a:ext cx="5462016" cy="1438656"/>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05" name="Google Shape;405;p15">
            <a:extLst xmlns:a="http://schemas.openxmlformats.org/drawingml/2006/main">
              <a:ext uri="{FF2B5EF4-FFF2-40B4-BE49-F238E27FC236}">
                <a16:creationId xmlns:a16="http://schemas.microsoft.com/office/drawing/2014/main" id="{2F91DDA7-EB2F-4931-9E70-2A8EC690E5EF}"/>
              </a:ext>
            </a:extLst>
          </p:cNvPr>
          <p:cNvSpPr>
            <a:spLocks xmlns:a="http://schemas.openxmlformats.org/drawingml/2006/main" noGrp="1"/>
          </p:cNvSpPr>
          <p:nvPr/>
        </p:nvSpPr>
        <p:spPr>
          <a:xfrm xmlns:a="http://schemas.openxmlformats.org/drawingml/2006/main">
            <a:off x="426720" y="2097024"/>
            <a:ext cx="5462016" cy="121920"/>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06" name="Google Shape;406;p15">
            <a:extLst xmlns:a="http://schemas.openxmlformats.org/drawingml/2006/main">
              <a:ext uri="{FF2B5EF4-FFF2-40B4-BE49-F238E27FC236}">
                <a16:creationId xmlns:a16="http://schemas.microsoft.com/office/drawing/2014/main" id="{38244E74-198A-4D2D-8641-C17C6FF89C8B}"/>
              </a:ext>
            </a:extLst>
          </p:cNvPr>
          <p:cNvSpPr>
            <a:spLocks xmlns:a="http://schemas.openxmlformats.org/drawingml/2006/main" noGrp="1"/>
          </p:cNvSpPr>
          <p:nvPr/>
        </p:nvSpPr>
        <p:spPr>
          <a:xfrm xmlns:a="http://schemas.openxmlformats.org/drawingml/2006/main">
            <a:off x="573024" y="2267712"/>
            <a:ext cx="1828800" cy="268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1">
                <a:solidFill>
                  <a:schemeClr val="lt1"/>
                </a:solidFill>
                <a:latin typeface="Calibri"/>
                <a:ea typeface="Calibri"/>
                <a:cs typeface="Calibri"/>
              </a:rPr>
              <a:t>PROBLEM</a:t>
            </a:r>
            <a:endParaRPr sz="1200">
              <a:solidFill>
                <a:schemeClr val="lt1"/>
              </a:solidFill>
              <a:latin typeface="Calibri"/>
              <a:ea typeface="Calibri"/>
              <a:cs typeface="Calibri"/>
            </a:endParaRPr>
          </a:p>
        </p:txBody>
      </p:sp>
      <p:sp>
        <p:nvSpPr>
          <p:cNvPr id="407" name="Google Shape;407;p15">
            <a:extLst xmlns:a="http://schemas.openxmlformats.org/drawingml/2006/main">
              <a:ext uri="{FF2B5EF4-FFF2-40B4-BE49-F238E27FC236}">
                <a16:creationId xmlns:a16="http://schemas.microsoft.com/office/drawing/2014/main" id="{22B9B246-790F-4D15-AE32-46D8EEA8F8AE}"/>
              </a:ext>
            </a:extLst>
          </p:cNvPr>
          <p:cNvSpPr>
            <a:spLocks xmlns:a="http://schemas.openxmlformats.org/drawingml/2006/main" noGrp="1"/>
          </p:cNvSpPr>
          <p:nvPr/>
        </p:nvSpPr>
        <p:spPr>
          <a:xfrm xmlns:a="http://schemas.openxmlformats.org/drawingml/2006/main">
            <a:off x="682752" y="2572512"/>
            <a:ext cx="219456" cy="219456"/>
          </a:xfrm>
          <a:prstGeom xmlns:a="http://schemas.openxmlformats.org/drawingml/2006/main" prst="ellipse">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08" name="Google Shape;408;p15">
            <a:extLst xmlns:a="http://schemas.openxmlformats.org/drawingml/2006/main">
              <a:ext uri="{FF2B5EF4-FFF2-40B4-BE49-F238E27FC236}">
                <a16:creationId xmlns:a16="http://schemas.microsoft.com/office/drawing/2014/main" id="{252F21F5-86BE-426C-8DCA-9093C572D755}"/>
              </a:ext>
            </a:extLst>
          </p:cNvPr>
          <p:cNvSpPr>
            <a:spLocks xmlns:a="http://schemas.openxmlformats.org/drawingml/2006/main" noGrp="1"/>
          </p:cNvSpPr>
          <p:nvPr/>
        </p:nvSpPr>
        <p:spPr>
          <a:xfrm xmlns:a="http://schemas.openxmlformats.org/drawingml/2006/main">
            <a:off x="975360" y="2560320"/>
            <a:ext cx="475488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67">
                <a:solidFill>
                  <a:srgbClr val="FFFFFF"/>
                </a:solidFill>
                <a:latin typeface="Calibri"/>
                <a:ea typeface="Calibri"/>
                <a:cs typeface="Calibri"/>
              </a:rPr>
              <a:t>How do you know this is a real problem, not just your assumption?</a:t>
            </a:r>
            <a:endParaRPr sz="1267">
              <a:solidFill>
                <a:schemeClr val="dk1"/>
              </a:solidFill>
              <a:latin typeface="Calibri"/>
              <a:ea typeface="Calibri"/>
              <a:cs typeface="Calibri"/>
            </a:endParaRPr>
          </a:p>
        </p:txBody>
      </p:sp>
      <p:sp>
        <p:nvSpPr>
          <p:cNvPr id="409" name="Google Shape;409;p15">
            <a:extLst xmlns:a="http://schemas.openxmlformats.org/drawingml/2006/main">
              <a:ext uri="{FF2B5EF4-FFF2-40B4-BE49-F238E27FC236}">
                <a16:creationId xmlns:a16="http://schemas.microsoft.com/office/drawing/2014/main" id="{3DD49861-819F-4CCB-8A1A-F7D558202527}"/>
              </a:ext>
            </a:extLst>
          </p:cNvPr>
          <p:cNvSpPr>
            <a:spLocks xmlns:a="http://schemas.openxmlformats.org/drawingml/2006/main" noGrp="1"/>
          </p:cNvSpPr>
          <p:nvPr/>
        </p:nvSpPr>
        <p:spPr>
          <a:xfrm xmlns:a="http://schemas.openxmlformats.org/drawingml/2006/main">
            <a:off x="682752" y="2987040"/>
            <a:ext cx="219456" cy="219456"/>
          </a:xfrm>
          <a:prstGeom xmlns:a="http://schemas.openxmlformats.org/drawingml/2006/main" prst="ellipse">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10" name="Google Shape;410;p15">
            <a:extLst xmlns:a="http://schemas.openxmlformats.org/drawingml/2006/main">
              <a:ext uri="{FF2B5EF4-FFF2-40B4-BE49-F238E27FC236}">
                <a16:creationId xmlns:a16="http://schemas.microsoft.com/office/drawing/2014/main" id="{FEB086D1-748B-4619-BFA1-A7B87B5FBC27}"/>
              </a:ext>
            </a:extLst>
          </p:cNvPr>
          <p:cNvSpPr>
            <a:spLocks xmlns:a="http://schemas.openxmlformats.org/drawingml/2006/main" noGrp="1"/>
          </p:cNvSpPr>
          <p:nvPr/>
        </p:nvSpPr>
        <p:spPr>
          <a:xfrm xmlns:a="http://schemas.openxmlformats.org/drawingml/2006/main">
            <a:off x="975360" y="2974848"/>
            <a:ext cx="475488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67">
                <a:solidFill>
                  <a:srgbClr val="FFFFFF"/>
                </a:solidFill>
                <a:latin typeface="Calibri"/>
                <a:ea typeface="Calibri"/>
                <a:cs typeface="Calibri"/>
              </a:rPr>
              <a:t>Who have you spoken to? What did they say?</a:t>
            </a:r>
            <a:endParaRPr sz="1267">
              <a:solidFill>
                <a:schemeClr val="dk1"/>
              </a:solidFill>
              <a:latin typeface="Calibri"/>
              <a:ea typeface="Calibri"/>
              <a:cs typeface="Calibri"/>
            </a:endParaRPr>
          </a:p>
        </p:txBody>
      </p:sp>
      <p:sp>
        <p:nvSpPr>
          <p:cNvPr id="411" name="Google Shape;411;p15">
            <a:extLst xmlns:a="http://schemas.openxmlformats.org/drawingml/2006/main">
              <a:ext uri="{FF2B5EF4-FFF2-40B4-BE49-F238E27FC236}">
                <a16:creationId xmlns:a16="http://schemas.microsoft.com/office/drawing/2014/main" id="{38FFE694-61D5-4928-9C4C-20A78B1E3A4C}"/>
              </a:ext>
            </a:extLst>
          </p:cNvPr>
          <p:cNvSpPr>
            <a:spLocks xmlns:a="http://schemas.openxmlformats.org/drawingml/2006/main" noGrp="1"/>
          </p:cNvSpPr>
          <p:nvPr/>
        </p:nvSpPr>
        <p:spPr>
          <a:xfrm xmlns:a="http://schemas.openxmlformats.org/drawingml/2006/main">
            <a:off x="6156960" y="2097024"/>
            <a:ext cx="5462016" cy="1438656"/>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12" name="Google Shape;412;p15">
            <a:extLst xmlns:a="http://schemas.openxmlformats.org/drawingml/2006/main">
              <a:ext uri="{FF2B5EF4-FFF2-40B4-BE49-F238E27FC236}">
                <a16:creationId xmlns:a16="http://schemas.microsoft.com/office/drawing/2014/main" id="{7E74DD5E-CF33-4088-84A9-90B4BC37FC45}"/>
              </a:ext>
            </a:extLst>
          </p:cNvPr>
          <p:cNvSpPr>
            <a:spLocks xmlns:a="http://schemas.openxmlformats.org/drawingml/2006/main" noGrp="1"/>
          </p:cNvSpPr>
          <p:nvPr/>
        </p:nvSpPr>
        <p:spPr>
          <a:xfrm xmlns:a="http://schemas.openxmlformats.org/drawingml/2006/main">
            <a:off x="6156960" y="2097024"/>
            <a:ext cx="5462016" cy="121920"/>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13" name="Google Shape;413;p15">
            <a:extLst xmlns:a="http://schemas.openxmlformats.org/drawingml/2006/main">
              <a:ext uri="{FF2B5EF4-FFF2-40B4-BE49-F238E27FC236}">
                <a16:creationId xmlns:a16="http://schemas.microsoft.com/office/drawing/2014/main" id="{EDE54ACD-08AA-4F12-86A1-3E8EDBC4699A}"/>
              </a:ext>
            </a:extLst>
          </p:cNvPr>
          <p:cNvSpPr>
            <a:spLocks xmlns:a="http://schemas.openxmlformats.org/drawingml/2006/main" noGrp="1"/>
          </p:cNvSpPr>
          <p:nvPr/>
        </p:nvSpPr>
        <p:spPr>
          <a:xfrm xmlns:a="http://schemas.openxmlformats.org/drawingml/2006/main">
            <a:off x="6303264" y="2267712"/>
            <a:ext cx="1828800" cy="268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1">
                <a:solidFill>
                  <a:schemeClr val="lt1"/>
                </a:solidFill>
                <a:latin typeface="Calibri"/>
                <a:ea typeface="Calibri"/>
                <a:cs typeface="Calibri"/>
              </a:rPr>
              <a:t>SOLUTION</a:t>
            </a:r>
            <a:endParaRPr sz="1200">
              <a:solidFill>
                <a:schemeClr val="lt1"/>
              </a:solidFill>
              <a:latin typeface="Calibri"/>
              <a:ea typeface="Calibri"/>
              <a:cs typeface="Calibri"/>
            </a:endParaRPr>
          </a:p>
        </p:txBody>
      </p:sp>
      <p:sp>
        <p:nvSpPr>
          <p:cNvPr id="414" name="Google Shape;414;p15">
            <a:extLst xmlns:a="http://schemas.openxmlformats.org/drawingml/2006/main">
              <a:ext uri="{FF2B5EF4-FFF2-40B4-BE49-F238E27FC236}">
                <a16:creationId xmlns:a16="http://schemas.microsoft.com/office/drawing/2014/main" id="{4368CBCC-DC17-414A-B0D6-424597CFB228}"/>
              </a:ext>
            </a:extLst>
          </p:cNvPr>
          <p:cNvSpPr>
            <a:spLocks xmlns:a="http://schemas.openxmlformats.org/drawingml/2006/main" noGrp="1"/>
          </p:cNvSpPr>
          <p:nvPr/>
        </p:nvSpPr>
        <p:spPr>
          <a:xfrm xmlns:a="http://schemas.openxmlformats.org/drawingml/2006/main">
            <a:off x="6412992" y="2572512"/>
            <a:ext cx="219456" cy="219456"/>
          </a:xfrm>
          <a:prstGeom xmlns:a="http://schemas.openxmlformats.org/drawingml/2006/main" prst="ellipse">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15" name="Google Shape;415;p15">
            <a:extLst xmlns:a="http://schemas.openxmlformats.org/drawingml/2006/main">
              <a:ext uri="{FF2B5EF4-FFF2-40B4-BE49-F238E27FC236}">
                <a16:creationId xmlns:a16="http://schemas.microsoft.com/office/drawing/2014/main" id="{DF96E013-5AA4-4F39-B409-88657C63CCE4}"/>
              </a:ext>
            </a:extLst>
          </p:cNvPr>
          <p:cNvSpPr>
            <a:spLocks xmlns:a="http://schemas.openxmlformats.org/drawingml/2006/main" noGrp="1"/>
          </p:cNvSpPr>
          <p:nvPr/>
        </p:nvSpPr>
        <p:spPr>
          <a:xfrm xmlns:a="http://schemas.openxmlformats.org/drawingml/2006/main">
            <a:off x="6705600" y="2560320"/>
            <a:ext cx="475488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67">
                <a:solidFill>
                  <a:srgbClr val="FFFFFF"/>
                </a:solidFill>
                <a:latin typeface="Calibri"/>
                <a:ea typeface="Calibri"/>
                <a:cs typeface="Calibri"/>
              </a:rPr>
              <a:t>Why has no one solved this already?</a:t>
            </a:r>
            <a:endParaRPr sz="1267">
              <a:solidFill>
                <a:schemeClr val="dk1"/>
              </a:solidFill>
              <a:latin typeface="Calibri"/>
              <a:ea typeface="Calibri"/>
              <a:cs typeface="Calibri"/>
            </a:endParaRPr>
          </a:p>
        </p:txBody>
      </p:sp>
      <p:sp>
        <p:nvSpPr>
          <p:cNvPr id="416" name="Google Shape;416;p15">
            <a:extLst xmlns:a="http://schemas.openxmlformats.org/drawingml/2006/main">
              <a:ext uri="{FF2B5EF4-FFF2-40B4-BE49-F238E27FC236}">
                <a16:creationId xmlns:a16="http://schemas.microsoft.com/office/drawing/2014/main" id="{434EFB00-3D95-43FE-9CD6-66F9220D54F4}"/>
              </a:ext>
            </a:extLst>
          </p:cNvPr>
          <p:cNvSpPr>
            <a:spLocks xmlns:a="http://schemas.openxmlformats.org/drawingml/2006/main" noGrp="1"/>
          </p:cNvSpPr>
          <p:nvPr/>
        </p:nvSpPr>
        <p:spPr>
          <a:xfrm xmlns:a="http://schemas.openxmlformats.org/drawingml/2006/main">
            <a:off x="6412992" y="2987040"/>
            <a:ext cx="219456" cy="219456"/>
          </a:xfrm>
          <a:prstGeom xmlns:a="http://schemas.openxmlformats.org/drawingml/2006/main" prst="ellipse">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17" name="Google Shape;417;p15">
            <a:extLst xmlns:a="http://schemas.openxmlformats.org/drawingml/2006/main">
              <a:ext uri="{FF2B5EF4-FFF2-40B4-BE49-F238E27FC236}">
                <a16:creationId xmlns:a16="http://schemas.microsoft.com/office/drawing/2014/main" id="{E7327519-05B3-4829-B52D-652410603974}"/>
              </a:ext>
            </a:extLst>
          </p:cNvPr>
          <p:cNvSpPr>
            <a:spLocks xmlns:a="http://schemas.openxmlformats.org/drawingml/2006/main" noGrp="1"/>
          </p:cNvSpPr>
          <p:nvPr/>
        </p:nvSpPr>
        <p:spPr>
          <a:xfrm xmlns:a="http://schemas.openxmlformats.org/drawingml/2006/main">
            <a:off x="6705600" y="2974848"/>
            <a:ext cx="475488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67">
                <a:solidFill>
                  <a:srgbClr val="FFFFFF"/>
                </a:solidFill>
                <a:latin typeface="Calibri"/>
                <a:ea typeface="Calibri"/>
                <a:cs typeface="Calibri"/>
              </a:rPr>
              <a:t>What happens if a large player copies you tomorrow?</a:t>
            </a:r>
            <a:endParaRPr sz="1267">
              <a:solidFill>
                <a:schemeClr val="dk1"/>
              </a:solidFill>
              <a:latin typeface="Calibri"/>
              <a:ea typeface="Calibri"/>
              <a:cs typeface="Calibri"/>
            </a:endParaRPr>
          </a:p>
        </p:txBody>
      </p:sp>
      <p:sp>
        <p:nvSpPr>
          <p:cNvPr id="418" name="Google Shape;418;p15">
            <a:extLst xmlns:a="http://schemas.openxmlformats.org/drawingml/2006/main">
              <a:ext uri="{FF2B5EF4-FFF2-40B4-BE49-F238E27FC236}">
                <a16:creationId xmlns:a16="http://schemas.microsoft.com/office/drawing/2014/main" id="{9CD4EC91-92BB-45A7-9A89-E9C7DD7B5B4D}"/>
              </a:ext>
            </a:extLst>
          </p:cNvPr>
          <p:cNvSpPr>
            <a:spLocks xmlns:a="http://schemas.openxmlformats.org/drawingml/2006/main" noGrp="1"/>
          </p:cNvSpPr>
          <p:nvPr/>
        </p:nvSpPr>
        <p:spPr>
          <a:xfrm xmlns:a="http://schemas.openxmlformats.org/drawingml/2006/main">
            <a:off x="426720" y="3633216"/>
            <a:ext cx="5462016" cy="1438656"/>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19" name="Google Shape;419;p15">
            <a:extLst xmlns:a="http://schemas.openxmlformats.org/drawingml/2006/main">
              <a:ext uri="{FF2B5EF4-FFF2-40B4-BE49-F238E27FC236}">
                <a16:creationId xmlns:a16="http://schemas.microsoft.com/office/drawing/2014/main" id="{38EACFB8-31BF-4C69-BD31-5EDED8D09146}"/>
              </a:ext>
            </a:extLst>
          </p:cNvPr>
          <p:cNvSpPr>
            <a:spLocks xmlns:a="http://schemas.openxmlformats.org/drawingml/2006/main" noGrp="1"/>
          </p:cNvSpPr>
          <p:nvPr/>
        </p:nvSpPr>
        <p:spPr>
          <a:xfrm xmlns:a="http://schemas.openxmlformats.org/drawingml/2006/main">
            <a:off x="426720" y="3633216"/>
            <a:ext cx="5462016" cy="121920"/>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20" name="Google Shape;420;p15">
            <a:extLst xmlns:a="http://schemas.openxmlformats.org/drawingml/2006/main">
              <a:ext uri="{FF2B5EF4-FFF2-40B4-BE49-F238E27FC236}">
                <a16:creationId xmlns:a16="http://schemas.microsoft.com/office/drawing/2014/main" id="{6D95D04F-031D-4EAC-B287-025BE8451805}"/>
              </a:ext>
            </a:extLst>
          </p:cNvPr>
          <p:cNvSpPr>
            <a:spLocks xmlns:a="http://schemas.openxmlformats.org/drawingml/2006/main" noGrp="1"/>
          </p:cNvSpPr>
          <p:nvPr/>
        </p:nvSpPr>
        <p:spPr>
          <a:xfrm xmlns:a="http://schemas.openxmlformats.org/drawingml/2006/main">
            <a:off x="573024" y="3803904"/>
            <a:ext cx="1828800" cy="268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1">
                <a:solidFill>
                  <a:schemeClr val="lt1"/>
                </a:solidFill>
                <a:latin typeface="Calibri"/>
                <a:ea typeface="Calibri"/>
                <a:cs typeface="Calibri"/>
              </a:rPr>
              <a:t>MARKET</a:t>
            </a:r>
            <a:endParaRPr sz="1200">
              <a:solidFill>
                <a:schemeClr val="lt1"/>
              </a:solidFill>
              <a:latin typeface="Calibri"/>
              <a:ea typeface="Calibri"/>
              <a:cs typeface="Calibri"/>
            </a:endParaRPr>
          </a:p>
        </p:txBody>
      </p:sp>
      <p:sp>
        <p:nvSpPr>
          <p:cNvPr id="421" name="Google Shape;421;p15">
            <a:extLst xmlns:a="http://schemas.openxmlformats.org/drawingml/2006/main">
              <a:ext uri="{FF2B5EF4-FFF2-40B4-BE49-F238E27FC236}">
                <a16:creationId xmlns:a16="http://schemas.microsoft.com/office/drawing/2014/main" id="{A37B364E-8E5F-4211-B0D8-84C39DE547A6}"/>
              </a:ext>
            </a:extLst>
          </p:cNvPr>
          <p:cNvSpPr>
            <a:spLocks xmlns:a="http://schemas.openxmlformats.org/drawingml/2006/main" noGrp="1"/>
          </p:cNvSpPr>
          <p:nvPr/>
        </p:nvSpPr>
        <p:spPr>
          <a:xfrm xmlns:a="http://schemas.openxmlformats.org/drawingml/2006/main">
            <a:off x="682752" y="4108704"/>
            <a:ext cx="219456" cy="219456"/>
          </a:xfrm>
          <a:prstGeom xmlns:a="http://schemas.openxmlformats.org/drawingml/2006/main" prst="ellipse">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22" name="Google Shape;422;p15">
            <a:extLst xmlns:a="http://schemas.openxmlformats.org/drawingml/2006/main">
              <a:ext uri="{FF2B5EF4-FFF2-40B4-BE49-F238E27FC236}">
                <a16:creationId xmlns:a16="http://schemas.microsoft.com/office/drawing/2014/main" id="{633B73D3-6CCA-459D-9EAE-2FECFDBCA8DD}"/>
              </a:ext>
            </a:extLst>
          </p:cNvPr>
          <p:cNvSpPr>
            <a:spLocks xmlns:a="http://schemas.openxmlformats.org/drawingml/2006/main" noGrp="1"/>
          </p:cNvSpPr>
          <p:nvPr/>
        </p:nvSpPr>
        <p:spPr>
          <a:xfrm xmlns:a="http://schemas.openxmlformats.org/drawingml/2006/main">
            <a:off x="975360" y="4096512"/>
            <a:ext cx="475488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67">
                <a:solidFill>
                  <a:srgbClr val="FFFFFF"/>
                </a:solidFill>
                <a:latin typeface="Calibri"/>
                <a:ea typeface="Calibri"/>
                <a:cs typeface="Calibri"/>
              </a:rPr>
              <a:t>How big is the market, and how did you calculate that?</a:t>
            </a:r>
            <a:endParaRPr sz="1267">
              <a:solidFill>
                <a:schemeClr val="dk1"/>
              </a:solidFill>
              <a:latin typeface="Calibri"/>
              <a:ea typeface="Calibri"/>
              <a:cs typeface="Calibri"/>
            </a:endParaRPr>
          </a:p>
        </p:txBody>
      </p:sp>
      <p:sp>
        <p:nvSpPr>
          <p:cNvPr id="423" name="Google Shape;423;p15">
            <a:extLst xmlns:a="http://schemas.openxmlformats.org/drawingml/2006/main">
              <a:ext uri="{FF2B5EF4-FFF2-40B4-BE49-F238E27FC236}">
                <a16:creationId xmlns:a16="http://schemas.microsoft.com/office/drawing/2014/main" id="{358C9FAA-4828-41B5-991B-732832BEEF4C}"/>
              </a:ext>
            </a:extLst>
          </p:cNvPr>
          <p:cNvSpPr>
            <a:spLocks xmlns:a="http://schemas.openxmlformats.org/drawingml/2006/main" noGrp="1"/>
          </p:cNvSpPr>
          <p:nvPr/>
        </p:nvSpPr>
        <p:spPr>
          <a:xfrm xmlns:a="http://schemas.openxmlformats.org/drawingml/2006/main">
            <a:off x="682752" y="4523232"/>
            <a:ext cx="219456" cy="219456"/>
          </a:xfrm>
          <a:prstGeom xmlns:a="http://schemas.openxmlformats.org/drawingml/2006/main" prst="ellipse">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24" name="Google Shape;424;p15">
            <a:extLst xmlns:a="http://schemas.openxmlformats.org/drawingml/2006/main">
              <a:ext uri="{FF2B5EF4-FFF2-40B4-BE49-F238E27FC236}">
                <a16:creationId xmlns:a16="http://schemas.microsoft.com/office/drawing/2014/main" id="{C3E4F9F6-0C41-498D-A372-2820E7E87391}"/>
              </a:ext>
            </a:extLst>
          </p:cNvPr>
          <p:cNvSpPr>
            <a:spLocks xmlns:a="http://schemas.openxmlformats.org/drawingml/2006/main" noGrp="1"/>
          </p:cNvSpPr>
          <p:nvPr/>
        </p:nvSpPr>
        <p:spPr>
          <a:xfrm xmlns:a="http://schemas.openxmlformats.org/drawingml/2006/main">
            <a:off x="975360" y="4511040"/>
            <a:ext cx="475488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67">
                <a:solidFill>
                  <a:srgbClr val="FFFFFF"/>
                </a:solidFill>
                <a:latin typeface="Calibri"/>
                <a:ea typeface="Calibri"/>
                <a:cs typeface="Calibri"/>
              </a:rPr>
              <a:t>Who is your first customer, specifically?</a:t>
            </a:r>
            <a:endParaRPr sz="1267">
              <a:solidFill>
                <a:schemeClr val="dk1"/>
              </a:solidFill>
              <a:latin typeface="Calibri"/>
              <a:ea typeface="Calibri"/>
              <a:cs typeface="Calibri"/>
            </a:endParaRPr>
          </a:p>
        </p:txBody>
      </p:sp>
      <p:sp>
        <p:nvSpPr>
          <p:cNvPr id="425" name="Google Shape;425;p15">
            <a:extLst xmlns:a="http://schemas.openxmlformats.org/drawingml/2006/main">
              <a:ext uri="{FF2B5EF4-FFF2-40B4-BE49-F238E27FC236}">
                <a16:creationId xmlns:a16="http://schemas.microsoft.com/office/drawing/2014/main" id="{6A3DF3F8-5920-4517-8BB7-D273815468D7}"/>
              </a:ext>
            </a:extLst>
          </p:cNvPr>
          <p:cNvSpPr>
            <a:spLocks xmlns:a="http://schemas.openxmlformats.org/drawingml/2006/main" noGrp="1"/>
          </p:cNvSpPr>
          <p:nvPr/>
        </p:nvSpPr>
        <p:spPr>
          <a:xfrm xmlns:a="http://schemas.openxmlformats.org/drawingml/2006/main">
            <a:off x="6156960" y="3633216"/>
            <a:ext cx="5462016" cy="1438656"/>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26" name="Google Shape;426;p15">
            <a:extLst xmlns:a="http://schemas.openxmlformats.org/drawingml/2006/main">
              <a:ext uri="{FF2B5EF4-FFF2-40B4-BE49-F238E27FC236}">
                <a16:creationId xmlns:a16="http://schemas.microsoft.com/office/drawing/2014/main" id="{61981F59-A052-4D13-9559-FD5D5F2DB608}"/>
              </a:ext>
            </a:extLst>
          </p:cNvPr>
          <p:cNvSpPr>
            <a:spLocks xmlns:a="http://schemas.openxmlformats.org/drawingml/2006/main" noGrp="1"/>
          </p:cNvSpPr>
          <p:nvPr/>
        </p:nvSpPr>
        <p:spPr>
          <a:xfrm xmlns:a="http://schemas.openxmlformats.org/drawingml/2006/main">
            <a:off x="6156960" y="3633216"/>
            <a:ext cx="5462016" cy="121920"/>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27" name="Google Shape;427;p15">
            <a:extLst xmlns:a="http://schemas.openxmlformats.org/drawingml/2006/main">
              <a:ext uri="{FF2B5EF4-FFF2-40B4-BE49-F238E27FC236}">
                <a16:creationId xmlns:a16="http://schemas.microsoft.com/office/drawing/2014/main" id="{E7BA4313-3296-4C07-8F3B-A849A4E983C9}"/>
              </a:ext>
            </a:extLst>
          </p:cNvPr>
          <p:cNvSpPr>
            <a:spLocks xmlns:a="http://schemas.openxmlformats.org/drawingml/2006/main" noGrp="1"/>
          </p:cNvSpPr>
          <p:nvPr/>
        </p:nvSpPr>
        <p:spPr>
          <a:xfrm xmlns:a="http://schemas.openxmlformats.org/drawingml/2006/main">
            <a:off x="6303264" y="3803904"/>
            <a:ext cx="1828800" cy="268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1">
                <a:solidFill>
                  <a:schemeClr val="lt1"/>
                </a:solidFill>
                <a:latin typeface="Calibri"/>
                <a:ea typeface="Calibri"/>
                <a:cs typeface="Calibri"/>
              </a:rPr>
              <a:t>TEAM</a:t>
            </a:r>
            <a:endParaRPr sz="1200">
              <a:solidFill>
                <a:schemeClr val="lt1"/>
              </a:solidFill>
              <a:latin typeface="Calibri"/>
              <a:ea typeface="Calibri"/>
              <a:cs typeface="Calibri"/>
            </a:endParaRPr>
          </a:p>
        </p:txBody>
      </p:sp>
      <p:sp>
        <p:nvSpPr>
          <p:cNvPr id="428" name="Google Shape;428;p15">
            <a:extLst xmlns:a="http://schemas.openxmlformats.org/drawingml/2006/main">
              <a:ext uri="{FF2B5EF4-FFF2-40B4-BE49-F238E27FC236}">
                <a16:creationId xmlns:a16="http://schemas.microsoft.com/office/drawing/2014/main" id="{CB2659A9-FD07-43ED-AFB6-3DAB141F01B9}"/>
              </a:ext>
            </a:extLst>
          </p:cNvPr>
          <p:cNvSpPr>
            <a:spLocks xmlns:a="http://schemas.openxmlformats.org/drawingml/2006/main" noGrp="1"/>
          </p:cNvSpPr>
          <p:nvPr/>
        </p:nvSpPr>
        <p:spPr>
          <a:xfrm xmlns:a="http://schemas.openxmlformats.org/drawingml/2006/main">
            <a:off x="6412992" y="4108704"/>
            <a:ext cx="219456" cy="219456"/>
          </a:xfrm>
          <a:prstGeom xmlns:a="http://schemas.openxmlformats.org/drawingml/2006/main" prst="ellipse">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29" name="Google Shape;429;p15">
            <a:extLst xmlns:a="http://schemas.openxmlformats.org/drawingml/2006/main">
              <a:ext uri="{FF2B5EF4-FFF2-40B4-BE49-F238E27FC236}">
                <a16:creationId xmlns:a16="http://schemas.microsoft.com/office/drawing/2014/main" id="{98E2BA56-479F-453E-9609-653B41277CBD}"/>
              </a:ext>
            </a:extLst>
          </p:cNvPr>
          <p:cNvSpPr>
            <a:spLocks xmlns:a="http://schemas.openxmlformats.org/drawingml/2006/main" noGrp="1"/>
          </p:cNvSpPr>
          <p:nvPr/>
        </p:nvSpPr>
        <p:spPr>
          <a:xfrm xmlns:a="http://schemas.openxmlformats.org/drawingml/2006/main">
            <a:off x="6705600" y="4096512"/>
            <a:ext cx="475488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67">
                <a:solidFill>
                  <a:srgbClr val="FFFFFF"/>
                </a:solidFill>
                <a:latin typeface="Calibri"/>
                <a:ea typeface="Calibri"/>
                <a:cs typeface="Calibri"/>
              </a:rPr>
              <a:t>Why are YOU the right team for this?</a:t>
            </a:r>
            <a:endParaRPr sz="1267">
              <a:solidFill>
                <a:schemeClr val="dk1"/>
              </a:solidFill>
              <a:latin typeface="Calibri"/>
              <a:ea typeface="Calibri"/>
              <a:cs typeface="Calibri"/>
            </a:endParaRPr>
          </a:p>
        </p:txBody>
      </p:sp>
      <p:sp>
        <p:nvSpPr>
          <p:cNvPr id="430" name="Google Shape;430;p15">
            <a:extLst xmlns:a="http://schemas.openxmlformats.org/drawingml/2006/main">
              <a:ext uri="{FF2B5EF4-FFF2-40B4-BE49-F238E27FC236}">
                <a16:creationId xmlns:a16="http://schemas.microsoft.com/office/drawing/2014/main" id="{7D864CB0-7B74-42FE-8253-93DF3BAD19C9}"/>
              </a:ext>
            </a:extLst>
          </p:cNvPr>
          <p:cNvSpPr>
            <a:spLocks xmlns:a="http://schemas.openxmlformats.org/drawingml/2006/main" noGrp="1"/>
          </p:cNvSpPr>
          <p:nvPr/>
        </p:nvSpPr>
        <p:spPr>
          <a:xfrm xmlns:a="http://schemas.openxmlformats.org/drawingml/2006/main">
            <a:off x="6412992" y="4523232"/>
            <a:ext cx="219456" cy="219456"/>
          </a:xfrm>
          <a:prstGeom xmlns:a="http://schemas.openxmlformats.org/drawingml/2006/main" prst="ellipse">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31" name="Google Shape;431;p15">
            <a:extLst xmlns:a="http://schemas.openxmlformats.org/drawingml/2006/main">
              <a:ext uri="{FF2B5EF4-FFF2-40B4-BE49-F238E27FC236}">
                <a16:creationId xmlns:a16="http://schemas.microsoft.com/office/drawing/2014/main" id="{FF48A172-F338-4585-B0B6-B605B550987F}"/>
              </a:ext>
            </a:extLst>
          </p:cNvPr>
          <p:cNvSpPr>
            <a:spLocks xmlns:a="http://schemas.openxmlformats.org/drawingml/2006/main" noGrp="1"/>
          </p:cNvSpPr>
          <p:nvPr/>
        </p:nvSpPr>
        <p:spPr>
          <a:xfrm xmlns:a="http://schemas.openxmlformats.org/drawingml/2006/main">
            <a:off x="6705600" y="4511040"/>
            <a:ext cx="475488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67">
                <a:solidFill>
                  <a:srgbClr val="FFFFFF"/>
                </a:solidFill>
                <a:latin typeface="Calibri"/>
                <a:ea typeface="Calibri"/>
                <a:cs typeface="Calibri"/>
              </a:rPr>
              <a:t>What is the most important thing you are missing?</a:t>
            </a:r>
            <a:endParaRPr sz="1267">
              <a:solidFill>
                <a:schemeClr val="dk1"/>
              </a:solidFill>
              <a:latin typeface="Calibri"/>
              <a:ea typeface="Calibri"/>
              <a:cs typeface="Calibri"/>
            </a:endParaRPr>
          </a:p>
        </p:txBody>
      </p:sp>
      <p:sp>
        <p:nvSpPr>
          <p:cNvPr id="432" name="Google Shape;432;p15">
            <a:extLst xmlns:a="http://schemas.openxmlformats.org/drawingml/2006/main">
              <a:ext uri="{FF2B5EF4-FFF2-40B4-BE49-F238E27FC236}">
                <a16:creationId xmlns:a16="http://schemas.microsoft.com/office/drawing/2014/main" id="{385608CA-E72A-47E1-A3D5-FDBEC176109F}"/>
              </a:ext>
            </a:extLst>
          </p:cNvPr>
          <p:cNvSpPr>
            <a:spLocks xmlns:a="http://schemas.openxmlformats.org/drawingml/2006/main" noGrp="1"/>
          </p:cNvSpPr>
          <p:nvPr/>
        </p:nvSpPr>
        <p:spPr>
          <a:xfrm xmlns:a="http://schemas.openxmlformats.org/drawingml/2006/main">
            <a:off x="426720" y="5169408"/>
            <a:ext cx="5462016" cy="1438656"/>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33" name="Google Shape;433;p15">
            <a:extLst xmlns:a="http://schemas.openxmlformats.org/drawingml/2006/main">
              <a:ext uri="{FF2B5EF4-FFF2-40B4-BE49-F238E27FC236}">
                <a16:creationId xmlns:a16="http://schemas.microsoft.com/office/drawing/2014/main" id="{93C573BA-58E3-4E59-952F-4037FC360CCD}"/>
              </a:ext>
            </a:extLst>
          </p:cNvPr>
          <p:cNvSpPr>
            <a:spLocks xmlns:a="http://schemas.openxmlformats.org/drawingml/2006/main" noGrp="1"/>
          </p:cNvSpPr>
          <p:nvPr/>
        </p:nvSpPr>
        <p:spPr>
          <a:xfrm xmlns:a="http://schemas.openxmlformats.org/drawingml/2006/main">
            <a:off x="426720" y="5169408"/>
            <a:ext cx="5462016" cy="121920"/>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34" name="Google Shape;434;p15">
            <a:extLst xmlns:a="http://schemas.openxmlformats.org/drawingml/2006/main">
              <a:ext uri="{FF2B5EF4-FFF2-40B4-BE49-F238E27FC236}">
                <a16:creationId xmlns:a16="http://schemas.microsoft.com/office/drawing/2014/main" id="{CA65C683-E75E-40D1-A1C5-805E833E30BB}"/>
              </a:ext>
            </a:extLst>
          </p:cNvPr>
          <p:cNvSpPr>
            <a:spLocks xmlns:a="http://schemas.openxmlformats.org/drawingml/2006/main" noGrp="1"/>
          </p:cNvSpPr>
          <p:nvPr/>
        </p:nvSpPr>
        <p:spPr>
          <a:xfrm xmlns:a="http://schemas.openxmlformats.org/drawingml/2006/main">
            <a:off x="573024" y="5340096"/>
            <a:ext cx="1828800" cy="268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1">
                <a:solidFill>
                  <a:schemeClr val="lt1"/>
                </a:solidFill>
                <a:latin typeface="Calibri"/>
                <a:ea typeface="Calibri"/>
                <a:cs typeface="Calibri"/>
              </a:rPr>
              <a:t>ASK</a:t>
            </a:r>
            <a:endParaRPr sz="1200">
              <a:solidFill>
                <a:schemeClr val="lt1"/>
              </a:solidFill>
              <a:latin typeface="Calibri"/>
              <a:ea typeface="Calibri"/>
              <a:cs typeface="Calibri"/>
            </a:endParaRPr>
          </a:p>
        </p:txBody>
      </p:sp>
      <p:sp>
        <p:nvSpPr>
          <p:cNvPr id="435" name="Google Shape;435;p15">
            <a:extLst xmlns:a="http://schemas.openxmlformats.org/drawingml/2006/main">
              <a:ext uri="{FF2B5EF4-FFF2-40B4-BE49-F238E27FC236}">
                <a16:creationId xmlns:a16="http://schemas.microsoft.com/office/drawing/2014/main" id="{6FAD1EC6-E7D6-4774-8632-C6F66B981B70}"/>
              </a:ext>
            </a:extLst>
          </p:cNvPr>
          <p:cNvSpPr>
            <a:spLocks xmlns:a="http://schemas.openxmlformats.org/drawingml/2006/main" noGrp="1"/>
          </p:cNvSpPr>
          <p:nvPr/>
        </p:nvSpPr>
        <p:spPr>
          <a:xfrm xmlns:a="http://schemas.openxmlformats.org/drawingml/2006/main">
            <a:off x="682752" y="5644896"/>
            <a:ext cx="219456" cy="219456"/>
          </a:xfrm>
          <a:prstGeom xmlns:a="http://schemas.openxmlformats.org/drawingml/2006/main" prst="ellipse">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36" name="Google Shape;436;p15">
            <a:extLst xmlns:a="http://schemas.openxmlformats.org/drawingml/2006/main">
              <a:ext uri="{FF2B5EF4-FFF2-40B4-BE49-F238E27FC236}">
                <a16:creationId xmlns:a16="http://schemas.microsoft.com/office/drawing/2014/main" id="{1B0635BC-B0F6-4573-AB0D-5EB2D2260642}"/>
              </a:ext>
            </a:extLst>
          </p:cNvPr>
          <p:cNvSpPr>
            <a:spLocks xmlns:a="http://schemas.openxmlformats.org/drawingml/2006/main" noGrp="1"/>
          </p:cNvSpPr>
          <p:nvPr/>
        </p:nvSpPr>
        <p:spPr>
          <a:xfrm xmlns:a="http://schemas.openxmlformats.org/drawingml/2006/main">
            <a:off x="975360" y="5632704"/>
            <a:ext cx="475488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67">
                <a:solidFill>
                  <a:srgbClr val="FFFFFF"/>
                </a:solidFill>
                <a:latin typeface="Calibri"/>
                <a:ea typeface="Calibri"/>
                <a:cs typeface="Calibri"/>
              </a:rPr>
              <a:t>What exactly will you do with the money or resource?</a:t>
            </a:r>
            <a:endParaRPr sz="1267">
              <a:solidFill>
                <a:schemeClr val="dk1"/>
              </a:solidFill>
              <a:latin typeface="Calibri"/>
              <a:ea typeface="Calibri"/>
              <a:cs typeface="Calibri"/>
            </a:endParaRPr>
          </a:p>
        </p:txBody>
      </p:sp>
      <p:sp>
        <p:nvSpPr>
          <p:cNvPr id="437" name="Google Shape;437;p15">
            <a:extLst xmlns:a="http://schemas.openxmlformats.org/drawingml/2006/main">
              <a:ext uri="{FF2B5EF4-FFF2-40B4-BE49-F238E27FC236}">
                <a16:creationId xmlns:a16="http://schemas.microsoft.com/office/drawing/2014/main" id="{C0515EBE-95A8-4264-901E-45D0F42F6ACA}"/>
              </a:ext>
            </a:extLst>
          </p:cNvPr>
          <p:cNvSpPr>
            <a:spLocks xmlns:a="http://schemas.openxmlformats.org/drawingml/2006/main" noGrp="1"/>
          </p:cNvSpPr>
          <p:nvPr/>
        </p:nvSpPr>
        <p:spPr>
          <a:xfrm xmlns:a="http://schemas.openxmlformats.org/drawingml/2006/main">
            <a:off x="682752" y="6059424"/>
            <a:ext cx="219456" cy="219456"/>
          </a:xfrm>
          <a:prstGeom xmlns:a="http://schemas.openxmlformats.org/drawingml/2006/main" prst="ellipse">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38" name="Google Shape;438;p15">
            <a:extLst xmlns:a="http://schemas.openxmlformats.org/drawingml/2006/main">
              <a:ext uri="{FF2B5EF4-FFF2-40B4-BE49-F238E27FC236}">
                <a16:creationId xmlns:a16="http://schemas.microsoft.com/office/drawing/2014/main" id="{44AE7C1D-04FE-4BD6-9133-44A382DF9054}"/>
              </a:ext>
            </a:extLst>
          </p:cNvPr>
          <p:cNvSpPr>
            <a:spLocks xmlns:a="http://schemas.openxmlformats.org/drawingml/2006/main" noGrp="1"/>
          </p:cNvSpPr>
          <p:nvPr/>
        </p:nvSpPr>
        <p:spPr>
          <a:xfrm xmlns:a="http://schemas.openxmlformats.org/drawingml/2006/main">
            <a:off x="975360" y="6047232"/>
            <a:ext cx="475488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67">
                <a:solidFill>
                  <a:srgbClr val="FFFFFF"/>
                </a:solidFill>
                <a:latin typeface="Calibri"/>
                <a:ea typeface="Calibri"/>
                <a:cs typeface="Calibri"/>
              </a:rPr>
              <a:t>What does success look like in 12 months?</a:t>
            </a:r>
            <a:endParaRPr sz="1267">
              <a:solidFill>
                <a:schemeClr val="dk1"/>
              </a:solidFill>
              <a:latin typeface="Calibri"/>
              <a:ea typeface="Calibri"/>
              <a:cs typeface="Calibri"/>
            </a:endParaRPr>
          </a:p>
        </p:txBody>
      </p:sp>
      <p:sp>
        <p:nvSpPr>
          <p:cNvPr id="439" name="Google Shape;439;p15">
            <a:extLst xmlns:a="http://schemas.openxmlformats.org/drawingml/2006/main">
              <a:ext uri="{FF2B5EF4-FFF2-40B4-BE49-F238E27FC236}">
                <a16:creationId xmlns:a16="http://schemas.microsoft.com/office/drawing/2014/main" id="{AFD27E0B-5986-4D77-8B4E-48531E9E5AB6}"/>
              </a:ext>
            </a:extLst>
          </p:cNvPr>
          <p:cNvSpPr>
            <a:spLocks xmlns:a="http://schemas.openxmlformats.org/drawingml/2006/main" noGrp="1"/>
          </p:cNvSpPr>
          <p:nvPr/>
        </p:nvSpPr>
        <p:spPr>
          <a:xfrm xmlns:a="http://schemas.openxmlformats.org/drawingml/2006/main">
            <a:off x="6156960" y="5169408"/>
            <a:ext cx="5462016" cy="1438656"/>
          </a:xfrm>
          <a:prstGeom xmlns:a="http://schemas.openxmlformats.org/drawingml/2006/main" prst="rect">
            <a:avLst/>
          </a:prstGeom>
          <a:solidFill xmlns:a="http://schemas.openxmlformats.org/drawingml/2006/main">
            <a:srgbClr val="2D2D2D"/>
          </a:solidFill>
          <a:ln xmlns:a="http://schemas.openxmlformats.org/drawingml/2006/main" w="12700" cap="flat" cmpd="sng">
            <a:solidFill>
              <a:srgbClr val="2D2D2D"/>
            </a:solidFill>
            <a:prstDash val="solid"/>
            <a:roun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40" name="Google Shape;440;p15">
            <a:extLst xmlns:a="http://schemas.openxmlformats.org/drawingml/2006/main">
              <a:ext uri="{FF2B5EF4-FFF2-40B4-BE49-F238E27FC236}">
                <a16:creationId xmlns:a16="http://schemas.microsoft.com/office/drawing/2014/main" id="{94C26921-04AC-4E44-A772-40ED348CCA10}"/>
              </a:ext>
            </a:extLst>
          </p:cNvPr>
          <p:cNvSpPr>
            <a:spLocks xmlns:a="http://schemas.openxmlformats.org/drawingml/2006/main" noGrp="1"/>
          </p:cNvSpPr>
          <p:nvPr/>
        </p:nvSpPr>
        <p:spPr>
          <a:xfrm xmlns:a="http://schemas.openxmlformats.org/drawingml/2006/main">
            <a:off x="6156960" y="5169408"/>
            <a:ext cx="5462016" cy="121920"/>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41" name="Google Shape;441;p15">
            <a:extLst xmlns:a="http://schemas.openxmlformats.org/drawingml/2006/main">
              <a:ext uri="{FF2B5EF4-FFF2-40B4-BE49-F238E27FC236}">
                <a16:creationId xmlns:a16="http://schemas.microsoft.com/office/drawing/2014/main" id="{ED875F30-AF17-4BC2-BE85-101E69376CB4}"/>
              </a:ext>
            </a:extLst>
          </p:cNvPr>
          <p:cNvSpPr>
            <a:spLocks xmlns:a="http://schemas.openxmlformats.org/drawingml/2006/main" noGrp="1"/>
          </p:cNvSpPr>
          <p:nvPr/>
        </p:nvSpPr>
        <p:spPr>
          <a:xfrm xmlns:a="http://schemas.openxmlformats.org/drawingml/2006/main">
            <a:off x="6303264" y="5340096"/>
            <a:ext cx="1828800" cy="26822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00" b="1">
                <a:solidFill>
                  <a:schemeClr val="lt1"/>
                </a:solidFill>
                <a:latin typeface="Calibri"/>
                <a:ea typeface="Calibri"/>
                <a:cs typeface="Calibri"/>
              </a:rPr>
              <a:t>TRACTION</a:t>
            </a:r>
            <a:endParaRPr sz="1200">
              <a:solidFill>
                <a:schemeClr val="lt1"/>
              </a:solidFill>
              <a:latin typeface="Calibri"/>
              <a:ea typeface="Calibri"/>
              <a:cs typeface="Calibri"/>
            </a:endParaRPr>
          </a:p>
        </p:txBody>
      </p:sp>
      <p:sp>
        <p:nvSpPr>
          <p:cNvPr id="442" name="Google Shape;442;p15">
            <a:extLst xmlns:a="http://schemas.openxmlformats.org/drawingml/2006/main">
              <a:ext uri="{FF2B5EF4-FFF2-40B4-BE49-F238E27FC236}">
                <a16:creationId xmlns:a16="http://schemas.microsoft.com/office/drawing/2014/main" id="{38555440-A5AE-48D0-9CFB-2A6045DDC530}"/>
              </a:ext>
            </a:extLst>
          </p:cNvPr>
          <p:cNvSpPr>
            <a:spLocks xmlns:a="http://schemas.openxmlformats.org/drawingml/2006/main" noGrp="1"/>
          </p:cNvSpPr>
          <p:nvPr/>
        </p:nvSpPr>
        <p:spPr>
          <a:xfrm xmlns:a="http://schemas.openxmlformats.org/drawingml/2006/main">
            <a:off x="6412992" y="5644896"/>
            <a:ext cx="219456" cy="219456"/>
          </a:xfrm>
          <a:prstGeom xmlns:a="http://schemas.openxmlformats.org/drawingml/2006/main" prst="ellipse">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43" name="Google Shape;443;p15">
            <a:extLst xmlns:a="http://schemas.openxmlformats.org/drawingml/2006/main">
              <a:ext uri="{FF2B5EF4-FFF2-40B4-BE49-F238E27FC236}">
                <a16:creationId xmlns:a16="http://schemas.microsoft.com/office/drawing/2014/main" id="{C139C19E-4895-4865-B789-D8D4FFC539D5}"/>
              </a:ext>
            </a:extLst>
          </p:cNvPr>
          <p:cNvSpPr>
            <a:spLocks xmlns:a="http://schemas.openxmlformats.org/drawingml/2006/main" noGrp="1"/>
          </p:cNvSpPr>
          <p:nvPr/>
        </p:nvSpPr>
        <p:spPr>
          <a:xfrm xmlns:a="http://schemas.openxmlformats.org/drawingml/2006/main">
            <a:off x="6705600" y="5632704"/>
            <a:ext cx="475488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67">
                <a:solidFill>
                  <a:srgbClr val="FFFFFF"/>
                </a:solidFill>
                <a:latin typeface="Calibri"/>
                <a:ea typeface="Calibri"/>
                <a:cs typeface="Calibri"/>
              </a:rPr>
              <a:t>What is the single most important thing you have proven so far?</a:t>
            </a:r>
            <a:endParaRPr sz="1267">
              <a:solidFill>
                <a:schemeClr val="dk1"/>
              </a:solidFill>
              <a:latin typeface="Calibri"/>
              <a:ea typeface="Calibri"/>
              <a:cs typeface="Calibri"/>
            </a:endParaRPr>
          </a:p>
        </p:txBody>
      </p:sp>
      <p:sp>
        <p:nvSpPr>
          <p:cNvPr id="444" name="Google Shape;444;p15">
            <a:extLst xmlns:a="http://schemas.openxmlformats.org/drawingml/2006/main">
              <a:ext uri="{FF2B5EF4-FFF2-40B4-BE49-F238E27FC236}">
                <a16:creationId xmlns:a16="http://schemas.microsoft.com/office/drawing/2014/main" id="{BA12D14F-D28F-49B2-9A25-E65D4E399653}"/>
              </a:ext>
            </a:extLst>
          </p:cNvPr>
          <p:cNvSpPr>
            <a:spLocks xmlns:a="http://schemas.openxmlformats.org/drawingml/2006/main" noGrp="1"/>
          </p:cNvSpPr>
          <p:nvPr/>
        </p:nvSpPr>
        <p:spPr>
          <a:xfrm xmlns:a="http://schemas.openxmlformats.org/drawingml/2006/main">
            <a:off x="6412992" y="6059424"/>
            <a:ext cx="219456" cy="219456"/>
          </a:xfrm>
          <a:prstGeom xmlns:a="http://schemas.openxmlformats.org/drawingml/2006/main" prst="ellipse">
            <a:avLst/>
          </a:prstGeom>
          <a:solidFill xmlns:a="http://schemas.openxmlformats.org/drawingml/2006/main">
            <a:schemeClr val="accent3"/>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2400">
              <a:solidFill>
                <a:schemeClr val="dk1"/>
              </a:solidFill>
              <a:latin typeface="Calibri"/>
              <a:ea typeface="Calibri"/>
              <a:cs typeface="Calibri"/>
            </a:endParaRPr>
          </a:p>
        </p:txBody>
      </p:sp>
      <p:sp>
        <p:nvSpPr>
          <p:cNvPr id="445" name="Google Shape;445;p15">
            <a:extLst xmlns:a="http://schemas.openxmlformats.org/drawingml/2006/main">
              <a:ext uri="{FF2B5EF4-FFF2-40B4-BE49-F238E27FC236}">
                <a16:creationId xmlns:a16="http://schemas.microsoft.com/office/drawing/2014/main" id="{987FE63F-AD7D-4AC8-8517-B61721BBDF00}"/>
              </a:ext>
            </a:extLst>
          </p:cNvPr>
          <p:cNvSpPr>
            <a:spLocks xmlns:a="http://schemas.openxmlformats.org/drawingml/2006/main" noGrp="1"/>
          </p:cNvSpPr>
          <p:nvPr/>
        </p:nvSpPr>
        <p:spPr>
          <a:xfrm xmlns:a="http://schemas.openxmlformats.org/drawingml/2006/main">
            <a:off x="6705600" y="6047232"/>
            <a:ext cx="475488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spcBef>
                <a:spcPts val="0"/>
              </a:spcBef>
              <a:spcAft>
                <a:spcPts val="0"/>
              </a:spcAft>
              <a:buNone/>
            </a:pPr>
            <a:r>
              <a:rPr sz="1267">
                <a:solidFill>
                  <a:srgbClr val="FFFFFF"/>
                </a:solidFill>
                <a:latin typeface="Calibri"/>
                <a:ea typeface="Calibri"/>
                <a:cs typeface="Calibri"/>
              </a:rPr>
              <a:t>What has surprised you - positively or negatively?</a:t>
            </a:r>
            <a:endParaRPr sz="1267">
              <a:solidFill>
                <a:schemeClr val="dk1"/>
              </a:solidFill>
              <a:latin typeface="Calibri"/>
              <a:ea typeface="Calibri"/>
              <a:cs typeface="Calibri"/>
            </a:endParaRPr>
          </a:p>
        </p:txBody>
      </p:sp>
    </p:spTree>
    <p:extLst>
      <p:ext uri="{BB962C8B-B14F-4D97-AF65-F5344CB8AC3E}">
        <p14:creationId xmlns:p14="http://schemas.microsoft.com/office/powerpoint/2010/main" val="1915015123"/>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2026-10-03T18:15:41.9610000Z</dcterms:created>
  <dcterms:modified xsi:type="dcterms:W3CDTF">2026-10-03T18:15:41.9610000Z</dcterms:modified>
</coreProperties>
</file>